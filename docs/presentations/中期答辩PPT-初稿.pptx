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431" r:id="rId4"/>
    <p:sldId id="433" r:id="rId5"/>
    <p:sldId id="434" r:id="rId6"/>
    <p:sldId id="262" r:id="rId7"/>
    <p:sldId id="435" r:id="rId8"/>
    <p:sldId id="264" r:id="rId9"/>
    <p:sldId id="265" r:id="rId10"/>
    <p:sldId id="438" r:id="rId11"/>
    <p:sldId id="266" r:id="rId12"/>
    <p:sldId id="267" r:id="rId13"/>
    <p:sldId id="437" r:id="rId14"/>
    <p:sldId id="268" r:id="rId15"/>
    <p:sldId id="439" r:id="rId16"/>
    <p:sldId id="440" r:id="rId17"/>
    <p:sldId id="441" r:id="rId18"/>
    <p:sldId id="436" r:id="rId19"/>
    <p:sldId id="271" r:id="rId20"/>
    <p:sldId id="272" r:id="rId21"/>
    <p:sldId id="273" r:id="rId22"/>
    <p:sldId id="274" r:id="rId2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213" autoAdjust="0"/>
    <p:restoredTop sz="95449" autoAdjust="0"/>
  </p:normalViewPr>
  <p:slideViewPr>
    <p:cSldViewPr snapToGrid="0">
      <p:cViewPr varScale="1">
        <p:scale>
          <a:sx n="79" d="100"/>
          <a:sy n="79" d="100"/>
        </p:scale>
        <p:origin x="75" y="2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pPr marL="0" marR="0" indent="0" algn="l" defTabSz="914400">
              <a:lnSpc>
                <a:spcPct val="100000"/>
              </a:lnSpc>
              <a:spcBef>
                <a:spcPts val="0"/>
              </a:spcBef>
              <a:spcAft>
                <a:spcPts val="0"/>
              </a:spcAft>
              <a:buClrTx/>
              <a:buSzTx/>
              <a:buFontTx/>
              <a:buNone/>
            </a:pPr>
            <a:r>
              <a:rPr dirty="0" err="1"/>
              <a:t>各位老师同学大家好，我开题汇报的题目是面向无线设备的射频指纹鲁棒识别技术研究</a:t>
            </a:r>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t>我将从这四个方面进行介绍，首先介绍该选题的背景和意义</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由于目前物联网技术和车联网技术的发展，如左图所示，边缘物联网设备预计将会持续增加。这些物联网设备主要依赖</a:t>
            </a:r>
            <a:r>
              <a:rPr lang="zh-CN" altLang="en-US" b="1" dirty="0"/>
              <a:t>无线信道</a:t>
            </a:r>
            <a:r>
              <a:rPr lang="zh-CN" altLang="en-US" dirty="0"/>
              <a:t>进行通信 ，无线信道具有</a:t>
            </a:r>
            <a:r>
              <a:rPr lang="zh-CN" altLang="en-US" b="0" dirty="0"/>
              <a:t>开放性和广播特性 </a:t>
            </a:r>
            <a:r>
              <a:rPr lang="zh-CN" altLang="en-US" dirty="0"/>
              <a:t>，使得数据安全和个人隐私面临巨大威胁 。因此需要研究边缘物联网设备的无限身份认证研究方案。</a:t>
            </a:r>
            <a:endParaRPr lang="en-US" altLang="zh-CN" dirty="0"/>
          </a:p>
          <a:p>
            <a:r>
              <a:rPr lang="zh-CN" altLang="en-US" dirty="0"/>
              <a:t>但目前的认证方案通常基于上层安全认证机制，应用于物联网设备时，主要存在着三方面的缺陷：首先，上层安全认证机制都依赖算法的高复杂度，随着技术的发展以及算力的提升存在被暴力破解的风险；其次，安全加密手段依赖于复杂的数学计算，在计算资源首先的物联网设备中往往不可行。第三，密钥分发管理机制复杂，管理机制中存在着泄露的风险，并且协议层中存在着安全漏洞。</a:t>
            </a:r>
          </a:p>
        </p:txBody>
      </p:sp>
      <p:sp>
        <p:nvSpPr>
          <p:cNvPr id="4" name="灯片编号占位符 3"/>
          <p:cNvSpPr>
            <a:spLocks noGrp="1"/>
          </p:cNvSpPr>
          <p:nvPr>
            <p:ph type="sldNum" sz="quarter" idx="5"/>
          </p:nvPr>
        </p:nvSpPr>
        <p:spPr/>
        <p:txBody>
          <a:bodyPr/>
          <a:lstStyle/>
          <a:p>
            <a:fld id="{3DD9C11C-D04B-4B83-A5E8-D873315BDD39}" type="slidenum">
              <a:rPr lang="zh-CN" altLang="en-US" smtClean="0"/>
              <a:t>3</a:t>
            </a:fld>
            <a:endParaRPr lang="zh-CN" altLang="en-US"/>
          </a:p>
        </p:txBody>
      </p:sp>
    </p:spTree>
    <p:extLst>
      <p:ext uri="{BB962C8B-B14F-4D97-AF65-F5344CB8AC3E}">
        <p14:creationId xmlns:p14="http://schemas.microsoft.com/office/powerpoint/2010/main" val="2225314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基于上述的高层加密的问题，因此有人提出了使用物理信号本身的特征属性对发射设备进行身份认证的方法，收端信号的特征具体包括发射机特征、无线信道特征以及接收机指纹特征三个方面。对信号发射设备的识别就是要利用发射机的指纹特征。</a:t>
            </a:r>
            <a:endParaRPr lang="en-US" altLang="zh-CN" dirty="0"/>
          </a:p>
          <a:p>
            <a:r>
              <a:rPr lang="zh-CN" altLang="en-US" dirty="0"/>
              <a:t>射频指纹是指由射频元件在制造过程中形成的不可避免的物理硬件缺陷产生的。右下角是一个简单的发射机前端示意图，图中可以看到不同的元件会对信号引入不同的微小改变。</a:t>
            </a:r>
            <a:endParaRPr lang="en-US" altLang="zh-CN" dirty="0"/>
          </a:p>
          <a:p>
            <a:r>
              <a:rPr lang="zh-CN" altLang="en-US" dirty="0"/>
              <a:t>相比于传统方案，使用</a:t>
            </a:r>
            <a:r>
              <a:rPr lang="en-US" altLang="zh-CN" dirty="0"/>
              <a:t>RFF</a:t>
            </a:r>
            <a:r>
              <a:rPr lang="zh-CN" altLang="en-US" dirty="0"/>
              <a:t>进行认证，其优势首先是不同硬件的</a:t>
            </a:r>
            <a:r>
              <a:rPr lang="en-US" altLang="zh-CN" dirty="0"/>
              <a:t>RFF</a:t>
            </a:r>
            <a:r>
              <a:rPr lang="zh-CN" altLang="en-US" dirty="0"/>
              <a:t>特征都是不同的，难以被伪造和篡改；第二是这些特征是内嵌于信号中的，因此无需通信中分发密钥以及消耗通信资源；第三是指该特征只与硬件有关，与传输的信息内容无关。</a:t>
            </a:r>
          </a:p>
        </p:txBody>
      </p:sp>
      <p:sp>
        <p:nvSpPr>
          <p:cNvPr id="4" name="灯片编号占位符 3"/>
          <p:cNvSpPr>
            <a:spLocks noGrp="1"/>
          </p:cNvSpPr>
          <p:nvPr>
            <p:ph type="sldNum" sz="quarter" idx="5"/>
          </p:nvPr>
        </p:nvSpPr>
        <p:spPr/>
        <p:txBody>
          <a:bodyPr/>
          <a:lstStyle/>
          <a:p>
            <a:fld id="{3DD9C11C-D04B-4B83-A5E8-D873315BDD39}" type="slidenum">
              <a:rPr lang="zh-CN" altLang="en-US" smtClean="0"/>
              <a:t>4</a:t>
            </a:fld>
            <a:endParaRPr lang="zh-CN" altLang="en-US"/>
          </a:p>
        </p:txBody>
      </p:sp>
    </p:spTree>
    <p:extLst>
      <p:ext uri="{BB962C8B-B14F-4D97-AF65-F5344CB8AC3E}">
        <p14:creationId xmlns:p14="http://schemas.microsoft.com/office/powerpoint/2010/main" val="436058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0840F-23CE-21B0-92DE-9139CDA22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A01FB-5624-4E37-A6DF-CA0261B0546C}"/>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4831B6B6-5A1C-FA66-7B4E-A5420C1E4335}"/>
              </a:ext>
            </a:extLst>
          </p:cNvPr>
          <p:cNvSpPr>
            <a:spLocks noGrp="1"/>
          </p:cNvSpPr>
          <p:nvPr>
            <p:ph type="body" idx="1"/>
          </p:nvPr>
        </p:nvSpPr>
        <p:spPr/>
        <p:txBody>
          <a:bodyPr/>
          <a:lstStyle/>
          <a:p>
            <a:r>
              <a:t>我将从这四个方面进行介绍，首先介绍该选题的背景和意义</a:t>
            </a:r>
          </a:p>
        </p:txBody>
      </p:sp>
      <p:sp>
        <p:nvSpPr>
          <p:cNvPr id="4" name="Slide Number Placeholder 3">
            <a:extLst>
              <a:ext uri="{FF2B5EF4-FFF2-40B4-BE49-F238E27FC236}">
                <a16:creationId xmlns:a16="http://schemas.microsoft.com/office/drawing/2014/main" id="{98A8B877-A28D-0031-565F-5433DA04C21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03450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dirty="0"/>
              <a:t>虽然深度学习提取特征的能力很强，但在实际的物联网部署中，存在着另一个问题，就是</a:t>
            </a:r>
            <a:r>
              <a:rPr b="1" dirty="0"/>
              <a:t>跨接收机场景下的识别性能严重下降</a:t>
            </a:r>
            <a:r>
              <a:rPr dirty="0"/>
              <a:t>。如左图所示，如果我们使用来自接收机的数据训练网络，测试集也是接收机1的，那么效果很好；但是如果部署到接收机2上，那么其准确率就会大幅降低。其根本原因如公式所示，接收信号y是受到了发射机和接收机的双重影响，接收机的效应会影响数据的特征分布，因此新接收机上的效果自然变差了。</a:t>
            </a:r>
          </a:p>
          <a:p>
            <a:r>
              <a:rPr dirty="0"/>
              <a:t>为了解决该问题，目前有两个主要的思想，一种是使用特征解耦的方式将特征分为发射机特征和接收机特征，该方案存在着模型复杂并且计算量大以及训练过程不容易收敛的问题，另一种是使用特征对齐的思路，将不同接收机的特征进行对齐，但在源域接收机数量受限时候，这种对齐效果不佳。</a:t>
            </a:r>
          </a:p>
          <a:p>
            <a:r>
              <a:rPr dirty="0" err="1"/>
              <a:t>因此我们的目标是寻找一个轻量级的网络，并能够在接收机数量受限时候也有很高准确率的方案</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7BDB6-F7B0-0ABF-52D6-C6E0DFECFF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D31AB-F12C-A624-71BF-B4E7025C23E1}"/>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F5728DE1-D5F3-CD13-1D02-88AE417FE3BD}"/>
              </a:ext>
            </a:extLst>
          </p:cNvPr>
          <p:cNvSpPr>
            <a:spLocks noGrp="1"/>
          </p:cNvSpPr>
          <p:nvPr>
            <p:ph type="body" idx="1"/>
          </p:nvPr>
        </p:nvSpPr>
        <p:spPr/>
        <p:txBody>
          <a:bodyPr/>
          <a:lstStyle/>
          <a:p>
            <a:r>
              <a:t>我将从这四个方面进行介绍，首先介绍该选题的背景和意义</a:t>
            </a:r>
          </a:p>
        </p:txBody>
      </p:sp>
      <p:sp>
        <p:nvSpPr>
          <p:cNvPr id="4" name="Slide Number Placeholder 3">
            <a:extLst>
              <a:ext uri="{FF2B5EF4-FFF2-40B4-BE49-F238E27FC236}">
                <a16:creationId xmlns:a16="http://schemas.microsoft.com/office/drawing/2014/main" id="{5EBEB260-5D59-E7CB-2D9C-D32645ACE9F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26939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t>整体的网络模型如图所示，我们从训练策略、模型结构和数据增强三个角度考虑改善模型的泛化性能。我们定义源域数据有多个接收机数据组成，网络结果训练后在未见过的接收机数据上测试。</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t>首先是基于reptile的训练策略，这是一种已有的基于元学习的方案，其主要思想是针对不同的接收机去构建适应于多个特定接收机的模型。具体流程是：采样一个批次数据后，我们将元模型复制多份，每个子模型用某个特定接收机的数据进行一定步长的更新，最后将子模型取平均。将平均模型与元模型的参数差作为更新方向。</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D8B2A-0F3D-A25C-4D66-D214A5A27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746C62-7B85-44B1-A2F7-71D2F2E870F4}"/>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8E3A2975-5D7D-9D09-0D16-0BD47AF20A76}"/>
              </a:ext>
            </a:extLst>
          </p:cNvPr>
          <p:cNvSpPr>
            <a:spLocks noGrp="1"/>
          </p:cNvSpPr>
          <p:nvPr>
            <p:ph type="body" idx="1"/>
          </p:nvPr>
        </p:nvSpPr>
        <p:spPr/>
        <p:txBody>
          <a:bodyPr/>
          <a:lstStyle/>
          <a:p>
            <a:r>
              <a:t>首先是基于reptile的训练策略，这是一种已有的基于元学习的方案，其主要思想是针对不同的接收机去构建适应于多个特定接收机的模型。具体流程是：采样一个批次数据后，我们将元模型复制多份，每个子模型用某个特定接收机的数据进行一定步长的更新，最后将子模型取平均。将平均模型与元模型的参数差作为更新方向。</a:t>
            </a:r>
          </a:p>
        </p:txBody>
      </p:sp>
      <p:sp>
        <p:nvSpPr>
          <p:cNvPr id="4" name="Slide Number Placeholder 3">
            <a:extLst>
              <a:ext uri="{FF2B5EF4-FFF2-40B4-BE49-F238E27FC236}">
                <a16:creationId xmlns:a16="http://schemas.microsoft.com/office/drawing/2014/main" id="{AED72AEA-1102-12A6-752C-770F1419774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91590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t>接下来是模型的变化，传统的网络使用BN层归一化每一层特征，BN层中维护一个全局的均值和方差统计量用以归一化所有输入数据。但我们观察到，在跨域的时候，会存在较大的统计偏差。具体如左图所示，我们使用了四层的CNN网络，使用了接收机1和接收机2的数据对网络进行训练，并使用接收机1 接收机2和第三个目标接收机进行推理测试。可以看到，网络中维护的BN层的统计量和实际上数据对应的均值和方差随着网络层数的加深越来越大。说明使用BN归一化会导致统计偏差，因此我们使用了GN层，替代BN层。GN层公式如图中所示，其是归一化的均值和方差是只跟样本自身值有关，不是像BN一样跟一个批次其他样本数据有关。</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t>第三，我们在输入数据中添加了梯度掩码操作来实现数据增强。文献1中指出，如果对信号进行微小的扰动，那么可以实现让网络错误分类。这实际上就是对抗性攻击。文章中进一步说明了如果只对样本中梯度最大的一些样本点进行扰动，同样可以实现很高的攻击成功率。这说明了实际上是这些梯度大的样本点主导了模型的分类。</a:t>
            </a:r>
          </a:p>
          <a:p>
            <a:r>
              <a:t>那么我们进行了实验观察到了，接收机效应会影响到模型关注的主导样本点。因此我们提出对模型最大梯度样本点进行掩码，让模型关注其余样本点，更加全面的看到输入数据。</a:t>
            </a:r>
          </a:p>
          <a:p>
            <a:r>
              <a:t>具体过程如右图所示，我们会先计算输出对输入的梯度，并取绝对值定义为梯度显著图S，S中值越大的说明越主导模型分类。选择S中前p比例的最大样本点掩码，最后将这些掩码后的样本点输入到网络中。</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A8A3E-2262-4329-D8CA-C709FF6C83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7E7C-1735-EC82-1A23-C995648E1120}"/>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884E5C19-D6BA-4CAA-FBCA-F4F1F77425B7}"/>
              </a:ext>
            </a:extLst>
          </p:cNvPr>
          <p:cNvSpPr>
            <a:spLocks noGrp="1"/>
          </p:cNvSpPr>
          <p:nvPr>
            <p:ph type="body" idx="1"/>
          </p:nvPr>
        </p:nvSpPr>
        <p:spPr/>
        <p:txBody>
          <a:bodyPr/>
          <a:lstStyle/>
          <a:p>
            <a:r>
              <a:t>我将从这四个方面进行介绍，首先介绍该选题的背景和意义</a:t>
            </a:r>
          </a:p>
        </p:txBody>
      </p:sp>
      <p:sp>
        <p:nvSpPr>
          <p:cNvPr id="4" name="Slide Number Placeholder 3">
            <a:extLst>
              <a:ext uri="{FF2B5EF4-FFF2-40B4-BE49-F238E27FC236}">
                <a16:creationId xmlns:a16="http://schemas.microsoft.com/office/drawing/2014/main" id="{8A412367-D6C1-158D-B5C2-A157CFE2F13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36510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t>使用上述三个策略训练网络后，在公开是的wisig数据集上进行了实验，使用的信号大小为2*256的IQ信号，其中有6个发射机，网络为四层CNN，数据经过了均衡处理减少信道效应的影响。左图是使用两个接收机数据训练网络，并在其余的六个未见过接收机上测试得到的平均准确率。其中MASK方案为特征解耦方案。相比基线方案和对比方案，我们所提方案有更高的准确率。此外，由于BN层变为GN层以及梯度掩码操作不需要接收机标签，因此我们测试了没有接收机标签下的识别准确率，该情况下对比方案无法工作，因此仅对比基线方案，结果是相比基线方案准确率也更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D642-7639-00A0-A68A-427600AF3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47F08E-1322-BBCB-DB1C-733F767AA2B6}"/>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C3B6B551-B594-B036-47BB-B4ED465EF592}"/>
              </a:ext>
            </a:extLst>
          </p:cNvPr>
          <p:cNvSpPr>
            <a:spLocks noGrp="1"/>
          </p:cNvSpPr>
          <p:nvPr>
            <p:ph type="body" idx="1"/>
          </p:nvPr>
        </p:nvSpPr>
        <p:spPr/>
        <p:txBody>
          <a:bodyPr/>
          <a:lstStyle/>
          <a:p>
            <a:r>
              <a:t>使用上述三个策略训练网络后，在公开是的wisig数据集上进行了实验，使用的信号大小为2*256的IQ信号，其中有6个发射机，网络为四层CNN，数据经过了均衡处理减少信道效应的影响。左图是使用两个接收机数据训练网络，并在其余的六个未见过接收机上测试得到的平均准确率。其中MASK方案为特征解耦方案。相比基线方案和对比方案，我们所提方案有更高的准确率。此外，由于BN层变为GN层以及梯度掩码操作不需要接收机标签，因此我们测试了没有接收机标签下的识别准确率，该情况下对比方案无法工作，因此仅对比基线方案，结果是相比基线方案准确率也更高。</a:t>
            </a:r>
          </a:p>
        </p:txBody>
      </p:sp>
      <p:sp>
        <p:nvSpPr>
          <p:cNvPr id="4" name="Slide Number Placeholder 3">
            <a:extLst>
              <a:ext uri="{FF2B5EF4-FFF2-40B4-BE49-F238E27FC236}">
                <a16:creationId xmlns:a16="http://schemas.microsoft.com/office/drawing/2014/main" id="{D58E26CF-78F6-F5AA-AFAC-91DBE918CB2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37811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A346E-DECF-47CB-0C11-AB38937AE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ECDA6C-80C4-2D67-8793-2E0DED5E3FDA}"/>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2F556457-5D58-DC3F-7B12-2AD6FD900ED9}"/>
              </a:ext>
            </a:extLst>
          </p:cNvPr>
          <p:cNvSpPr>
            <a:spLocks noGrp="1"/>
          </p:cNvSpPr>
          <p:nvPr>
            <p:ph type="body" idx="1"/>
          </p:nvPr>
        </p:nvSpPr>
        <p:spPr/>
        <p:txBody>
          <a:bodyPr/>
          <a:lstStyle/>
          <a:p>
            <a:r>
              <a:t>使用上述三个策略训练网络后，在公开是的wisig数据集上进行了实验，使用的信号大小为2*256的IQ信号，其中有6个发射机，网络为四层CNN，数据经过了均衡处理减少信道效应的影响。左图是使用两个接收机数据训练网络，并在其余的六个未见过接收机上测试得到的平均准确率。其中MASK方案为特征解耦方案。相比基线方案和对比方案，我们所提方案有更高的准确率。此外，由于BN层变为GN层以及梯度掩码操作不需要接收机标签，因此我们测试了没有接收机标签下的识别准确率，该情况下对比方案无法工作，因此仅对比基线方案，结果是相比基线方案准确率也更高。</a:t>
            </a:r>
          </a:p>
        </p:txBody>
      </p:sp>
      <p:sp>
        <p:nvSpPr>
          <p:cNvPr id="4" name="Slide Number Placeholder 3">
            <a:extLst>
              <a:ext uri="{FF2B5EF4-FFF2-40B4-BE49-F238E27FC236}">
                <a16:creationId xmlns:a16="http://schemas.microsoft.com/office/drawing/2014/main" id="{77AAEBD7-72CA-29A1-0202-EBB46987DAA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26830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0FDC9-0CFC-0642-1652-A74D57D56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EC2502-C530-1C2D-DC88-E1A2AAD12C0F}"/>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B4C22549-35D3-B31A-DA51-A109223DA629}"/>
              </a:ext>
            </a:extLst>
          </p:cNvPr>
          <p:cNvSpPr>
            <a:spLocks noGrp="1"/>
          </p:cNvSpPr>
          <p:nvPr>
            <p:ph type="body" idx="1"/>
          </p:nvPr>
        </p:nvSpPr>
        <p:spPr/>
        <p:txBody>
          <a:bodyPr/>
          <a:lstStyle/>
          <a:p>
            <a:r>
              <a:t>使用上述三个策略训练网络后，在公开是的wisig数据集上进行了实验，使用的信号大小为2*256的IQ信号，其中有6个发射机，网络为四层CNN，数据经过了均衡处理减少信道效应的影响。左图是使用两个接收机数据训练网络，并在其余的六个未见过接收机上测试得到的平均准确率。其中MASK方案为特征解耦方案。相比基线方案和对比方案，我们所提方案有更高的准确率。此外，由于BN层变为GN层以及梯度掩码操作不需要接收机标签，因此我们测试了没有接收机标签下的识别准确率，该情况下对比方案无法工作，因此仅对比基线方案，结果是相比基线方案准确率也更高。</a:t>
            </a:r>
          </a:p>
        </p:txBody>
      </p:sp>
      <p:sp>
        <p:nvSpPr>
          <p:cNvPr id="4" name="Slide Number Placeholder 3">
            <a:extLst>
              <a:ext uri="{FF2B5EF4-FFF2-40B4-BE49-F238E27FC236}">
                <a16:creationId xmlns:a16="http://schemas.microsoft.com/office/drawing/2014/main" id="{EE4A34F3-7600-D26B-3F82-80167473E61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633705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86CCC-0F76-AFD1-C65F-EBE780AFD7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E1BB4-105B-188D-BF8D-307F1A51C6CA}"/>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41403783-8AFB-E7A1-DA36-ADE77D1235A4}"/>
              </a:ext>
            </a:extLst>
          </p:cNvPr>
          <p:cNvSpPr>
            <a:spLocks noGrp="1"/>
          </p:cNvSpPr>
          <p:nvPr>
            <p:ph type="body" idx="1"/>
          </p:nvPr>
        </p:nvSpPr>
        <p:spPr/>
        <p:txBody>
          <a:bodyPr/>
          <a:lstStyle/>
          <a:p>
            <a:r>
              <a:t>我将从这四个方面进行介绍，首先介绍该选题的背景和意义</a:t>
            </a:r>
          </a:p>
        </p:txBody>
      </p:sp>
      <p:sp>
        <p:nvSpPr>
          <p:cNvPr id="4" name="Slide Number Placeholder 3">
            <a:extLst>
              <a:ext uri="{FF2B5EF4-FFF2-40B4-BE49-F238E27FC236}">
                <a16:creationId xmlns:a16="http://schemas.microsoft.com/office/drawing/2014/main" id="{3AF37E5F-807D-7D3F-EE2D-7D94AB961A3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23994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t>首先，在实际物联网场景下，可能会存在位置的非法发射机。如果要实现数据安全，需要网络能够有效的识别出非法的发射机并拒绝接入。目前暂时还没有人在前面的跨接收机场景下进一步考虑对非法发射机识别的问题。</a:t>
            </a:r>
          </a:p>
          <a:p>
            <a:r>
              <a:t>第二，基于上述的对网络信号主导样本点的注意，可能进一步深入研究网络特征更捂脸硬件损失之间的关系，提高RFFI模型特征的可解释性。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t>我的下一步工作计划如下，下面是参考文献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t>我的汇报到此结束，请各位老师批评指正。</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35C6F40-3716-483C-AC55-F04824C3D7A3}"/>
              </a:ext>
            </a:extLst>
          </p:cNvPr>
          <p:cNvSpPr>
            <a:spLocks noGrp="1"/>
          </p:cNvSpPr>
          <p:nvPr>
            <p:ph type="dt" idx="10"/>
          </p:nvPr>
        </p:nvSpPr>
        <p:spPr/>
        <p:txBody>
          <a:bodyPr/>
          <a:lstStyle/>
          <a:p>
            <a:fld id="{81A5BBD9-742F-446B-905D-2B10077F01C5}" type="datetime1">
              <a:t>2026/7/21</a:t>
            </a:fld>
            <a:endParaRPr/>
          </a:p>
        </p:txBody>
      </p:sp>
      <p:sp>
        <p:nvSpPr>
          <p:cNvPr id="3" name="页脚占位符 2">
            <a:extLst>
              <a:ext uri="{FF2B5EF4-FFF2-40B4-BE49-F238E27FC236}">
                <a16:creationId xmlns:a16="http://schemas.microsoft.com/office/drawing/2014/main" id="{1229ADCD-DCA7-4F43-BEDD-CA891E27439D}"/>
              </a:ext>
            </a:extLst>
          </p:cNvPr>
          <p:cNvSpPr>
            <a:spLocks noGrp="1"/>
          </p:cNvSpPr>
          <p:nvPr>
            <p:ph type="ftr" idx="11"/>
          </p:nvPr>
        </p:nvSpPr>
        <p:spPr/>
        <p:txBody>
          <a:bodyPr/>
          <a:lstStyle/>
          <a:p>
            <a:endParaRPr/>
          </a:p>
        </p:txBody>
      </p:sp>
      <p:sp>
        <p:nvSpPr>
          <p:cNvPr id="4" name="灯片编号占位符 3">
            <a:extLst>
              <a:ext uri="{FF2B5EF4-FFF2-40B4-BE49-F238E27FC236}">
                <a16:creationId xmlns:a16="http://schemas.microsoft.com/office/drawing/2014/main" id="{429543E4-6497-4D0F-9F84-21084CFE3E5B}"/>
              </a:ext>
            </a:extLst>
          </p:cNvPr>
          <p:cNvSpPr>
            <a:spLocks noGrp="1"/>
          </p:cNvSpPr>
          <p:nvPr>
            <p:ph type="sldNum" idx="12"/>
          </p:nvPr>
        </p:nvSpPr>
        <p:spPr/>
        <p:txBody>
          <a:bodyPr/>
          <a:lstStyle/>
          <a:p>
            <a:fld id="{E77F9130-EB6A-4866-830C-2DB68EFB30B4}"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CA8DB4-B604-4E99-876A-ABC35B998DA3}"/>
              </a:ext>
            </a:extLst>
          </p:cNvPr>
          <p:cNvSpPr>
            <a:spLocks noGrp="1"/>
          </p:cNvSpPr>
          <p:nvPr>
            <p:ph type="title"/>
          </p:nvPr>
        </p:nvSpPr>
        <p:spPr/>
        <p:txBody>
          <a:bodyPr/>
          <a:lstStyle/>
          <a:p>
            <a:r>
              <a:t>单击此处编辑母版标题样式</a:t>
            </a:r>
          </a:p>
        </p:txBody>
      </p:sp>
      <p:sp>
        <p:nvSpPr>
          <p:cNvPr id="3" name="日期占位符 2">
            <a:extLst>
              <a:ext uri="{FF2B5EF4-FFF2-40B4-BE49-F238E27FC236}">
                <a16:creationId xmlns:a16="http://schemas.microsoft.com/office/drawing/2014/main" id="{898475A6-3BD4-4793-9CE8-7365CD5C7AE7}"/>
              </a:ext>
            </a:extLst>
          </p:cNvPr>
          <p:cNvSpPr>
            <a:spLocks noGrp="1"/>
          </p:cNvSpPr>
          <p:nvPr>
            <p:ph type="dt" idx="10"/>
          </p:nvPr>
        </p:nvSpPr>
        <p:spPr/>
        <p:txBody>
          <a:bodyPr/>
          <a:lstStyle/>
          <a:p>
            <a:fld id="{A73763BA-5CAA-4D8C-BA3F-F11557046F16}" type="datetime1">
              <a:t>2026/7/21</a:t>
            </a:fld>
            <a:endParaRPr/>
          </a:p>
        </p:txBody>
      </p:sp>
      <p:sp>
        <p:nvSpPr>
          <p:cNvPr id="4" name="页脚占位符 3">
            <a:extLst>
              <a:ext uri="{FF2B5EF4-FFF2-40B4-BE49-F238E27FC236}">
                <a16:creationId xmlns:a16="http://schemas.microsoft.com/office/drawing/2014/main" id="{6FBEA250-D41A-40DB-B33A-5BB0C44C4077}"/>
              </a:ext>
            </a:extLst>
          </p:cNvPr>
          <p:cNvSpPr>
            <a:spLocks noGrp="1"/>
          </p:cNvSpPr>
          <p:nvPr>
            <p:ph type="ftr" idx="11"/>
          </p:nvPr>
        </p:nvSpPr>
        <p:spPr/>
        <p:txBody>
          <a:bodyPr/>
          <a:lstStyle/>
          <a:p>
            <a:endParaRPr/>
          </a:p>
        </p:txBody>
      </p:sp>
      <p:sp>
        <p:nvSpPr>
          <p:cNvPr id="5" name="灯片编号占位符 4">
            <a:extLst>
              <a:ext uri="{FF2B5EF4-FFF2-40B4-BE49-F238E27FC236}">
                <a16:creationId xmlns:a16="http://schemas.microsoft.com/office/drawing/2014/main" id="{80869F42-9345-48BF-AAD4-C117E5F2EA7D}"/>
              </a:ext>
            </a:extLst>
          </p:cNvPr>
          <p:cNvSpPr>
            <a:spLocks noGrp="1"/>
          </p:cNvSpPr>
          <p:nvPr>
            <p:ph type="sldNum" idx="12"/>
          </p:nvPr>
        </p:nvSpPr>
        <p:spPr/>
        <p:txBody>
          <a:bodyPr/>
          <a:lstStyle/>
          <a:p>
            <a:fld id="{E77F9130-EB6A-4866-830C-2DB68EFB30B4}"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1FC2355-F933-46E4-9B80-AC8D6831BA8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6E1F50CE-A273-44D2-BDE3-D371DA391468}"/>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编辑母版文本样式</a:t>
            </a:r>
          </a:p>
          <a:p>
            <a:pPr>
              <a:buNone/>
            </a:pPr>
            <a:r>
              <a:t>第二级</a:t>
            </a:r>
          </a:p>
          <a:p>
            <a:pPr>
              <a:buNone/>
            </a:pPr>
            <a:r>
              <a:t>第三级</a:t>
            </a:r>
          </a:p>
          <a:p>
            <a:pPr>
              <a:buNone/>
            </a:pPr>
            <a:r>
              <a:t>第四级</a:t>
            </a:r>
          </a:p>
          <a:p>
            <a:pPr>
              <a:buNone/>
            </a:pPr>
            <a:r>
              <a:t>第五级</a:t>
            </a:r>
          </a:p>
        </p:txBody>
      </p:sp>
      <p:sp>
        <p:nvSpPr>
          <p:cNvPr id="4" name="日期占位符 3">
            <a:extLst>
              <a:ext uri="{FF2B5EF4-FFF2-40B4-BE49-F238E27FC236}">
                <a16:creationId xmlns:a16="http://schemas.microsoft.com/office/drawing/2014/main" id="{2ADF6142-A627-4187-8859-27E32E5C571C}"/>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A0DF1AD-C1DC-43A8-9AEB-C6F47E076130}" type="datetime1">
              <a:t>2026/7/21</a:t>
            </a:fld>
            <a:endParaRPr/>
          </a:p>
        </p:txBody>
      </p:sp>
      <p:sp>
        <p:nvSpPr>
          <p:cNvPr id="5" name="页脚占位符 4">
            <a:extLst>
              <a:ext uri="{FF2B5EF4-FFF2-40B4-BE49-F238E27FC236}">
                <a16:creationId xmlns:a16="http://schemas.microsoft.com/office/drawing/2014/main" id="{1A01CD1B-FB27-4D57-8082-BF7A4E942F58}"/>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CAD5E428-82F7-41AA-8E50-4F60D65E1FB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E77F9130-EB6A-4866-830C-2DB68EFB30B4}"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emf"/><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Visio_Drawing.vsdx"/><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11.emf"/></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Visio_Drawing1.vsdx"/><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4.png"/><Relationship Id="rId4" Type="http://schemas.openxmlformats.org/officeDocument/2006/relationships/image" Target="../media/image11.emf"/></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4.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jpe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AC2FBD7-6F73-46AE-9D54-D25A5F74E43C}"/>
              </a:ext>
            </a:extLst>
          </p:cNvPr>
          <p:cNvSpPr>
            <a:spLocks noGrp="1"/>
          </p:cNvSpPr>
          <p:nvPr/>
        </p:nvSpPr>
        <p:spPr>
          <a:xfrm>
            <a:off x="0" y="2529592"/>
            <a:ext cx="12192000" cy="3060700"/>
          </a:xfrm>
          <a:prstGeom prst="rect">
            <a:avLst/>
          </a:prstGeom>
          <a:solidFill>
            <a:srgbClr val="911F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文本框 4">
            <a:extLst>
              <a:ext uri="{FF2B5EF4-FFF2-40B4-BE49-F238E27FC236}">
                <a16:creationId xmlns:a16="http://schemas.microsoft.com/office/drawing/2014/main" id="{05CABE9B-79C3-40F2-9B62-92C831D1C92C}"/>
              </a:ext>
            </a:extLst>
          </p:cNvPr>
          <p:cNvSpPr>
            <a:spLocks noGrp="1"/>
          </p:cNvSpPr>
          <p:nvPr/>
        </p:nvSpPr>
        <p:spPr>
          <a:xfrm>
            <a:off x="-64394" y="2798058"/>
            <a:ext cx="12562890" cy="1261884"/>
          </a:xfrm>
          <a:prstGeom prst="rect">
            <a:avLst/>
          </a:prstGeom>
          <a:noFill/>
        </p:spPr>
        <p:txBody>
          <a:bodyPr wrap="square">
            <a:spAutoFit/>
          </a:bodyPr>
          <a:lstStyle/>
          <a:p>
            <a:pPr algn="ctr"/>
            <a:r>
              <a:rPr lang="zh-CN" altLang="en-US" sz="4400" b="1" dirty="0">
                <a:solidFill>
                  <a:schemeClr val="bg1"/>
                </a:solidFill>
                <a:latin typeface="宋体" panose="02010600030101010101" pitchFamily="2" charset="-122"/>
                <a:ea typeface="宋体" panose="02010600030101010101" pitchFamily="2" charset="-122"/>
              </a:rPr>
              <a:t>面向无线设备的射频指纹鲁棒识别技术研究</a:t>
            </a:r>
            <a:endParaRPr lang="en-US" altLang="zh-CN" sz="4400" b="1" dirty="0">
              <a:solidFill>
                <a:schemeClr val="bg1"/>
              </a:solidFill>
              <a:latin typeface="宋体" panose="02010600030101010101" pitchFamily="2" charset="-122"/>
              <a:ea typeface="宋体" panose="02010600030101010101" pitchFamily="2" charset="-122"/>
            </a:endParaRPr>
          </a:p>
          <a:p>
            <a:pPr algn="ctr"/>
            <a:r>
              <a:rPr lang="zh-CN" altLang="en-US" sz="3200" b="1" spc="-300" dirty="0">
                <a:solidFill>
                  <a:schemeClr val="bg1"/>
                </a:solidFill>
                <a:latin typeface="宋体" panose="02010600030101010101" pitchFamily="2" charset="-122"/>
                <a:ea typeface="宋体" panose="02010600030101010101" pitchFamily="2" charset="-122"/>
                <a:sym typeface="字魂105号-简雅黑" panose="00000500000000000000" pitchFamily="2" charset="-122"/>
              </a:rPr>
              <a:t>中期进展报告</a:t>
            </a:r>
          </a:p>
        </p:txBody>
      </p:sp>
      <p:pic>
        <p:nvPicPr>
          <p:cNvPr id="14" name="图片 7"/>
          <p:cNvPicPr>
            <a:picLocks noChangeAspect="1"/>
          </p:cNvPicPr>
          <p:nvPr/>
        </p:nvPicPr>
        <p:blipFill>
          <a:blip r:embed="rId3"/>
          <a:stretch>
            <a:fillRect/>
          </a:stretch>
        </p:blipFill>
        <p:spPr>
          <a:xfrm>
            <a:off x="5087335" y="332943"/>
            <a:ext cx="2017330" cy="1941752"/>
          </a:xfrm>
          <a:prstGeom prst="rect">
            <a:avLst/>
          </a:prstGeom>
        </p:spPr>
      </p:pic>
      <p:sp>
        <p:nvSpPr>
          <p:cNvPr id="2" name="文本框 1">
            <a:extLst>
              <a:ext uri="{FF2B5EF4-FFF2-40B4-BE49-F238E27FC236}">
                <a16:creationId xmlns:a16="http://schemas.microsoft.com/office/drawing/2014/main" id="{C2850713-8FE3-2042-9627-9E5F46D5EFB7}"/>
              </a:ext>
            </a:extLst>
          </p:cNvPr>
          <p:cNvSpPr>
            <a:spLocks noGrp="1"/>
          </p:cNvSpPr>
          <p:nvPr/>
        </p:nvSpPr>
        <p:spPr>
          <a:xfrm>
            <a:off x="4775200" y="4287638"/>
            <a:ext cx="3022600" cy="430887"/>
          </a:xfrm>
          <a:prstGeom prst="rect">
            <a:avLst/>
          </a:prstGeom>
          <a:noFill/>
        </p:spPr>
        <p:txBody>
          <a:bodyPr wrap="square">
            <a:spAutoFit/>
          </a:bodyPr>
          <a:lstStyle/>
          <a:p>
            <a:pPr algn="ctr"/>
            <a:r>
              <a:rPr lang="zh-CN" altLang="en-US" sz="2200" b="1" dirty="0">
                <a:solidFill>
                  <a:schemeClr val="bg1"/>
                </a:solidFill>
                <a:latin typeface="宋体"/>
                <a:ea typeface="宋体"/>
                <a:cs typeface="宋体"/>
              </a:rPr>
              <a:t>答辩人：张珂宁</a:t>
            </a:r>
          </a:p>
        </p:txBody>
      </p:sp>
      <p:sp>
        <p:nvSpPr>
          <p:cNvPr id="9" name="文本框 8">
            <a:extLst>
              <a:ext uri="{FF2B5EF4-FFF2-40B4-BE49-F238E27FC236}">
                <a16:creationId xmlns:a16="http://schemas.microsoft.com/office/drawing/2014/main" id="{0E62D7A9-5D8C-EFBD-384E-718670E598F9}"/>
              </a:ext>
            </a:extLst>
          </p:cNvPr>
          <p:cNvSpPr>
            <a:spLocks noGrp="1"/>
          </p:cNvSpPr>
          <p:nvPr/>
        </p:nvSpPr>
        <p:spPr>
          <a:xfrm>
            <a:off x="4786082" y="4706739"/>
            <a:ext cx="3022600" cy="430887"/>
          </a:xfrm>
          <a:prstGeom prst="rect">
            <a:avLst/>
          </a:prstGeom>
          <a:noFill/>
        </p:spPr>
        <p:txBody>
          <a:bodyPr wrap="square">
            <a:spAutoFit/>
          </a:bodyPr>
          <a:lstStyle/>
          <a:p>
            <a:pPr algn="ctr"/>
            <a:r>
              <a:rPr lang="zh-CN" altLang="en-US" sz="2200" b="1" dirty="0">
                <a:solidFill>
                  <a:schemeClr val="bg1"/>
                </a:solidFill>
                <a:latin typeface="宋体"/>
                <a:ea typeface="宋体"/>
                <a:cs typeface="宋体"/>
              </a:rPr>
              <a:t>导师：高贞贞</a:t>
            </a:r>
          </a:p>
        </p:txBody>
      </p:sp>
      <p:sp>
        <p:nvSpPr>
          <p:cNvPr id="10" name="文本框 9">
            <a:extLst>
              <a:ext uri="{FF2B5EF4-FFF2-40B4-BE49-F238E27FC236}">
                <a16:creationId xmlns:a16="http://schemas.microsoft.com/office/drawing/2014/main" id="{F54BA025-D71D-3885-3DFA-023F344E671C}"/>
              </a:ext>
            </a:extLst>
          </p:cNvPr>
          <p:cNvSpPr>
            <a:spLocks noGrp="1"/>
          </p:cNvSpPr>
          <p:nvPr/>
        </p:nvSpPr>
        <p:spPr>
          <a:xfrm>
            <a:off x="5489620" y="5137626"/>
            <a:ext cx="1554648" cy="400110"/>
          </a:xfrm>
          <a:prstGeom prst="rect">
            <a:avLst/>
          </a:prstGeom>
          <a:noFill/>
        </p:spPr>
        <p:txBody>
          <a:bodyPr wrap="square">
            <a:spAutoFit/>
          </a:bodyPr>
          <a:lstStyle/>
          <a:p>
            <a:pPr>
              <a:buNone/>
            </a:pPr>
            <a:r>
              <a:rPr sz="2000" b="1" dirty="0">
                <a:solidFill>
                  <a:schemeClr val="bg1"/>
                </a:solidFill>
                <a:latin typeface="宋体"/>
                <a:ea typeface="宋体"/>
                <a:cs typeface="宋体"/>
              </a:rPr>
              <a:t>2026.07.2</a:t>
            </a:r>
            <a:r>
              <a:rPr lang="en-US" sz="2000" b="1" dirty="0">
                <a:solidFill>
                  <a:schemeClr val="bg1"/>
                </a:solidFill>
                <a:latin typeface="宋体"/>
                <a:ea typeface="宋体"/>
                <a:cs typeface="宋体"/>
              </a:rPr>
              <a:t>3</a:t>
            </a:r>
            <a:endParaRPr sz="2000" b="1" dirty="0">
              <a:solidFill>
                <a:schemeClr val="bg1"/>
              </a:solidFill>
              <a:latin typeface="宋体"/>
              <a:ea typeface="宋体"/>
              <a:cs typeface="宋体"/>
            </a:endParaRPr>
          </a:p>
        </p:txBody>
      </p:sp>
    </p:spTree>
    <p:extLst>
      <p:ext uri="{BB962C8B-B14F-4D97-AF65-F5344CB8AC3E}">
        <p14:creationId xmlns:p14="http://schemas.microsoft.com/office/powerpoint/2010/main" val="1727554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DC07FB5-9CC4-48F2-A879-E801494520F5}"/>
              </a:ext>
            </a:extLst>
          </p:cNvPr>
          <p:cNvSpPr>
            <a:spLocks noGrp="1"/>
          </p:cNvSpPr>
          <p:nvPr/>
        </p:nvSpPr>
        <p:spPr>
          <a:xfrm>
            <a:off x="-22934" y="0"/>
            <a:ext cx="4680659" cy="6858000"/>
          </a:xfrm>
          <a:prstGeom prst="rect">
            <a:avLst/>
          </a:prstGeom>
          <a:solidFill>
            <a:srgbClr val="911F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文本框 6">
            <a:extLst>
              <a:ext uri="{FF2B5EF4-FFF2-40B4-BE49-F238E27FC236}">
                <a16:creationId xmlns:a16="http://schemas.microsoft.com/office/drawing/2014/main" id="{31B582A2-E1BA-428A-9E48-3D475D1DDB23}"/>
              </a:ext>
            </a:extLst>
          </p:cNvPr>
          <p:cNvSpPr>
            <a:spLocks noGrp="1"/>
          </p:cNvSpPr>
          <p:nvPr/>
        </p:nvSpPr>
        <p:spPr>
          <a:xfrm>
            <a:off x="6290327" y="720843"/>
            <a:ext cx="3062023" cy="646331"/>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600" b="1">
                <a:solidFill>
                  <a:srgbClr val="911F22"/>
                </a:solidFill>
                <a:latin typeface="字魂105号-简雅黑"/>
                <a:ea typeface="字魂105号-简雅黑"/>
                <a:cs typeface="字魂105号-简雅黑"/>
              </a:rPr>
              <a:t>CONTENTS</a:t>
            </a:r>
          </a:p>
        </p:txBody>
      </p:sp>
      <p:sp>
        <p:nvSpPr>
          <p:cNvPr id="8" name="文本框 7">
            <a:extLst>
              <a:ext uri="{FF2B5EF4-FFF2-40B4-BE49-F238E27FC236}">
                <a16:creationId xmlns:a16="http://schemas.microsoft.com/office/drawing/2014/main" id="{27F7056A-74B0-40C5-ADE6-8FFD207D247D}"/>
              </a:ext>
            </a:extLst>
          </p:cNvPr>
          <p:cNvSpPr>
            <a:spLocks noGrp="1"/>
          </p:cNvSpPr>
          <p:nvPr/>
        </p:nvSpPr>
        <p:spPr>
          <a:xfrm>
            <a:off x="6290327" y="1763603"/>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a:ln>
                  <a:noFill/>
                </a:ln>
                <a:solidFill>
                  <a:srgbClr val="911F22"/>
                </a:solidFill>
                <a:latin typeface="字魂105号-简雅黑"/>
                <a:ea typeface="字魂105号-简雅黑"/>
                <a:cs typeface="字魂105号-简雅黑"/>
              </a:rPr>
              <a:t>01</a:t>
            </a:r>
          </a:p>
        </p:txBody>
      </p:sp>
      <p:sp>
        <p:nvSpPr>
          <p:cNvPr id="9" name="矩形 8">
            <a:extLst>
              <a:ext uri="{FF2B5EF4-FFF2-40B4-BE49-F238E27FC236}">
                <a16:creationId xmlns:a16="http://schemas.microsoft.com/office/drawing/2014/main" id="{2DE54445-99F6-41A4-BB92-77DE17BA2779}"/>
              </a:ext>
            </a:extLst>
          </p:cNvPr>
          <p:cNvSpPr>
            <a:spLocks noGrp="1"/>
          </p:cNvSpPr>
          <p:nvPr/>
        </p:nvSpPr>
        <p:spPr>
          <a:xfrm>
            <a:off x="7148631" y="1813592"/>
            <a:ext cx="2710146" cy="461665"/>
          </a:xfrm>
          <a:prstGeom prst="rect">
            <a:avLst/>
          </a:prstGeom>
        </p:spPr>
        <p:txBody>
          <a:bodyPr wrap="square">
            <a:spAutoFit/>
          </a:bodyPr>
          <a:lstStyle/>
          <a:p>
            <a:r>
              <a:rPr lang="zh-CN" altLang="en-US" sz="2400" b="1" dirty="0">
                <a:solidFill>
                  <a:prstClr val="black"/>
                </a:solidFill>
                <a:latin typeface="微软雅黑"/>
                <a:ea typeface="微软雅黑"/>
                <a:cs typeface="微软雅黑"/>
              </a:rPr>
              <a:t>选题背景与意义</a:t>
            </a:r>
          </a:p>
        </p:txBody>
      </p:sp>
      <p:sp>
        <p:nvSpPr>
          <p:cNvPr id="18" name="直接连接符 17">
            <a:extLst>
              <a:ext uri="{FF2B5EF4-FFF2-40B4-BE49-F238E27FC236}">
                <a16:creationId xmlns:a16="http://schemas.microsoft.com/office/drawing/2014/main" id="{EA7C1066-00FF-46FC-B930-497968ABDA90}"/>
              </a:ext>
            </a:extLst>
          </p:cNvPr>
          <p:cNvSpPr>
            <a:spLocks noGrp="1"/>
          </p:cNvSpPr>
          <p:nvPr/>
        </p:nvSpPr>
        <p:spPr>
          <a:xfrm>
            <a:off x="7148631" y="1846425"/>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373BDF19-4629-4034-9C45-D76A46D4A6F1}"/>
              </a:ext>
            </a:extLst>
          </p:cNvPr>
          <p:cNvSpPr>
            <a:spLocks noGrp="1"/>
          </p:cNvSpPr>
          <p:nvPr/>
        </p:nvSpPr>
        <p:spPr>
          <a:xfrm>
            <a:off x="6290327" y="3273320"/>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a:t>
            </a:r>
            <a:r>
              <a:rPr lang="en-US" sz="3200" b="1" i="0" u="none" cap="none" dirty="0">
                <a:ln>
                  <a:noFill/>
                </a:ln>
                <a:solidFill>
                  <a:srgbClr val="911F22"/>
                </a:solidFill>
                <a:latin typeface="字魂105号-简雅黑"/>
                <a:ea typeface="字魂105号-简雅黑"/>
                <a:cs typeface="字魂105号-简雅黑"/>
              </a:rPr>
              <a:t>3</a:t>
            </a:r>
            <a:endParaRPr sz="3200" b="1" i="0" u="none" cap="none" dirty="0">
              <a:ln>
                <a:noFill/>
              </a:ln>
              <a:solidFill>
                <a:srgbClr val="911F22"/>
              </a:solidFill>
              <a:latin typeface="字魂105号-简雅黑"/>
              <a:ea typeface="字魂105号-简雅黑"/>
              <a:cs typeface="字魂105号-简雅黑"/>
            </a:endParaRPr>
          </a:p>
        </p:txBody>
      </p:sp>
      <p:sp>
        <p:nvSpPr>
          <p:cNvPr id="25" name="矩形 24">
            <a:extLst>
              <a:ext uri="{FF2B5EF4-FFF2-40B4-BE49-F238E27FC236}">
                <a16:creationId xmlns:a16="http://schemas.microsoft.com/office/drawing/2014/main" id="{19B6583D-65F5-4330-9E1C-25250315BB73}"/>
              </a:ext>
            </a:extLst>
          </p:cNvPr>
          <p:cNvSpPr>
            <a:spLocks noGrp="1"/>
          </p:cNvSpPr>
          <p:nvPr/>
        </p:nvSpPr>
        <p:spPr>
          <a:xfrm>
            <a:off x="7148631" y="3315460"/>
            <a:ext cx="3877985" cy="461665"/>
          </a:xfrm>
          <a:prstGeom prst="rect">
            <a:avLst/>
          </a:prstGeom>
        </p:spPr>
        <p:txBody>
          <a:bodyPr wrap="none">
            <a:spAutoFit/>
          </a:bodyPr>
          <a:lstStyle/>
          <a:p>
            <a:r>
              <a:rPr lang="zh-CN" altLang="en-US" sz="2400" b="1" dirty="0">
                <a:solidFill>
                  <a:schemeClr val="bg1">
                    <a:lumMod val="65000"/>
                  </a:schemeClr>
                </a:solidFill>
                <a:latin typeface="微软雅黑"/>
                <a:ea typeface="微软雅黑"/>
                <a:cs typeface="微软雅黑"/>
              </a:rPr>
              <a:t>跨接收机射频指纹识别方法</a:t>
            </a:r>
          </a:p>
        </p:txBody>
      </p:sp>
      <p:sp>
        <p:nvSpPr>
          <p:cNvPr id="23" name="直接连接符 22">
            <a:extLst>
              <a:ext uri="{FF2B5EF4-FFF2-40B4-BE49-F238E27FC236}">
                <a16:creationId xmlns:a16="http://schemas.microsoft.com/office/drawing/2014/main" id="{4A879154-B278-42D3-BA76-8DE18357C8F3}"/>
              </a:ext>
            </a:extLst>
          </p:cNvPr>
          <p:cNvSpPr>
            <a:spLocks noGrp="1"/>
          </p:cNvSpPr>
          <p:nvPr/>
        </p:nvSpPr>
        <p:spPr>
          <a:xfrm>
            <a:off x="7148631" y="33561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9" name="文本框 28">
            <a:extLst>
              <a:ext uri="{FF2B5EF4-FFF2-40B4-BE49-F238E27FC236}">
                <a16:creationId xmlns:a16="http://schemas.microsoft.com/office/drawing/2014/main" id="{71DE4362-D07F-477E-AC41-341A241EEBA6}"/>
              </a:ext>
            </a:extLst>
          </p:cNvPr>
          <p:cNvSpPr>
            <a:spLocks noGrp="1"/>
          </p:cNvSpPr>
          <p:nvPr/>
        </p:nvSpPr>
        <p:spPr>
          <a:xfrm>
            <a:off x="6290327" y="4032170"/>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a:t>
            </a:r>
            <a:r>
              <a:rPr lang="en-US" sz="3200" b="1" i="0" u="none" cap="none" dirty="0">
                <a:ln>
                  <a:noFill/>
                </a:ln>
                <a:solidFill>
                  <a:srgbClr val="911F22"/>
                </a:solidFill>
                <a:latin typeface="字魂105号-简雅黑"/>
                <a:ea typeface="字魂105号-简雅黑"/>
                <a:cs typeface="字魂105号-简雅黑"/>
              </a:rPr>
              <a:t>4</a:t>
            </a:r>
            <a:endParaRPr sz="3200" b="1" i="0" u="none" cap="none" dirty="0">
              <a:ln>
                <a:noFill/>
              </a:ln>
              <a:solidFill>
                <a:srgbClr val="911F22"/>
              </a:solidFill>
              <a:latin typeface="字魂105号-简雅黑"/>
              <a:ea typeface="字魂105号-简雅黑"/>
              <a:cs typeface="字魂105号-简雅黑"/>
            </a:endParaRPr>
          </a:p>
        </p:txBody>
      </p:sp>
      <p:sp>
        <p:nvSpPr>
          <p:cNvPr id="30" name="矩形 29">
            <a:extLst>
              <a:ext uri="{FF2B5EF4-FFF2-40B4-BE49-F238E27FC236}">
                <a16:creationId xmlns:a16="http://schemas.microsoft.com/office/drawing/2014/main" id="{3292BE4C-C036-44B3-9CAB-D42BB67D15B3}"/>
              </a:ext>
            </a:extLst>
          </p:cNvPr>
          <p:cNvSpPr>
            <a:spLocks noGrp="1"/>
          </p:cNvSpPr>
          <p:nvPr/>
        </p:nvSpPr>
        <p:spPr>
          <a:xfrm>
            <a:off x="7169896" y="4067698"/>
            <a:ext cx="2339102" cy="461665"/>
          </a:xfrm>
          <a:prstGeom prst="rect">
            <a:avLst/>
          </a:prstGeom>
        </p:spPr>
        <p:txBody>
          <a:bodyPr wrap="none">
            <a:spAutoFit/>
          </a:bodyPr>
          <a:lstStyle/>
          <a:p>
            <a:r>
              <a:rPr lang="zh-CN" altLang="en-US" sz="2400" b="1" dirty="0">
                <a:solidFill>
                  <a:schemeClr val="bg1">
                    <a:lumMod val="65000"/>
                  </a:schemeClr>
                </a:solidFill>
                <a:latin typeface="微软雅黑"/>
                <a:ea typeface="微软雅黑"/>
                <a:cs typeface="微软雅黑"/>
              </a:rPr>
              <a:t>实验结果与分析</a:t>
            </a:r>
          </a:p>
        </p:txBody>
      </p:sp>
      <p:sp>
        <p:nvSpPr>
          <p:cNvPr id="28" name="直接连接符 27">
            <a:extLst>
              <a:ext uri="{FF2B5EF4-FFF2-40B4-BE49-F238E27FC236}">
                <a16:creationId xmlns:a16="http://schemas.microsoft.com/office/drawing/2014/main" id="{85158EB8-5FDD-4FC9-8EBB-26E020BF4E2E}"/>
              </a:ext>
            </a:extLst>
          </p:cNvPr>
          <p:cNvSpPr>
            <a:spLocks noGrp="1"/>
          </p:cNvSpPr>
          <p:nvPr/>
        </p:nvSpPr>
        <p:spPr>
          <a:xfrm>
            <a:off x="7148631" y="411499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7" name="文本框 46">
            <a:extLst>
              <a:ext uri="{FF2B5EF4-FFF2-40B4-BE49-F238E27FC236}">
                <a16:creationId xmlns:a16="http://schemas.microsoft.com/office/drawing/2014/main" id="{5D5F3979-0BC9-4CB9-96B0-254DF86F629E}"/>
              </a:ext>
            </a:extLst>
          </p:cNvPr>
          <p:cNvSpPr>
            <a:spLocks noGrp="1"/>
          </p:cNvSpPr>
          <p:nvPr/>
        </p:nvSpPr>
        <p:spPr>
          <a:xfrm>
            <a:off x="6290327" y="4826548"/>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a:t>
            </a:r>
            <a:r>
              <a:rPr lang="en-US" sz="3200" b="1" i="0" u="none" cap="none" dirty="0">
                <a:ln>
                  <a:noFill/>
                </a:ln>
                <a:solidFill>
                  <a:srgbClr val="911F22"/>
                </a:solidFill>
                <a:latin typeface="字魂105号-简雅黑"/>
                <a:ea typeface="字魂105号-简雅黑"/>
                <a:cs typeface="字魂105号-简雅黑"/>
              </a:rPr>
              <a:t>5</a:t>
            </a:r>
            <a:endParaRPr sz="3200" b="1" i="0" u="none" cap="none" dirty="0">
              <a:ln>
                <a:noFill/>
              </a:ln>
              <a:solidFill>
                <a:srgbClr val="911F22"/>
              </a:solidFill>
              <a:latin typeface="字魂105号-简雅黑"/>
              <a:ea typeface="字魂105号-简雅黑"/>
              <a:cs typeface="字魂105号-简雅黑"/>
            </a:endParaRPr>
          </a:p>
        </p:txBody>
      </p:sp>
      <p:sp>
        <p:nvSpPr>
          <p:cNvPr id="48" name="矩形 47">
            <a:extLst>
              <a:ext uri="{FF2B5EF4-FFF2-40B4-BE49-F238E27FC236}">
                <a16:creationId xmlns:a16="http://schemas.microsoft.com/office/drawing/2014/main" id="{69CA4945-D95E-42B0-BAB0-370FEB4F196A}"/>
              </a:ext>
            </a:extLst>
          </p:cNvPr>
          <p:cNvSpPr>
            <a:spLocks noGrp="1"/>
          </p:cNvSpPr>
          <p:nvPr/>
        </p:nvSpPr>
        <p:spPr>
          <a:xfrm>
            <a:off x="7169896" y="4859728"/>
            <a:ext cx="2646878" cy="461665"/>
          </a:xfrm>
          <a:prstGeom prst="rect">
            <a:avLst/>
          </a:prstGeom>
        </p:spPr>
        <p:txBody>
          <a:bodyPr wrap="none">
            <a:spAutoFit/>
          </a:bodyPr>
          <a:lstStyle/>
          <a:p>
            <a:r>
              <a:rPr lang="zh-CN" altLang="en-US" sz="2400" b="1" dirty="0">
                <a:solidFill>
                  <a:schemeClr val="bg1">
                    <a:lumMod val="65000"/>
                  </a:schemeClr>
                </a:solidFill>
                <a:latin typeface="微软雅黑"/>
                <a:ea typeface="微软雅黑"/>
                <a:cs typeface="微软雅黑"/>
              </a:rPr>
              <a:t>下一阶段工作计划</a:t>
            </a:r>
          </a:p>
        </p:txBody>
      </p:sp>
      <p:sp>
        <p:nvSpPr>
          <p:cNvPr id="46" name="直接连接符 45">
            <a:extLst>
              <a:ext uri="{FF2B5EF4-FFF2-40B4-BE49-F238E27FC236}">
                <a16:creationId xmlns:a16="http://schemas.microsoft.com/office/drawing/2014/main" id="{3B21E8E3-1FBE-426A-B16A-709B90C2E2FB}"/>
              </a:ext>
            </a:extLst>
          </p:cNvPr>
          <p:cNvSpPr>
            <a:spLocks noGrp="1"/>
          </p:cNvSpPr>
          <p:nvPr/>
        </p:nvSpPr>
        <p:spPr>
          <a:xfrm>
            <a:off x="7148631" y="4909370"/>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65" name="图片 3"/>
          <p:cNvPicPr>
            <a:picLocks noChangeAspect="1"/>
          </p:cNvPicPr>
          <p:nvPr/>
        </p:nvPicPr>
        <p:blipFill>
          <a:blip r:embed="rId3"/>
          <a:stretch>
            <a:fillRect/>
          </a:stretch>
        </p:blipFill>
        <p:spPr>
          <a:xfrm>
            <a:off x="1364895" y="2928431"/>
            <a:ext cx="1905000" cy="1905000"/>
          </a:xfrm>
          <a:prstGeom prst="rect">
            <a:avLst/>
          </a:prstGeom>
        </p:spPr>
      </p:pic>
      <p:pic>
        <p:nvPicPr>
          <p:cNvPr id="66" name="图片 4"/>
          <p:cNvPicPr>
            <a:picLocks noChangeAspect="1"/>
          </p:cNvPicPr>
          <p:nvPr/>
        </p:nvPicPr>
        <p:blipFill>
          <a:blip r:embed="rId4">
            <a:biLevel thresh="25000"/>
          </a:blip>
          <a:stretch>
            <a:fillRect/>
          </a:stretch>
        </p:blipFill>
        <p:spPr>
          <a:xfrm>
            <a:off x="1322797" y="703717"/>
            <a:ext cx="1989196" cy="1914672"/>
          </a:xfrm>
          <a:prstGeom prst="rect">
            <a:avLst/>
          </a:prstGeom>
        </p:spPr>
      </p:pic>
      <p:sp>
        <p:nvSpPr>
          <p:cNvPr id="3" name="文本框 23">
            <a:extLst>
              <a:ext uri="{FF2B5EF4-FFF2-40B4-BE49-F238E27FC236}">
                <a16:creationId xmlns:a16="http://schemas.microsoft.com/office/drawing/2014/main" id="{3D1DA684-8BB5-48BD-B58A-64A0377EDA21}"/>
              </a:ext>
            </a:extLst>
          </p:cNvPr>
          <p:cNvSpPr>
            <a:spLocks noGrp="1"/>
          </p:cNvSpPr>
          <p:nvPr/>
        </p:nvSpPr>
        <p:spPr>
          <a:xfrm>
            <a:off x="6290327" y="2514470"/>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02</a:t>
            </a:r>
          </a:p>
        </p:txBody>
      </p:sp>
      <p:sp>
        <p:nvSpPr>
          <p:cNvPr id="4" name="矩形 3">
            <a:extLst>
              <a:ext uri="{FF2B5EF4-FFF2-40B4-BE49-F238E27FC236}">
                <a16:creationId xmlns:a16="http://schemas.microsoft.com/office/drawing/2014/main" id="{9F4191C8-7DE5-F082-4897-1E8EA656598D}"/>
              </a:ext>
            </a:extLst>
          </p:cNvPr>
          <p:cNvSpPr>
            <a:spLocks noGrp="1"/>
          </p:cNvSpPr>
          <p:nvPr/>
        </p:nvSpPr>
        <p:spPr>
          <a:xfrm>
            <a:off x="7148631" y="2556610"/>
            <a:ext cx="3570208" cy="461665"/>
          </a:xfrm>
          <a:prstGeom prst="rect">
            <a:avLst/>
          </a:prstGeom>
        </p:spPr>
        <p:txBody>
          <a:bodyPr wrap="none">
            <a:spAutoFit/>
          </a:bodyPr>
          <a:lstStyle/>
          <a:p>
            <a:r>
              <a:rPr lang="zh-CN" altLang="en-US" sz="2400" b="1" dirty="0">
                <a:solidFill>
                  <a:schemeClr val="bg1">
                    <a:lumMod val="65000"/>
                  </a:schemeClr>
                </a:solidFill>
                <a:latin typeface="微软雅黑"/>
                <a:ea typeface="微软雅黑"/>
                <a:cs typeface="微软雅黑"/>
              </a:rPr>
              <a:t>主要研究内容与工作进展</a:t>
            </a:r>
          </a:p>
        </p:txBody>
      </p:sp>
      <p:sp>
        <p:nvSpPr>
          <p:cNvPr id="5" name="直接连接符 4">
            <a:extLst>
              <a:ext uri="{FF2B5EF4-FFF2-40B4-BE49-F238E27FC236}">
                <a16:creationId xmlns:a16="http://schemas.microsoft.com/office/drawing/2014/main" id="{30DCF570-13D8-26D2-72A3-CCC7EFCCDAFA}"/>
              </a:ext>
            </a:extLst>
          </p:cNvPr>
          <p:cNvSpPr>
            <a:spLocks noGrp="1"/>
          </p:cNvSpPr>
          <p:nvPr/>
        </p:nvSpPr>
        <p:spPr>
          <a:xfrm>
            <a:off x="7148631" y="259729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Tree>
    <p:extLst>
      <p:ext uri="{BB962C8B-B14F-4D97-AF65-F5344CB8AC3E}">
        <p14:creationId xmlns:p14="http://schemas.microsoft.com/office/powerpoint/2010/main" val="277519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AC801D35-68A1-4184-A2A0-3E86D535D932}"/>
              </a:ext>
            </a:extLst>
          </p:cNvPr>
          <p:cNvSpPr/>
          <p:nvPr/>
        </p:nvSpPr>
        <p:spPr>
          <a:xfrm>
            <a:off x="459594" y="183682"/>
            <a:ext cx="2871738" cy="508923"/>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911F22"/>
          </a:solidFill>
          <a:ln w="38100">
            <a:solidFill>
              <a:srgbClr val="911F2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矩形 15">
            <a:extLst>
              <a:ext uri="{FF2B5EF4-FFF2-40B4-BE49-F238E27FC236}">
                <a16:creationId xmlns:a16="http://schemas.microsoft.com/office/drawing/2014/main" id="{06AA2D42-720A-46B3-A376-DEBE68195A5B}"/>
              </a:ext>
            </a:extLst>
          </p:cNvPr>
          <p:cNvSpPr/>
          <p:nvPr/>
        </p:nvSpPr>
        <p:spPr>
          <a:xfrm>
            <a:off x="662567" y="207310"/>
            <a:ext cx="2441694"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2400" b="1" dirty="0">
                <a:solidFill>
                  <a:schemeClr val="bg1"/>
                </a:solidFill>
                <a:latin typeface="宋体" panose="02010600030101010101" pitchFamily="2" charset="-122"/>
                <a:ea typeface="宋体" panose="02010600030101010101" pitchFamily="2" charset="-122"/>
                <a:sym typeface="字魂105号-简雅黑" panose="00000500000000000000" pitchFamily="2" charset="-122"/>
              </a:rPr>
              <a:t>选题背景与意义</a:t>
            </a:r>
            <a:endParaRPr lang="zh-CN" altLang="en-US" sz="2400" dirty="0">
              <a:solidFill>
                <a:schemeClr val="bg1"/>
              </a:solidFill>
              <a:latin typeface="宋体" panose="02010600030101010101" pitchFamily="2" charset="-122"/>
              <a:ea typeface="宋体" panose="02010600030101010101" pitchFamily="2" charset="-122"/>
              <a:sym typeface="字魂105号-简雅黑" panose="00000500000000000000" pitchFamily="2" charset="-122"/>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00000" y="216000"/>
            <a:ext cx="1168402" cy="312900"/>
          </a:xfrm>
          <a:prstGeom prst="rect">
            <a:avLst/>
          </a:prstGeom>
        </p:spPr>
      </p:pic>
      <p:sp>
        <p:nvSpPr>
          <p:cNvPr id="13" name="文本框 12">
            <a:extLst>
              <a:ext uri="{FF2B5EF4-FFF2-40B4-BE49-F238E27FC236}">
                <a16:creationId xmlns:a16="http://schemas.microsoft.com/office/drawing/2014/main" id="{0AE90C2A-BB86-1630-A1A7-94DB4BED57BE}"/>
              </a:ext>
            </a:extLst>
          </p:cNvPr>
          <p:cNvSpPr txBox="1"/>
          <p:nvPr/>
        </p:nvSpPr>
        <p:spPr>
          <a:xfrm>
            <a:off x="662567" y="3565862"/>
            <a:ext cx="7178150" cy="961289"/>
          </a:xfrm>
          <a:prstGeom prst="rect">
            <a:avLst/>
          </a:prstGeom>
          <a:noFill/>
        </p:spPr>
        <p:txBody>
          <a:bodyPr wrap="square" rtlCol="0">
            <a:spAutoFit/>
          </a:bodyPr>
          <a:lstStyle/>
          <a:p>
            <a:pPr algn="ctr">
              <a:lnSpc>
                <a:spcPct val="150000"/>
              </a:lnSpc>
              <a:buNone/>
            </a:pPr>
            <a:r>
              <a:rPr lang="zh-CN" altLang="en-US" sz="2000" dirty="0">
                <a:latin typeface="微软雅黑"/>
                <a:ea typeface="微软雅黑"/>
                <a:cs typeface="微软雅黑"/>
              </a:rPr>
              <a:t>无线设备规模持续增长，低成本身份认证需求进一步增强</a:t>
            </a:r>
          </a:p>
          <a:p>
            <a:pPr algn="ctr">
              <a:lnSpc>
                <a:spcPct val="150000"/>
              </a:lnSpc>
              <a:buNone/>
            </a:pPr>
            <a:r>
              <a:rPr lang="zh-CN" altLang="en-US" sz="2000" dirty="0">
                <a:latin typeface="微软雅黑"/>
                <a:ea typeface="微软雅黑"/>
                <a:cs typeface="微软雅黑"/>
              </a:rPr>
              <a:t>射频指纹可提供无需额外密钥的物理层身份依据</a:t>
            </a:r>
          </a:p>
        </p:txBody>
      </p:sp>
      <p:pic>
        <p:nvPicPr>
          <p:cNvPr id="1028" name="Picture 4" descr="万物互联">
            <a:extLst>
              <a:ext uri="{FF2B5EF4-FFF2-40B4-BE49-F238E27FC236}">
                <a16:creationId xmlns:a16="http://schemas.microsoft.com/office/drawing/2014/main" id="{F76EC649-637C-866E-908B-141F30C1B6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6139" y="795981"/>
            <a:ext cx="4113861" cy="2739193"/>
          </a:xfrm>
          <a:prstGeom prst="rect">
            <a:avLst/>
          </a:prstGeom>
          <a:noFill/>
          <a:extLst>
            <a:ext uri="{909E8E84-426E-40DD-AFC4-6F175D3DCCD1}">
              <a14:hiddenFill xmlns:a14="http://schemas.microsoft.com/office/drawing/2010/main">
                <a:solidFill>
                  <a:srgbClr val="FFFFFF"/>
                </a:solidFill>
              </a14:hiddenFill>
            </a:ext>
          </a:extLst>
        </p:spPr>
      </p:pic>
      <p:sp>
        <p:nvSpPr>
          <p:cNvPr id="7" name="灯片编号占位符 6">
            <a:extLst>
              <a:ext uri="{FF2B5EF4-FFF2-40B4-BE49-F238E27FC236}">
                <a16:creationId xmlns:a16="http://schemas.microsoft.com/office/drawing/2014/main" id="{1232ACE2-3BDF-6B4E-609E-99CCEC7BC599}"/>
              </a:ext>
            </a:extLst>
          </p:cNvPr>
          <p:cNvSpPr>
            <a:spLocks noGrp="1"/>
          </p:cNvSpPr>
          <p:nvPr>
            <p:ph type="sldNum" sz="quarter" idx="12"/>
          </p:nvPr>
        </p:nvSpPr>
        <p:spPr>
          <a:xfrm>
            <a:off x="10778045" y="5788792"/>
            <a:ext cx="550985" cy="365125"/>
          </a:xfrm>
        </p:spPr>
        <p:txBody>
          <a:bodyPr/>
          <a:lstStyle/>
          <a:p>
            <a:r>
              <a:rPr lang="en-US" altLang="zh-CN" dirty="0"/>
              <a:t>1</a:t>
            </a:r>
            <a:endParaRPr lang="zh-CN" altLang="en-US" dirty="0"/>
          </a:p>
        </p:txBody>
      </p:sp>
      <p:pic>
        <p:nvPicPr>
          <p:cNvPr id="9" name="图片 8">
            <a:extLst>
              <a:ext uri="{FF2B5EF4-FFF2-40B4-BE49-F238E27FC236}">
                <a16:creationId xmlns:a16="http://schemas.microsoft.com/office/drawing/2014/main" id="{B9197221-2E45-0793-36A0-841700F30E3D}"/>
              </a:ext>
            </a:extLst>
          </p:cNvPr>
          <p:cNvPicPr>
            <a:picLocks noChangeAspect="1"/>
          </p:cNvPicPr>
          <p:nvPr/>
        </p:nvPicPr>
        <p:blipFill>
          <a:blip r:embed="rId5"/>
          <a:stretch>
            <a:fillRect/>
          </a:stretch>
        </p:blipFill>
        <p:spPr>
          <a:xfrm>
            <a:off x="820107" y="807487"/>
            <a:ext cx="4981907" cy="2774117"/>
          </a:xfrm>
          <a:prstGeom prst="rect">
            <a:avLst/>
          </a:prstGeom>
        </p:spPr>
      </p:pic>
      <p:sp>
        <p:nvSpPr>
          <p:cNvPr id="3" name="文本框 2">
            <a:extLst>
              <a:ext uri="{FF2B5EF4-FFF2-40B4-BE49-F238E27FC236}">
                <a16:creationId xmlns:a16="http://schemas.microsoft.com/office/drawing/2014/main" id="{A33D4C65-98E0-1149-44AB-3F9333A33063}"/>
              </a:ext>
            </a:extLst>
          </p:cNvPr>
          <p:cNvSpPr txBox="1"/>
          <p:nvPr/>
        </p:nvSpPr>
        <p:spPr>
          <a:xfrm>
            <a:off x="797605" y="4657244"/>
            <a:ext cx="4832459" cy="581057"/>
          </a:xfrm>
          <a:prstGeom prst="rect">
            <a:avLst/>
          </a:prstGeom>
          <a:noFill/>
        </p:spPr>
        <p:txBody>
          <a:bodyPr wrap="square" rtlCol="0">
            <a:spAutoFit/>
          </a:bodyPr>
          <a:lstStyle/>
          <a:p>
            <a:pPr>
              <a:lnSpc>
                <a:spcPct val="150000"/>
              </a:lnSpc>
              <a:spcAft>
                <a:spcPts val="600"/>
              </a:spcAft>
            </a:pPr>
            <a:r>
              <a:rPr lang="zh-CN" altLang="en-US" sz="2400" b="1" dirty="0">
                <a:solidFill>
                  <a:srgbClr val="911F22"/>
                </a:solidFill>
                <a:latin typeface="微软雅黑" panose="020B0503020204020204" pitchFamily="34" charset="-122"/>
                <a:ea typeface="微软雅黑" panose="020B0503020204020204" pitchFamily="34" charset="-122"/>
                <a:sym typeface="字魂105号-简雅黑" panose="00000500000000000000" pitchFamily="2" charset="-122"/>
              </a:rPr>
              <a:t>传统上层安全认证机制存在的缺陷</a:t>
            </a:r>
            <a:endParaRPr lang="en-US" altLang="zh-CN" sz="2400" b="1" dirty="0">
              <a:solidFill>
                <a:srgbClr val="911F22"/>
              </a:solidFill>
              <a:latin typeface="微软雅黑" panose="020B0503020204020204" pitchFamily="34" charset="-122"/>
              <a:ea typeface="微软雅黑" panose="020B0503020204020204" pitchFamily="34" charset="-122"/>
              <a:sym typeface="字魂105号-简雅黑" panose="00000500000000000000" pitchFamily="2" charset="-122"/>
            </a:endParaRPr>
          </a:p>
        </p:txBody>
      </p:sp>
      <p:sp>
        <p:nvSpPr>
          <p:cNvPr id="5" name="矩形 4">
            <a:extLst>
              <a:ext uri="{FF2B5EF4-FFF2-40B4-BE49-F238E27FC236}">
                <a16:creationId xmlns:a16="http://schemas.microsoft.com/office/drawing/2014/main" id="{661D55A8-405A-B9D8-FBE5-27814507E9C0}"/>
              </a:ext>
            </a:extLst>
          </p:cNvPr>
          <p:cNvSpPr/>
          <p:nvPr/>
        </p:nvSpPr>
        <p:spPr>
          <a:xfrm>
            <a:off x="871610" y="5793173"/>
            <a:ext cx="7809877" cy="458908"/>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字魂105号-简雅黑" panose="00000500000000000000" pitchFamily="2" charset="-122"/>
              </a:rPr>
              <a:t>加密手段常依赖复杂的数学计算，而物联网设备常常计算资源受限；</a:t>
            </a:r>
            <a:endParaRPr lang="en-US" altLang="zh-CN" dirty="0">
              <a:latin typeface="微软雅黑" panose="020B0503020204020204" pitchFamily="34" charset="-122"/>
              <a:ea typeface="微软雅黑" panose="020B0503020204020204" pitchFamily="34" charset="-122"/>
              <a:sym typeface="字魂105号-简雅黑" panose="00000500000000000000" pitchFamily="2" charset="-122"/>
            </a:endParaRPr>
          </a:p>
        </p:txBody>
      </p:sp>
      <p:sp>
        <p:nvSpPr>
          <p:cNvPr id="8" name="矩形 7">
            <a:extLst>
              <a:ext uri="{FF2B5EF4-FFF2-40B4-BE49-F238E27FC236}">
                <a16:creationId xmlns:a16="http://schemas.microsoft.com/office/drawing/2014/main" id="{1578EEFD-3A61-2C11-2933-69DAC7814A7C}"/>
              </a:ext>
            </a:extLst>
          </p:cNvPr>
          <p:cNvSpPr/>
          <p:nvPr/>
        </p:nvSpPr>
        <p:spPr>
          <a:xfrm>
            <a:off x="871609" y="6281887"/>
            <a:ext cx="7809877" cy="458908"/>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字魂105号-简雅黑" panose="00000500000000000000" pitchFamily="2" charset="-122"/>
              </a:rPr>
              <a:t>密钥分发管理机制复杂，存在泄露风险，协议层中常存在安全漏洞</a:t>
            </a:r>
            <a:endParaRPr lang="en-US" altLang="zh-CN" dirty="0">
              <a:latin typeface="微软雅黑" panose="020B0503020204020204" pitchFamily="34" charset="-122"/>
              <a:ea typeface="微软雅黑" panose="020B0503020204020204" pitchFamily="34" charset="-122"/>
              <a:sym typeface="字魂105号-简雅黑" panose="00000500000000000000" pitchFamily="2" charset="-122"/>
            </a:endParaRPr>
          </a:p>
        </p:txBody>
      </p:sp>
      <p:sp>
        <p:nvSpPr>
          <p:cNvPr id="12" name="矩形 11">
            <a:extLst>
              <a:ext uri="{FF2B5EF4-FFF2-40B4-BE49-F238E27FC236}">
                <a16:creationId xmlns:a16="http://schemas.microsoft.com/office/drawing/2014/main" id="{51273FF1-718F-4488-35AF-2E813CD631FD}"/>
              </a:ext>
            </a:extLst>
          </p:cNvPr>
          <p:cNvSpPr/>
          <p:nvPr/>
        </p:nvSpPr>
        <p:spPr>
          <a:xfrm>
            <a:off x="861266" y="5268107"/>
            <a:ext cx="9881497" cy="458908"/>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字魂105号-简雅黑" panose="00000500000000000000" pitchFamily="2" charset="-122"/>
              </a:rPr>
              <a:t>上层认证依赖算法计算复杂度的安全性，随着算力提升存在被暴力破解的风险；</a:t>
            </a:r>
            <a:endParaRPr lang="en-US" altLang="zh-CN" dirty="0">
              <a:latin typeface="微软雅黑" panose="020B0503020204020204" pitchFamily="34" charset="-122"/>
              <a:ea typeface="微软雅黑" panose="020B0503020204020204" pitchFamily="34" charset="-122"/>
              <a:sym typeface="字魂105号-简雅黑" panose="00000500000000000000" pitchFamily="2" charset="-122"/>
            </a:endParaRPr>
          </a:p>
        </p:txBody>
      </p:sp>
      <p:sp>
        <p:nvSpPr>
          <p:cNvPr id="14" name="箭头: 右 13">
            <a:extLst>
              <a:ext uri="{FF2B5EF4-FFF2-40B4-BE49-F238E27FC236}">
                <a16:creationId xmlns:a16="http://schemas.microsoft.com/office/drawing/2014/main" id="{B267A77A-C08A-A87B-8948-696CFB9CEC06}"/>
              </a:ext>
            </a:extLst>
          </p:cNvPr>
          <p:cNvSpPr/>
          <p:nvPr/>
        </p:nvSpPr>
        <p:spPr>
          <a:xfrm>
            <a:off x="7787377" y="3837956"/>
            <a:ext cx="1266566" cy="442517"/>
          </a:xfrm>
          <a:prstGeom prst="rightArrow">
            <a:avLst>
              <a:gd name="adj1" fmla="val 50000"/>
              <a:gd name="adj2" fmla="val 53228"/>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332CA041-8C2C-D2AD-B733-8C3AF9F9C0BD}"/>
              </a:ext>
            </a:extLst>
          </p:cNvPr>
          <p:cNvSpPr txBox="1"/>
          <p:nvPr/>
        </p:nvSpPr>
        <p:spPr>
          <a:xfrm>
            <a:off x="8813007" y="3884369"/>
            <a:ext cx="3378993"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射频指纹识别</a:t>
            </a:r>
          </a:p>
        </p:txBody>
      </p:sp>
    </p:spTree>
    <p:extLst>
      <p:ext uri="{BB962C8B-B14F-4D97-AF65-F5344CB8AC3E}">
        <p14:creationId xmlns:p14="http://schemas.microsoft.com/office/powerpoint/2010/main" val="21030327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AC801D35-68A1-4184-A2A0-3E86D535D932}"/>
              </a:ext>
            </a:extLst>
          </p:cNvPr>
          <p:cNvSpPr/>
          <p:nvPr/>
        </p:nvSpPr>
        <p:spPr>
          <a:xfrm>
            <a:off x="617135" y="449020"/>
            <a:ext cx="2871738" cy="508923"/>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911F22"/>
          </a:solidFill>
          <a:ln w="38100">
            <a:solidFill>
              <a:srgbClr val="911F2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矩形 15">
            <a:extLst>
              <a:ext uri="{FF2B5EF4-FFF2-40B4-BE49-F238E27FC236}">
                <a16:creationId xmlns:a16="http://schemas.microsoft.com/office/drawing/2014/main" id="{06AA2D42-720A-46B3-A376-DEBE68195A5B}"/>
              </a:ext>
            </a:extLst>
          </p:cNvPr>
          <p:cNvSpPr/>
          <p:nvPr/>
        </p:nvSpPr>
        <p:spPr>
          <a:xfrm>
            <a:off x="820108" y="472648"/>
            <a:ext cx="2441694"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2400" b="1" dirty="0">
                <a:solidFill>
                  <a:schemeClr val="bg1"/>
                </a:solidFill>
                <a:latin typeface="宋体" panose="02010600030101010101" pitchFamily="2" charset="-122"/>
                <a:ea typeface="宋体" panose="02010600030101010101" pitchFamily="2" charset="-122"/>
                <a:sym typeface="字魂105号-简雅黑" panose="00000500000000000000" pitchFamily="2" charset="-122"/>
              </a:rPr>
              <a:t>选题背景与意义</a:t>
            </a:r>
            <a:endParaRPr lang="zh-CN" altLang="en-US" sz="2400" dirty="0">
              <a:solidFill>
                <a:schemeClr val="bg1"/>
              </a:solidFill>
              <a:latin typeface="宋体" panose="02010600030101010101" pitchFamily="2" charset="-122"/>
              <a:ea typeface="宋体" panose="02010600030101010101" pitchFamily="2" charset="-122"/>
              <a:sym typeface="字魂105号-简雅黑" panose="00000500000000000000" pitchFamily="2" charset="-122"/>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00000" y="216000"/>
            <a:ext cx="1168402" cy="312900"/>
          </a:xfrm>
          <a:prstGeom prst="rect">
            <a:avLst/>
          </a:prstGeom>
        </p:spPr>
      </p:pic>
      <p:sp>
        <p:nvSpPr>
          <p:cNvPr id="18" name="文本框 17">
            <a:extLst>
              <a:ext uri="{FF2B5EF4-FFF2-40B4-BE49-F238E27FC236}">
                <a16:creationId xmlns:a16="http://schemas.microsoft.com/office/drawing/2014/main" id="{46AF3AFC-5CDE-AA71-3EB0-2969BBA7BD9F}"/>
              </a:ext>
            </a:extLst>
          </p:cNvPr>
          <p:cNvSpPr txBox="1"/>
          <p:nvPr/>
        </p:nvSpPr>
        <p:spPr>
          <a:xfrm>
            <a:off x="440881" y="978769"/>
            <a:ext cx="5019556" cy="581057"/>
          </a:xfrm>
          <a:prstGeom prst="rect">
            <a:avLst/>
          </a:prstGeom>
          <a:noFill/>
        </p:spPr>
        <p:txBody>
          <a:bodyPr wrap="square" rtlCol="0">
            <a:spAutoFit/>
          </a:bodyPr>
          <a:lstStyle/>
          <a:p>
            <a:pPr>
              <a:lnSpc>
                <a:spcPct val="150000"/>
              </a:lnSpc>
              <a:spcAft>
                <a:spcPts val="600"/>
              </a:spcAft>
            </a:pPr>
            <a:r>
              <a:rPr lang="zh-CN" altLang="en-US" sz="2400" b="1" dirty="0">
                <a:solidFill>
                  <a:srgbClr val="911F22"/>
                </a:solidFill>
                <a:latin typeface="微软雅黑" panose="020B0503020204020204" pitchFamily="34" charset="-122"/>
                <a:ea typeface="微软雅黑" panose="020B0503020204020204" pitchFamily="34" charset="-122"/>
                <a:sym typeface="字魂105号-简雅黑" panose="00000500000000000000" pitchFamily="2" charset="-122"/>
              </a:rPr>
              <a:t>物理层识别技术</a:t>
            </a:r>
            <a:endParaRPr lang="en-US" altLang="zh-CN" sz="2400" b="1" dirty="0">
              <a:solidFill>
                <a:srgbClr val="911F22"/>
              </a:solidFill>
              <a:latin typeface="微软雅黑" panose="020B0503020204020204" pitchFamily="34" charset="-122"/>
              <a:ea typeface="微软雅黑" panose="020B0503020204020204" pitchFamily="34" charset="-122"/>
              <a:sym typeface="字魂105号-简雅黑" panose="00000500000000000000" pitchFamily="2" charset="-122"/>
            </a:endParaRPr>
          </a:p>
        </p:txBody>
      </p:sp>
      <p:sp>
        <p:nvSpPr>
          <p:cNvPr id="7" name="矩形 6">
            <a:extLst>
              <a:ext uri="{FF2B5EF4-FFF2-40B4-BE49-F238E27FC236}">
                <a16:creationId xmlns:a16="http://schemas.microsoft.com/office/drawing/2014/main" id="{0C3E8C29-9885-DF1C-A0F9-39B8509A5D04}"/>
              </a:ext>
            </a:extLst>
          </p:cNvPr>
          <p:cNvSpPr/>
          <p:nvPr/>
        </p:nvSpPr>
        <p:spPr>
          <a:xfrm>
            <a:off x="855277" y="1555926"/>
            <a:ext cx="6225462" cy="499624"/>
          </a:xfrm>
          <a:prstGeom prst="rect">
            <a:avLst/>
          </a:prstGeom>
        </p:spPr>
        <p:txBody>
          <a:bodyPr wrap="square">
            <a:spAutoFit/>
          </a:bodyPr>
          <a:lstStyle/>
          <a:p>
            <a:pPr>
              <a:lnSpc>
                <a:spcPct val="150000"/>
              </a:lnSpc>
              <a:spcAft>
                <a:spcPts val="600"/>
              </a:spcAft>
            </a:pP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利用</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底层信号的特征属性来对</a:t>
            </a: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发射</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设备进行身份</a:t>
            </a: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认证</a:t>
            </a:r>
            <a:endParaRPr lang="en-US" altLang="zh-CN" sz="2400" dirty="0">
              <a:latin typeface="微软雅黑" panose="020B0503020204020204" pitchFamily="34" charset="-122"/>
              <a:ea typeface="微软雅黑" panose="020B0503020204020204" pitchFamily="34" charset="-122"/>
              <a:sym typeface="字魂105号-简雅黑" panose="00000500000000000000" pitchFamily="2" charset="-122"/>
            </a:endParaRPr>
          </a:p>
        </p:txBody>
      </p:sp>
      <p:sp>
        <p:nvSpPr>
          <p:cNvPr id="13" name="左大括号 12">
            <a:extLst>
              <a:ext uri="{FF2B5EF4-FFF2-40B4-BE49-F238E27FC236}">
                <a16:creationId xmlns:a16="http://schemas.microsoft.com/office/drawing/2014/main" id="{CCF1FD8F-BF78-8BE0-9B99-92B151F3B781}"/>
              </a:ext>
            </a:extLst>
          </p:cNvPr>
          <p:cNvSpPr/>
          <p:nvPr/>
        </p:nvSpPr>
        <p:spPr>
          <a:xfrm>
            <a:off x="6947338" y="934313"/>
            <a:ext cx="335416" cy="1327877"/>
          </a:xfrm>
          <a:prstGeom prst="leftBrace">
            <a:avLst>
              <a:gd name="adj1" fmla="val 44694"/>
              <a:gd name="adj2" fmla="val 70579"/>
            </a:avLst>
          </a:pr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401FD376-1575-3FE3-7CC1-01BF1CF1FC37}"/>
              </a:ext>
            </a:extLst>
          </p:cNvPr>
          <p:cNvSpPr txBox="1"/>
          <p:nvPr/>
        </p:nvSpPr>
        <p:spPr>
          <a:xfrm>
            <a:off x="7282753" y="1491409"/>
            <a:ext cx="2047490" cy="369332"/>
          </a:xfrm>
          <a:prstGeom prst="rect">
            <a:avLst/>
          </a:prstGeom>
          <a:noFill/>
        </p:spPr>
        <p:txBody>
          <a:bodyPr wrap="square">
            <a:spAutoFit/>
          </a:bodyPr>
          <a:lstStyle/>
          <a:p>
            <a:r>
              <a:rPr lang="zh-CN" altLang="en-US" sz="1800" b="1" dirty="0">
                <a:solidFill>
                  <a:srgbClr val="911F22"/>
                </a:solidFill>
                <a:latin typeface="微软雅黑" panose="020B0503020204020204" pitchFamily="34" charset="-122"/>
                <a:ea typeface="微软雅黑" panose="020B0503020204020204" pitchFamily="34" charset="-122"/>
                <a:sym typeface="字魂105号-简雅黑" panose="00000500000000000000" pitchFamily="2" charset="-122"/>
              </a:rPr>
              <a:t>无线信道特征</a:t>
            </a:r>
            <a:endParaRPr lang="zh-CN" altLang="en-US" dirty="0"/>
          </a:p>
        </p:txBody>
      </p:sp>
      <p:sp>
        <p:nvSpPr>
          <p:cNvPr id="21" name="文本框 20">
            <a:extLst>
              <a:ext uri="{FF2B5EF4-FFF2-40B4-BE49-F238E27FC236}">
                <a16:creationId xmlns:a16="http://schemas.microsoft.com/office/drawing/2014/main" id="{1951AAC1-676E-BB83-FC60-E57DE83C5F47}"/>
              </a:ext>
            </a:extLst>
          </p:cNvPr>
          <p:cNvSpPr txBox="1"/>
          <p:nvPr/>
        </p:nvSpPr>
        <p:spPr>
          <a:xfrm>
            <a:off x="7306373" y="937005"/>
            <a:ext cx="2047490" cy="369332"/>
          </a:xfrm>
          <a:prstGeom prst="rect">
            <a:avLst/>
          </a:prstGeom>
          <a:noFill/>
        </p:spPr>
        <p:txBody>
          <a:bodyPr wrap="square">
            <a:spAutoFit/>
          </a:bodyPr>
          <a:lstStyle/>
          <a:p>
            <a:r>
              <a:rPr lang="zh-CN" altLang="en-US" b="1" dirty="0">
                <a:solidFill>
                  <a:srgbClr val="911F22"/>
                </a:solidFill>
                <a:latin typeface="微软雅黑" panose="020B0503020204020204" pitchFamily="34" charset="-122"/>
                <a:ea typeface="微软雅黑" panose="020B0503020204020204" pitchFamily="34" charset="-122"/>
                <a:sym typeface="字魂105号-简雅黑" panose="00000500000000000000" pitchFamily="2" charset="-122"/>
              </a:rPr>
              <a:t>接收机指纹</a:t>
            </a:r>
            <a:r>
              <a:rPr lang="zh-CN" altLang="en-US" sz="1800" b="1" dirty="0">
                <a:solidFill>
                  <a:srgbClr val="911F22"/>
                </a:solidFill>
                <a:latin typeface="微软雅黑" panose="020B0503020204020204" pitchFamily="34" charset="-122"/>
                <a:ea typeface="微软雅黑" panose="020B0503020204020204" pitchFamily="34" charset="-122"/>
                <a:sym typeface="字魂105号-简雅黑" panose="00000500000000000000" pitchFamily="2" charset="-122"/>
              </a:rPr>
              <a:t>特征</a:t>
            </a:r>
            <a:endParaRPr lang="zh-CN" altLang="en-US" dirty="0"/>
          </a:p>
        </p:txBody>
      </p:sp>
      <p:sp>
        <p:nvSpPr>
          <p:cNvPr id="26" name="文本框 25">
            <a:extLst>
              <a:ext uri="{FF2B5EF4-FFF2-40B4-BE49-F238E27FC236}">
                <a16:creationId xmlns:a16="http://schemas.microsoft.com/office/drawing/2014/main" id="{05A0F18F-1D60-41DD-A79B-1D58E4C59500}"/>
              </a:ext>
            </a:extLst>
          </p:cNvPr>
          <p:cNvSpPr txBox="1"/>
          <p:nvPr/>
        </p:nvSpPr>
        <p:spPr>
          <a:xfrm>
            <a:off x="440873" y="2327331"/>
            <a:ext cx="6096000" cy="369332"/>
          </a:xfrm>
          <a:prstGeom prst="rect">
            <a:avLst/>
          </a:prstGeom>
          <a:noFill/>
        </p:spPr>
        <p:txBody>
          <a:bodyPr wrap="square">
            <a:spAutoFit/>
          </a:bodyPr>
          <a:lstStyle/>
          <a:p>
            <a:r>
              <a:rPr lang="zh-CN" altLang="en-US" b="1" dirty="0">
                <a:solidFill>
                  <a:srgbClr val="911F22"/>
                </a:solidFill>
                <a:latin typeface="微软雅黑" panose="020B0503020204020204" pitchFamily="34" charset="-122"/>
                <a:ea typeface="微软雅黑" panose="020B0503020204020204" pitchFamily="34" charset="-122"/>
                <a:sym typeface="字魂105号-简雅黑" panose="00000500000000000000" pitchFamily="2" charset="-122"/>
              </a:rPr>
              <a:t>射频指纹</a:t>
            </a:r>
            <a:r>
              <a:rPr lang="zh-CN" altLang="zh-CN" b="1" dirty="0">
                <a:solidFill>
                  <a:srgbClr val="911F22"/>
                </a:solidFill>
                <a:latin typeface="微软雅黑" panose="020B0503020204020204" pitchFamily="34" charset="-122"/>
                <a:ea typeface="微软雅黑" panose="020B0503020204020204" pitchFamily="34" charset="-122"/>
              </a:rPr>
              <a:t>（</a:t>
            </a:r>
            <a:r>
              <a:rPr lang="en-US" altLang="zh-CN" b="1" dirty="0">
                <a:solidFill>
                  <a:srgbClr val="911F22"/>
                </a:solidFill>
                <a:latin typeface="微软雅黑" panose="020B0503020204020204" pitchFamily="34" charset="-122"/>
                <a:ea typeface="微软雅黑" panose="020B0503020204020204" pitchFamily="34" charset="-122"/>
              </a:rPr>
              <a:t>Radio Frequency Fingerprint, RFF</a:t>
            </a:r>
            <a:r>
              <a:rPr lang="zh-CN" altLang="zh-CN" b="1" dirty="0">
                <a:solidFill>
                  <a:srgbClr val="911F22"/>
                </a:solidFill>
                <a:latin typeface="微软雅黑" panose="020B0503020204020204" pitchFamily="34" charset="-122"/>
                <a:ea typeface="微软雅黑" panose="020B0503020204020204" pitchFamily="34" charset="-122"/>
              </a:rPr>
              <a:t>）</a:t>
            </a:r>
            <a:endParaRPr lang="zh-CN" altLang="en-US" dirty="0"/>
          </a:p>
        </p:txBody>
      </p:sp>
      <p:sp>
        <p:nvSpPr>
          <p:cNvPr id="32" name="文本框 31">
            <a:extLst>
              <a:ext uri="{FF2B5EF4-FFF2-40B4-BE49-F238E27FC236}">
                <a16:creationId xmlns:a16="http://schemas.microsoft.com/office/drawing/2014/main" id="{3F2F7AC7-92FE-C007-C327-6D795BE64F8D}"/>
              </a:ext>
            </a:extLst>
          </p:cNvPr>
          <p:cNvSpPr txBox="1"/>
          <p:nvPr/>
        </p:nvSpPr>
        <p:spPr>
          <a:xfrm>
            <a:off x="454062" y="2883028"/>
            <a:ext cx="6909914" cy="369332"/>
          </a:xfrm>
          <a:prstGeom prst="rect">
            <a:avLst/>
          </a:prstGeom>
          <a:noFill/>
        </p:spPr>
        <p:txBody>
          <a:bodyPr wrap="square">
            <a:spAutoFit/>
          </a:bodyPr>
          <a:lstStyle/>
          <a:p>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由射频前端元件在制造过程中形成的不可避免的容差或缺陷导致</a:t>
            </a:r>
            <a:endParaRPr lang="zh-CN" altLang="en-US" dirty="0">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6793387D-73E6-FF01-DC39-DA81CC922FAA}"/>
              </a:ext>
            </a:extLst>
          </p:cNvPr>
          <p:cNvSpPr txBox="1"/>
          <p:nvPr/>
        </p:nvSpPr>
        <p:spPr>
          <a:xfrm>
            <a:off x="454062" y="3570330"/>
            <a:ext cx="1598942" cy="369332"/>
          </a:xfrm>
          <a:prstGeom prst="rect">
            <a:avLst/>
          </a:prstGeom>
          <a:noFill/>
        </p:spPr>
        <p:txBody>
          <a:bodyPr wrap="square">
            <a:spAutoFit/>
          </a:bodyPr>
          <a:lstStyle/>
          <a:p>
            <a:r>
              <a:rPr lang="en-US" altLang="zh-CN" b="1" dirty="0">
                <a:solidFill>
                  <a:srgbClr val="911F22"/>
                </a:solidFill>
                <a:latin typeface="微软雅黑" panose="020B0503020204020204" pitchFamily="34" charset="-122"/>
                <a:ea typeface="微软雅黑" panose="020B0503020204020204" pitchFamily="34" charset="-122"/>
                <a:sym typeface="字魂105号-简雅黑" panose="00000500000000000000" pitchFamily="2" charset="-122"/>
              </a:rPr>
              <a:t>RFF</a:t>
            </a:r>
            <a:r>
              <a:rPr lang="zh-CN" altLang="en-US" b="1" dirty="0">
                <a:solidFill>
                  <a:srgbClr val="911F22"/>
                </a:solidFill>
                <a:latin typeface="微软雅黑" panose="020B0503020204020204" pitchFamily="34" charset="-122"/>
                <a:ea typeface="微软雅黑" panose="020B0503020204020204" pitchFamily="34" charset="-122"/>
                <a:sym typeface="字魂105号-简雅黑" panose="00000500000000000000" pitchFamily="2" charset="-122"/>
              </a:rPr>
              <a:t>的优势</a:t>
            </a:r>
            <a:endParaRPr lang="zh-CN" altLang="en-US" dirty="0"/>
          </a:p>
        </p:txBody>
      </p:sp>
      <p:sp>
        <p:nvSpPr>
          <p:cNvPr id="35" name="文本框 34">
            <a:extLst>
              <a:ext uri="{FF2B5EF4-FFF2-40B4-BE49-F238E27FC236}">
                <a16:creationId xmlns:a16="http://schemas.microsoft.com/office/drawing/2014/main" id="{C3EE6EFC-64CC-83BD-1F8C-E4E3544F0966}"/>
              </a:ext>
            </a:extLst>
          </p:cNvPr>
          <p:cNvSpPr txBox="1"/>
          <p:nvPr/>
        </p:nvSpPr>
        <p:spPr>
          <a:xfrm>
            <a:off x="456135" y="4233850"/>
            <a:ext cx="6397914" cy="406971"/>
          </a:xfrm>
          <a:prstGeom prst="rect">
            <a:avLst/>
          </a:prstGeom>
          <a:noFill/>
        </p:spPr>
        <p:txBody>
          <a:bodyPr wrap="square">
            <a:spAutoFit/>
          </a:bodyPr>
          <a:lstStyle/>
          <a:p>
            <a:pPr marL="342900" indent="-342900">
              <a:lnSpc>
                <a:spcPct val="125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硬件特征独一无二，不易被篡改模仿；</a:t>
            </a:r>
          </a:p>
        </p:txBody>
      </p:sp>
      <p:sp>
        <p:nvSpPr>
          <p:cNvPr id="36" name="文本框 35">
            <a:extLst>
              <a:ext uri="{FF2B5EF4-FFF2-40B4-BE49-F238E27FC236}">
                <a16:creationId xmlns:a16="http://schemas.microsoft.com/office/drawing/2014/main" id="{5A2B43B8-93FD-EE11-4E78-22FC7321CEF3}"/>
              </a:ext>
            </a:extLst>
          </p:cNvPr>
          <p:cNvSpPr txBox="1"/>
          <p:nvPr/>
        </p:nvSpPr>
        <p:spPr>
          <a:xfrm>
            <a:off x="454062" y="4806165"/>
            <a:ext cx="6096000" cy="753220"/>
          </a:xfrm>
          <a:prstGeom prst="rect">
            <a:avLst/>
          </a:prstGeom>
          <a:noFill/>
        </p:spPr>
        <p:txBody>
          <a:bodyPr wrap="square">
            <a:spAutoFit/>
          </a:bodyPr>
          <a:lstStyle/>
          <a:p>
            <a:pPr marL="342900" indent="-342900">
              <a:lnSpc>
                <a:spcPct val="125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所有</a:t>
            </a:r>
            <a:r>
              <a:rPr lang="en-US" altLang="zh-CN" sz="1800" dirty="0">
                <a:latin typeface="微软雅黑" panose="020B0503020204020204" pitchFamily="34" charset="-122"/>
                <a:ea typeface="微软雅黑" panose="020B0503020204020204" pitchFamily="34" charset="-122"/>
              </a:rPr>
              <a:t>IoT</a:t>
            </a:r>
            <a:r>
              <a:rPr lang="zh-CN" altLang="en-US" sz="1800" dirty="0">
                <a:latin typeface="微软雅黑" panose="020B0503020204020204" pitchFamily="34" charset="-122"/>
                <a:ea typeface="微软雅黑" panose="020B0503020204020204" pitchFamily="34" charset="-122"/>
              </a:rPr>
              <a:t>设备都有硬件损伤，</a:t>
            </a:r>
            <a:r>
              <a:rPr lang="zh-CN" altLang="en-US" dirty="0">
                <a:latin typeface="微软雅黑" panose="020B0503020204020204" pitchFamily="34" charset="-122"/>
                <a:ea typeface="微软雅黑" panose="020B0503020204020204" pitchFamily="34" charset="-122"/>
              </a:rPr>
              <a:t>特征内嵌</a:t>
            </a:r>
            <a:r>
              <a:rPr lang="zh-CN" altLang="en-US" sz="1800" dirty="0">
                <a:latin typeface="微软雅黑" panose="020B0503020204020204" pitchFamily="34" charset="-122"/>
                <a:ea typeface="微软雅黑" panose="020B0503020204020204" pitchFamily="34" charset="-122"/>
              </a:rPr>
              <a:t>于信号中不需额外资源；</a:t>
            </a:r>
          </a:p>
        </p:txBody>
      </p:sp>
      <p:sp>
        <p:nvSpPr>
          <p:cNvPr id="37" name="文本框 36">
            <a:extLst>
              <a:ext uri="{FF2B5EF4-FFF2-40B4-BE49-F238E27FC236}">
                <a16:creationId xmlns:a16="http://schemas.microsoft.com/office/drawing/2014/main" id="{90979788-E501-8DBC-E778-141F41E919F6}"/>
              </a:ext>
            </a:extLst>
          </p:cNvPr>
          <p:cNvSpPr txBox="1"/>
          <p:nvPr/>
        </p:nvSpPr>
        <p:spPr>
          <a:xfrm>
            <a:off x="440873" y="5647973"/>
            <a:ext cx="8886346" cy="406971"/>
          </a:xfrm>
          <a:prstGeom prst="rect">
            <a:avLst/>
          </a:prstGeom>
          <a:noFill/>
        </p:spPr>
        <p:txBody>
          <a:bodyPr wrap="square">
            <a:spAutoFit/>
          </a:bodyPr>
          <a:lstStyle/>
          <a:p>
            <a:pPr marL="342900" indent="-342900">
              <a:lnSpc>
                <a:spcPct val="125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具有独立性。只与硬件相关，与信息内容无关。</a:t>
            </a:r>
          </a:p>
        </p:txBody>
      </p:sp>
      <p:sp>
        <p:nvSpPr>
          <p:cNvPr id="3" name="灯片编号占位符 2">
            <a:extLst>
              <a:ext uri="{FF2B5EF4-FFF2-40B4-BE49-F238E27FC236}">
                <a16:creationId xmlns:a16="http://schemas.microsoft.com/office/drawing/2014/main" id="{13C0375A-039C-639A-D3FC-DC0F1B78A1DC}"/>
              </a:ext>
            </a:extLst>
          </p:cNvPr>
          <p:cNvSpPr>
            <a:spLocks noGrp="1"/>
          </p:cNvSpPr>
          <p:nvPr>
            <p:ph type="sldNum" sz="quarter" idx="12"/>
          </p:nvPr>
        </p:nvSpPr>
        <p:spPr>
          <a:xfrm>
            <a:off x="10848189" y="6302363"/>
            <a:ext cx="458972" cy="365125"/>
          </a:xfrm>
        </p:spPr>
        <p:txBody>
          <a:bodyPr/>
          <a:lstStyle/>
          <a:p>
            <a:r>
              <a:rPr lang="en-US" altLang="zh-CN" dirty="0"/>
              <a:t>3</a:t>
            </a:r>
            <a:endParaRPr lang="zh-CN" altLang="en-US" dirty="0"/>
          </a:p>
        </p:txBody>
      </p:sp>
      <p:sp>
        <p:nvSpPr>
          <p:cNvPr id="5" name="文本框 4">
            <a:extLst>
              <a:ext uri="{FF2B5EF4-FFF2-40B4-BE49-F238E27FC236}">
                <a16:creationId xmlns:a16="http://schemas.microsoft.com/office/drawing/2014/main" id="{E37B7B0C-E2A1-9B85-B54D-8E161ED2C31E}"/>
              </a:ext>
            </a:extLst>
          </p:cNvPr>
          <p:cNvSpPr txBox="1"/>
          <p:nvPr/>
        </p:nvSpPr>
        <p:spPr>
          <a:xfrm>
            <a:off x="7306373" y="2035216"/>
            <a:ext cx="2383892" cy="369332"/>
          </a:xfrm>
          <a:prstGeom prst="rect">
            <a:avLst/>
          </a:prstGeom>
          <a:noFill/>
        </p:spPr>
        <p:txBody>
          <a:bodyPr wrap="square">
            <a:spAutoFit/>
          </a:bodyPr>
          <a:lstStyle/>
          <a:p>
            <a:r>
              <a:rPr lang="zh-CN" altLang="en-US" b="1" dirty="0">
                <a:solidFill>
                  <a:srgbClr val="911F22"/>
                </a:solidFill>
                <a:latin typeface="微软雅黑" panose="020B0503020204020204" pitchFamily="34" charset="-122"/>
                <a:ea typeface="微软雅黑" panose="020B0503020204020204" pitchFamily="34" charset="-122"/>
                <a:sym typeface="字魂105号-简雅黑" panose="00000500000000000000" pitchFamily="2" charset="-122"/>
              </a:rPr>
              <a:t>发射机射频指纹</a:t>
            </a:r>
            <a:r>
              <a:rPr lang="zh-CN" altLang="en-US" sz="1800" b="1" dirty="0">
                <a:solidFill>
                  <a:srgbClr val="911F22"/>
                </a:solidFill>
                <a:latin typeface="微软雅黑" panose="020B0503020204020204" pitchFamily="34" charset="-122"/>
                <a:ea typeface="微软雅黑" panose="020B0503020204020204" pitchFamily="34" charset="-122"/>
                <a:sym typeface="字魂105号-简雅黑" panose="00000500000000000000" pitchFamily="2" charset="-122"/>
              </a:rPr>
              <a:t>特征</a:t>
            </a:r>
            <a:endParaRPr lang="zh-CN" altLang="en-US" dirty="0"/>
          </a:p>
        </p:txBody>
      </p:sp>
      <p:pic>
        <p:nvPicPr>
          <p:cNvPr id="6" name="图片 5">
            <a:extLst>
              <a:ext uri="{FF2B5EF4-FFF2-40B4-BE49-F238E27FC236}">
                <a16:creationId xmlns:a16="http://schemas.microsoft.com/office/drawing/2014/main" id="{66237E4A-DC47-49BA-85E3-9E6EC4FF8815}"/>
              </a:ext>
            </a:extLst>
          </p:cNvPr>
          <p:cNvPicPr>
            <a:picLocks noChangeAspect="1"/>
          </p:cNvPicPr>
          <p:nvPr/>
        </p:nvPicPr>
        <p:blipFill>
          <a:blip r:embed="rId4"/>
          <a:stretch>
            <a:fillRect/>
          </a:stretch>
        </p:blipFill>
        <p:spPr>
          <a:xfrm>
            <a:off x="6610794" y="3480210"/>
            <a:ext cx="5249069" cy="2182442"/>
          </a:xfrm>
          <a:prstGeom prst="rect">
            <a:avLst/>
          </a:prstGeom>
        </p:spPr>
      </p:pic>
    </p:spTree>
    <p:extLst>
      <p:ext uri="{BB962C8B-B14F-4D97-AF65-F5344CB8AC3E}">
        <p14:creationId xmlns:p14="http://schemas.microsoft.com/office/powerpoint/2010/main" val="7565980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0CB16-5467-5474-E7FC-502D9274B9A3}"/>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196EF365-DCD1-27FD-DDD3-68CBF0ECD1B2}"/>
              </a:ext>
            </a:extLst>
          </p:cNvPr>
          <p:cNvSpPr>
            <a:spLocks noGrp="1"/>
          </p:cNvSpPr>
          <p:nvPr/>
        </p:nvSpPr>
        <p:spPr>
          <a:xfrm>
            <a:off x="-22934" y="0"/>
            <a:ext cx="4680659" cy="6858000"/>
          </a:xfrm>
          <a:prstGeom prst="rect">
            <a:avLst/>
          </a:prstGeom>
          <a:solidFill>
            <a:srgbClr val="911F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文本框 6">
            <a:extLst>
              <a:ext uri="{FF2B5EF4-FFF2-40B4-BE49-F238E27FC236}">
                <a16:creationId xmlns:a16="http://schemas.microsoft.com/office/drawing/2014/main" id="{F334592D-C1F5-0C34-481B-689FAF339CA3}"/>
              </a:ext>
            </a:extLst>
          </p:cNvPr>
          <p:cNvSpPr>
            <a:spLocks noGrp="1"/>
          </p:cNvSpPr>
          <p:nvPr/>
        </p:nvSpPr>
        <p:spPr>
          <a:xfrm>
            <a:off x="6290327" y="720843"/>
            <a:ext cx="3062023" cy="646331"/>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600" b="1">
                <a:solidFill>
                  <a:srgbClr val="911F22"/>
                </a:solidFill>
                <a:latin typeface="字魂105号-简雅黑"/>
                <a:ea typeface="字魂105号-简雅黑"/>
                <a:cs typeface="字魂105号-简雅黑"/>
              </a:rPr>
              <a:t>CONTENTS</a:t>
            </a:r>
          </a:p>
        </p:txBody>
      </p:sp>
      <p:sp>
        <p:nvSpPr>
          <p:cNvPr id="8" name="文本框 7">
            <a:extLst>
              <a:ext uri="{FF2B5EF4-FFF2-40B4-BE49-F238E27FC236}">
                <a16:creationId xmlns:a16="http://schemas.microsoft.com/office/drawing/2014/main" id="{D995E4FA-DDED-CD16-7560-C165E780F4C3}"/>
              </a:ext>
            </a:extLst>
          </p:cNvPr>
          <p:cNvSpPr>
            <a:spLocks noGrp="1"/>
          </p:cNvSpPr>
          <p:nvPr/>
        </p:nvSpPr>
        <p:spPr>
          <a:xfrm>
            <a:off x="6290327" y="1763603"/>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a:ln>
                  <a:noFill/>
                </a:ln>
                <a:solidFill>
                  <a:srgbClr val="911F22"/>
                </a:solidFill>
                <a:latin typeface="字魂105号-简雅黑"/>
                <a:ea typeface="字魂105号-简雅黑"/>
                <a:cs typeface="字魂105号-简雅黑"/>
              </a:rPr>
              <a:t>01</a:t>
            </a:r>
          </a:p>
        </p:txBody>
      </p:sp>
      <p:sp>
        <p:nvSpPr>
          <p:cNvPr id="9" name="矩形 8">
            <a:extLst>
              <a:ext uri="{FF2B5EF4-FFF2-40B4-BE49-F238E27FC236}">
                <a16:creationId xmlns:a16="http://schemas.microsoft.com/office/drawing/2014/main" id="{23ECEBE4-49FA-DE41-D5A0-423B510AFA7A}"/>
              </a:ext>
            </a:extLst>
          </p:cNvPr>
          <p:cNvSpPr>
            <a:spLocks noGrp="1"/>
          </p:cNvSpPr>
          <p:nvPr/>
        </p:nvSpPr>
        <p:spPr>
          <a:xfrm>
            <a:off x="7148631" y="1813592"/>
            <a:ext cx="2710146" cy="461665"/>
          </a:xfrm>
          <a:prstGeom prst="rect">
            <a:avLst/>
          </a:prstGeom>
        </p:spPr>
        <p:txBody>
          <a:bodyPr wrap="square">
            <a:spAutoFit/>
          </a:bodyPr>
          <a:lstStyle/>
          <a:p>
            <a:r>
              <a:rPr lang="zh-CN" altLang="en-US" sz="2400" b="1" dirty="0">
                <a:solidFill>
                  <a:schemeClr val="bg1">
                    <a:lumMod val="65000"/>
                  </a:schemeClr>
                </a:solidFill>
                <a:latin typeface="微软雅黑"/>
                <a:ea typeface="微软雅黑"/>
                <a:cs typeface="微软雅黑"/>
              </a:rPr>
              <a:t>选题背景与意义</a:t>
            </a:r>
          </a:p>
        </p:txBody>
      </p:sp>
      <p:sp>
        <p:nvSpPr>
          <p:cNvPr id="18" name="直接连接符 17">
            <a:extLst>
              <a:ext uri="{FF2B5EF4-FFF2-40B4-BE49-F238E27FC236}">
                <a16:creationId xmlns:a16="http://schemas.microsoft.com/office/drawing/2014/main" id="{2C95AB82-7068-CA13-04BA-9CBD6A92E2B4}"/>
              </a:ext>
            </a:extLst>
          </p:cNvPr>
          <p:cNvSpPr>
            <a:spLocks noGrp="1"/>
          </p:cNvSpPr>
          <p:nvPr/>
        </p:nvSpPr>
        <p:spPr>
          <a:xfrm>
            <a:off x="7148631" y="1846425"/>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D08F5F92-889F-A1EB-8504-43B377D913FF}"/>
              </a:ext>
            </a:extLst>
          </p:cNvPr>
          <p:cNvSpPr>
            <a:spLocks noGrp="1"/>
          </p:cNvSpPr>
          <p:nvPr/>
        </p:nvSpPr>
        <p:spPr>
          <a:xfrm>
            <a:off x="6290327" y="3273320"/>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a:t>
            </a:r>
            <a:r>
              <a:rPr lang="en-US" sz="3200" b="1" i="0" u="none" cap="none" dirty="0">
                <a:ln>
                  <a:noFill/>
                </a:ln>
                <a:solidFill>
                  <a:srgbClr val="911F22"/>
                </a:solidFill>
                <a:latin typeface="字魂105号-简雅黑"/>
                <a:ea typeface="字魂105号-简雅黑"/>
                <a:cs typeface="字魂105号-简雅黑"/>
              </a:rPr>
              <a:t>3</a:t>
            </a:r>
            <a:endParaRPr sz="3200" b="1" i="0" u="none" cap="none" dirty="0">
              <a:ln>
                <a:noFill/>
              </a:ln>
              <a:solidFill>
                <a:srgbClr val="911F22"/>
              </a:solidFill>
              <a:latin typeface="字魂105号-简雅黑"/>
              <a:ea typeface="字魂105号-简雅黑"/>
              <a:cs typeface="字魂105号-简雅黑"/>
            </a:endParaRPr>
          </a:p>
        </p:txBody>
      </p:sp>
      <p:sp>
        <p:nvSpPr>
          <p:cNvPr id="25" name="矩形 24">
            <a:extLst>
              <a:ext uri="{FF2B5EF4-FFF2-40B4-BE49-F238E27FC236}">
                <a16:creationId xmlns:a16="http://schemas.microsoft.com/office/drawing/2014/main" id="{C8FD0DA9-C555-F341-649A-8291C8830342}"/>
              </a:ext>
            </a:extLst>
          </p:cNvPr>
          <p:cNvSpPr>
            <a:spLocks noGrp="1"/>
          </p:cNvSpPr>
          <p:nvPr/>
        </p:nvSpPr>
        <p:spPr>
          <a:xfrm>
            <a:off x="7148631" y="3315460"/>
            <a:ext cx="3877985" cy="461665"/>
          </a:xfrm>
          <a:prstGeom prst="rect">
            <a:avLst/>
          </a:prstGeom>
        </p:spPr>
        <p:txBody>
          <a:bodyPr wrap="none">
            <a:spAutoFit/>
          </a:bodyPr>
          <a:lstStyle/>
          <a:p>
            <a:r>
              <a:rPr lang="zh-CN" altLang="en-US" sz="2400" b="1" dirty="0">
                <a:solidFill>
                  <a:schemeClr val="bg1">
                    <a:lumMod val="65000"/>
                  </a:schemeClr>
                </a:solidFill>
                <a:latin typeface="微软雅黑"/>
                <a:ea typeface="微软雅黑"/>
                <a:cs typeface="微软雅黑"/>
              </a:rPr>
              <a:t>跨接收机射频指纹识别方法</a:t>
            </a:r>
          </a:p>
        </p:txBody>
      </p:sp>
      <p:sp>
        <p:nvSpPr>
          <p:cNvPr id="23" name="直接连接符 22">
            <a:extLst>
              <a:ext uri="{FF2B5EF4-FFF2-40B4-BE49-F238E27FC236}">
                <a16:creationId xmlns:a16="http://schemas.microsoft.com/office/drawing/2014/main" id="{635A01BF-2BBB-6EBB-9C3F-07BC3DBE95D8}"/>
              </a:ext>
            </a:extLst>
          </p:cNvPr>
          <p:cNvSpPr>
            <a:spLocks noGrp="1"/>
          </p:cNvSpPr>
          <p:nvPr/>
        </p:nvSpPr>
        <p:spPr>
          <a:xfrm>
            <a:off x="7148631" y="33561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9" name="文本框 28">
            <a:extLst>
              <a:ext uri="{FF2B5EF4-FFF2-40B4-BE49-F238E27FC236}">
                <a16:creationId xmlns:a16="http://schemas.microsoft.com/office/drawing/2014/main" id="{4F128E75-B515-A48C-2205-C7E22D8DD9DD}"/>
              </a:ext>
            </a:extLst>
          </p:cNvPr>
          <p:cNvSpPr>
            <a:spLocks noGrp="1"/>
          </p:cNvSpPr>
          <p:nvPr/>
        </p:nvSpPr>
        <p:spPr>
          <a:xfrm>
            <a:off x="6290327" y="4032170"/>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a:t>
            </a:r>
            <a:r>
              <a:rPr lang="en-US" sz="3200" b="1" i="0" u="none" cap="none" dirty="0">
                <a:ln>
                  <a:noFill/>
                </a:ln>
                <a:solidFill>
                  <a:srgbClr val="911F22"/>
                </a:solidFill>
                <a:latin typeface="字魂105号-简雅黑"/>
                <a:ea typeface="字魂105号-简雅黑"/>
                <a:cs typeface="字魂105号-简雅黑"/>
              </a:rPr>
              <a:t>4</a:t>
            </a:r>
            <a:endParaRPr sz="3200" b="1" i="0" u="none" cap="none" dirty="0">
              <a:ln>
                <a:noFill/>
              </a:ln>
              <a:solidFill>
                <a:srgbClr val="911F22"/>
              </a:solidFill>
              <a:latin typeface="字魂105号-简雅黑"/>
              <a:ea typeface="字魂105号-简雅黑"/>
              <a:cs typeface="字魂105号-简雅黑"/>
            </a:endParaRPr>
          </a:p>
        </p:txBody>
      </p:sp>
      <p:sp>
        <p:nvSpPr>
          <p:cNvPr id="30" name="矩形 29">
            <a:extLst>
              <a:ext uri="{FF2B5EF4-FFF2-40B4-BE49-F238E27FC236}">
                <a16:creationId xmlns:a16="http://schemas.microsoft.com/office/drawing/2014/main" id="{593CE329-43EC-8987-1A97-0C96C4A1A815}"/>
              </a:ext>
            </a:extLst>
          </p:cNvPr>
          <p:cNvSpPr>
            <a:spLocks noGrp="1"/>
          </p:cNvSpPr>
          <p:nvPr/>
        </p:nvSpPr>
        <p:spPr>
          <a:xfrm>
            <a:off x="7169896" y="4067698"/>
            <a:ext cx="2339102" cy="461665"/>
          </a:xfrm>
          <a:prstGeom prst="rect">
            <a:avLst/>
          </a:prstGeom>
        </p:spPr>
        <p:txBody>
          <a:bodyPr wrap="none">
            <a:spAutoFit/>
          </a:bodyPr>
          <a:lstStyle/>
          <a:p>
            <a:r>
              <a:rPr lang="zh-CN" altLang="en-US" sz="2400" b="1" dirty="0">
                <a:solidFill>
                  <a:schemeClr val="bg1">
                    <a:lumMod val="65000"/>
                  </a:schemeClr>
                </a:solidFill>
                <a:latin typeface="微软雅黑"/>
                <a:ea typeface="微软雅黑"/>
                <a:cs typeface="微软雅黑"/>
              </a:rPr>
              <a:t>实验结果与分析</a:t>
            </a:r>
          </a:p>
        </p:txBody>
      </p:sp>
      <p:sp>
        <p:nvSpPr>
          <p:cNvPr id="28" name="直接连接符 27">
            <a:extLst>
              <a:ext uri="{FF2B5EF4-FFF2-40B4-BE49-F238E27FC236}">
                <a16:creationId xmlns:a16="http://schemas.microsoft.com/office/drawing/2014/main" id="{0769DFB0-8DF2-B6BA-A44D-E64A03C5AACD}"/>
              </a:ext>
            </a:extLst>
          </p:cNvPr>
          <p:cNvSpPr>
            <a:spLocks noGrp="1"/>
          </p:cNvSpPr>
          <p:nvPr/>
        </p:nvSpPr>
        <p:spPr>
          <a:xfrm>
            <a:off x="7148631" y="411499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7" name="文本框 46">
            <a:extLst>
              <a:ext uri="{FF2B5EF4-FFF2-40B4-BE49-F238E27FC236}">
                <a16:creationId xmlns:a16="http://schemas.microsoft.com/office/drawing/2014/main" id="{927F6202-EDE6-1096-327F-0A06D8B7450C}"/>
              </a:ext>
            </a:extLst>
          </p:cNvPr>
          <p:cNvSpPr>
            <a:spLocks noGrp="1"/>
          </p:cNvSpPr>
          <p:nvPr/>
        </p:nvSpPr>
        <p:spPr>
          <a:xfrm>
            <a:off x="6290327" y="4826548"/>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a:t>
            </a:r>
            <a:r>
              <a:rPr lang="en-US" sz="3200" b="1" i="0" u="none" cap="none" dirty="0">
                <a:ln>
                  <a:noFill/>
                </a:ln>
                <a:solidFill>
                  <a:srgbClr val="911F22"/>
                </a:solidFill>
                <a:latin typeface="字魂105号-简雅黑"/>
                <a:ea typeface="字魂105号-简雅黑"/>
                <a:cs typeface="字魂105号-简雅黑"/>
              </a:rPr>
              <a:t>5</a:t>
            </a:r>
            <a:endParaRPr sz="3200" b="1" i="0" u="none" cap="none" dirty="0">
              <a:ln>
                <a:noFill/>
              </a:ln>
              <a:solidFill>
                <a:srgbClr val="911F22"/>
              </a:solidFill>
              <a:latin typeface="字魂105号-简雅黑"/>
              <a:ea typeface="字魂105号-简雅黑"/>
              <a:cs typeface="字魂105号-简雅黑"/>
            </a:endParaRPr>
          </a:p>
        </p:txBody>
      </p:sp>
      <p:sp>
        <p:nvSpPr>
          <p:cNvPr id="48" name="矩形 47">
            <a:extLst>
              <a:ext uri="{FF2B5EF4-FFF2-40B4-BE49-F238E27FC236}">
                <a16:creationId xmlns:a16="http://schemas.microsoft.com/office/drawing/2014/main" id="{2A786187-446B-DBF7-30C7-D4E09B1FFDAD}"/>
              </a:ext>
            </a:extLst>
          </p:cNvPr>
          <p:cNvSpPr>
            <a:spLocks noGrp="1"/>
          </p:cNvSpPr>
          <p:nvPr/>
        </p:nvSpPr>
        <p:spPr>
          <a:xfrm>
            <a:off x="7169896" y="4859728"/>
            <a:ext cx="2646878" cy="461665"/>
          </a:xfrm>
          <a:prstGeom prst="rect">
            <a:avLst/>
          </a:prstGeom>
        </p:spPr>
        <p:txBody>
          <a:bodyPr wrap="none">
            <a:spAutoFit/>
          </a:bodyPr>
          <a:lstStyle/>
          <a:p>
            <a:r>
              <a:rPr lang="zh-CN" altLang="en-US" sz="2400" b="1" dirty="0">
                <a:solidFill>
                  <a:schemeClr val="bg1">
                    <a:lumMod val="65000"/>
                  </a:schemeClr>
                </a:solidFill>
                <a:latin typeface="微软雅黑"/>
                <a:ea typeface="微软雅黑"/>
                <a:cs typeface="微软雅黑"/>
              </a:rPr>
              <a:t>下一阶段工作计划</a:t>
            </a:r>
          </a:p>
        </p:txBody>
      </p:sp>
      <p:sp>
        <p:nvSpPr>
          <p:cNvPr id="46" name="直接连接符 45">
            <a:extLst>
              <a:ext uri="{FF2B5EF4-FFF2-40B4-BE49-F238E27FC236}">
                <a16:creationId xmlns:a16="http://schemas.microsoft.com/office/drawing/2014/main" id="{7F720407-3916-D07B-E096-84A95132B418}"/>
              </a:ext>
            </a:extLst>
          </p:cNvPr>
          <p:cNvSpPr>
            <a:spLocks noGrp="1"/>
          </p:cNvSpPr>
          <p:nvPr/>
        </p:nvSpPr>
        <p:spPr>
          <a:xfrm>
            <a:off x="7148631" y="4909370"/>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65" name="图片 3">
            <a:extLst>
              <a:ext uri="{FF2B5EF4-FFF2-40B4-BE49-F238E27FC236}">
                <a16:creationId xmlns:a16="http://schemas.microsoft.com/office/drawing/2014/main" id="{107881CE-E5DF-DA46-6CC5-761211F6C319}"/>
              </a:ext>
            </a:extLst>
          </p:cNvPr>
          <p:cNvPicPr>
            <a:picLocks noChangeAspect="1"/>
          </p:cNvPicPr>
          <p:nvPr/>
        </p:nvPicPr>
        <p:blipFill>
          <a:blip r:embed="rId3"/>
          <a:stretch>
            <a:fillRect/>
          </a:stretch>
        </p:blipFill>
        <p:spPr>
          <a:xfrm>
            <a:off x="1364895" y="2928431"/>
            <a:ext cx="1905000" cy="1905000"/>
          </a:xfrm>
          <a:prstGeom prst="rect">
            <a:avLst/>
          </a:prstGeom>
        </p:spPr>
      </p:pic>
      <p:pic>
        <p:nvPicPr>
          <p:cNvPr id="66" name="图片 4">
            <a:extLst>
              <a:ext uri="{FF2B5EF4-FFF2-40B4-BE49-F238E27FC236}">
                <a16:creationId xmlns:a16="http://schemas.microsoft.com/office/drawing/2014/main" id="{DAC64965-70FC-1EAD-64AF-957CE004C068}"/>
              </a:ext>
            </a:extLst>
          </p:cNvPr>
          <p:cNvPicPr>
            <a:picLocks noChangeAspect="1"/>
          </p:cNvPicPr>
          <p:nvPr/>
        </p:nvPicPr>
        <p:blipFill>
          <a:blip r:embed="rId4">
            <a:biLevel thresh="25000"/>
          </a:blip>
          <a:stretch>
            <a:fillRect/>
          </a:stretch>
        </p:blipFill>
        <p:spPr>
          <a:xfrm>
            <a:off x="1322797" y="703717"/>
            <a:ext cx="1989196" cy="1914672"/>
          </a:xfrm>
          <a:prstGeom prst="rect">
            <a:avLst/>
          </a:prstGeom>
        </p:spPr>
      </p:pic>
      <p:sp>
        <p:nvSpPr>
          <p:cNvPr id="3" name="文本框 23">
            <a:extLst>
              <a:ext uri="{FF2B5EF4-FFF2-40B4-BE49-F238E27FC236}">
                <a16:creationId xmlns:a16="http://schemas.microsoft.com/office/drawing/2014/main" id="{2BD59AB9-A295-FE1F-8D97-E3B8525323E0}"/>
              </a:ext>
            </a:extLst>
          </p:cNvPr>
          <p:cNvSpPr>
            <a:spLocks noGrp="1"/>
          </p:cNvSpPr>
          <p:nvPr/>
        </p:nvSpPr>
        <p:spPr>
          <a:xfrm>
            <a:off x="6290327" y="2514470"/>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02</a:t>
            </a:r>
          </a:p>
        </p:txBody>
      </p:sp>
      <p:sp>
        <p:nvSpPr>
          <p:cNvPr id="4" name="矩形 3">
            <a:extLst>
              <a:ext uri="{FF2B5EF4-FFF2-40B4-BE49-F238E27FC236}">
                <a16:creationId xmlns:a16="http://schemas.microsoft.com/office/drawing/2014/main" id="{598A389A-751E-C4A6-F1C5-0E33A35BECBA}"/>
              </a:ext>
            </a:extLst>
          </p:cNvPr>
          <p:cNvSpPr>
            <a:spLocks noGrp="1"/>
          </p:cNvSpPr>
          <p:nvPr/>
        </p:nvSpPr>
        <p:spPr>
          <a:xfrm>
            <a:off x="7148631" y="2556610"/>
            <a:ext cx="3570208" cy="461665"/>
          </a:xfrm>
          <a:prstGeom prst="rect">
            <a:avLst/>
          </a:prstGeom>
        </p:spPr>
        <p:txBody>
          <a:bodyPr wrap="none">
            <a:spAutoFit/>
          </a:bodyPr>
          <a:lstStyle/>
          <a:p>
            <a:r>
              <a:rPr lang="zh-CN" altLang="en-US" sz="2400" b="1" dirty="0">
                <a:latin typeface="微软雅黑"/>
                <a:ea typeface="微软雅黑"/>
                <a:cs typeface="微软雅黑"/>
              </a:rPr>
              <a:t>主要研究内容与工作进展</a:t>
            </a:r>
          </a:p>
        </p:txBody>
      </p:sp>
      <p:sp>
        <p:nvSpPr>
          <p:cNvPr id="5" name="直接连接符 4">
            <a:extLst>
              <a:ext uri="{FF2B5EF4-FFF2-40B4-BE49-F238E27FC236}">
                <a16:creationId xmlns:a16="http://schemas.microsoft.com/office/drawing/2014/main" id="{1C97BA44-5238-4EE7-AADC-74EED014F4BA}"/>
              </a:ext>
            </a:extLst>
          </p:cNvPr>
          <p:cNvSpPr>
            <a:spLocks noGrp="1"/>
          </p:cNvSpPr>
          <p:nvPr/>
        </p:nvSpPr>
        <p:spPr>
          <a:xfrm>
            <a:off x="7148631" y="259729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Tree>
    <p:extLst>
      <p:ext uri="{BB962C8B-B14F-4D97-AF65-F5344CB8AC3E}">
        <p14:creationId xmlns:p14="http://schemas.microsoft.com/office/powerpoint/2010/main" val="2118909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AC801D35-68A1-4184-A2A0-3E86D535D932}"/>
              </a:ext>
            </a:extLst>
          </p:cNvPr>
          <p:cNvSpPr>
            <a:spLocks noGrp="1"/>
          </p:cNvSpPr>
          <p:nvPr/>
        </p:nvSpPr>
        <p:spPr>
          <a:xfrm>
            <a:off x="532467" y="421882"/>
            <a:ext cx="3000955" cy="508923"/>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911F22"/>
          </a:solidFill>
          <a:ln w="38100">
            <a:solidFill>
              <a:srgbClr val="911F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16" name="矩形 15">
            <a:extLst>
              <a:ext uri="{FF2B5EF4-FFF2-40B4-BE49-F238E27FC236}">
                <a16:creationId xmlns:a16="http://schemas.microsoft.com/office/drawing/2014/main" id="{06AA2D42-720A-46B3-A376-DEBE68195A5B}"/>
              </a:ext>
            </a:extLst>
          </p:cNvPr>
          <p:cNvSpPr>
            <a:spLocks noGrp="1"/>
          </p:cNvSpPr>
          <p:nvPr/>
        </p:nvSpPr>
        <p:spPr>
          <a:xfrm>
            <a:off x="969568" y="437992"/>
            <a:ext cx="2031325" cy="830997"/>
          </a:xfrm>
          <a:prstGeom prst="rect">
            <a:avLst/>
          </a:prstGeom>
        </p:spPr>
        <p:txBody>
          <a:bodyPr wrap="none">
            <a:spAutoFit/>
          </a:bodyPr>
          <a:lstStyle/>
          <a:p>
            <a:r>
              <a:rPr lang="zh-CN" altLang="en-US" sz="2400" b="1" dirty="0">
                <a:solidFill>
                  <a:schemeClr val="bg1"/>
                </a:solidFill>
                <a:latin typeface="字魂105号-简雅黑"/>
                <a:ea typeface="字魂105号-简雅黑"/>
                <a:cs typeface="字魂105号-简雅黑"/>
              </a:rPr>
              <a:t>跨接收机识别</a:t>
            </a:r>
          </a:p>
          <a:p>
            <a:endParaRPr sz="2400" b="1" dirty="0">
              <a:solidFill>
                <a:schemeClr val="bg1"/>
              </a:solidFill>
              <a:latin typeface="字魂105号-简雅黑"/>
              <a:ea typeface="字魂105号-简雅黑"/>
              <a:cs typeface="字魂105号-简雅黑"/>
            </a:endParaRPr>
          </a:p>
        </p:txBody>
      </p:sp>
      <p:pic>
        <p:nvPicPr>
          <p:cNvPr id="35" name="图片 3"/>
          <p:cNvPicPr>
            <a:picLocks noChangeAspect="1"/>
          </p:cNvPicPr>
          <p:nvPr/>
        </p:nvPicPr>
        <p:blipFill>
          <a:blip r:embed="rId3"/>
          <a:stretch>
            <a:fillRect/>
          </a:stretch>
        </p:blipFill>
        <p:spPr>
          <a:xfrm>
            <a:off x="10800000" y="216000"/>
            <a:ext cx="1168402" cy="312900"/>
          </a:xfrm>
          <a:prstGeom prst="rect">
            <a:avLst/>
          </a:prstGeom>
        </p:spPr>
      </p:pic>
      <p:sp>
        <p:nvSpPr>
          <p:cNvPr id="12" name="文本框 11">
            <a:extLst>
              <a:ext uri="{FF2B5EF4-FFF2-40B4-BE49-F238E27FC236}">
                <a16:creationId xmlns:a16="http://schemas.microsoft.com/office/drawing/2014/main" id="{2D6AC2CF-FA3A-47E3-B0BD-1FEAB8D970A0}"/>
              </a:ext>
            </a:extLst>
          </p:cNvPr>
          <p:cNvSpPr>
            <a:spLocks noGrp="1"/>
          </p:cNvSpPr>
          <p:nvPr/>
        </p:nvSpPr>
        <p:spPr>
          <a:xfrm>
            <a:off x="594555" y="1136552"/>
            <a:ext cx="3721114" cy="400110"/>
          </a:xfrm>
          <a:prstGeom prst="rect">
            <a:avLst/>
          </a:prstGeom>
          <a:noFill/>
        </p:spPr>
        <p:txBody>
          <a:bodyPr wrap="square">
            <a:spAutoFit/>
          </a:bodyPr>
          <a:lstStyle/>
          <a:p>
            <a:r>
              <a:rPr lang="zh-CN" altLang="en-US" sz="2000" b="1" dirty="0">
                <a:solidFill>
                  <a:srgbClr val="911F22"/>
                </a:solidFill>
                <a:latin typeface="微软雅黑"/>
                <a:ea typeface="微软雅黑"/>
                <a:cs typeface="微软雅黑"/>
              </a:rPr>
              <a:t>关键挑战：接收机域偏移</a:t>
            </a:r>
          </a:p>
        </p:txBody>
      </p:sp>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94AE7DB7-AE22-4DEC-9F46-8D20B0E556E8}"/>
                  </a:ext>
                </a:extLst>
              </p:cNvPr>
              <p:cNvSpPr>
                <a:spLocks noGrp="1"/>
              </p:cNvSpPr>
              <p:nvPr/>
            </p:nvSpPr>
            <p:spPr>
              <a:xfrm>
                <a:off x="6963809" y="1796689"/>
                <a:ext cx="4297450" cy="783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𝑦</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𝑡</m:t>
                          </m:r>
                        </m:e>
                      </m:d>
                      <m:r>
                        <a:rPr lang="zh-CN" altLang="en-US">
                          <a:latin typeface="Cambria Math" panose="02040503050406030204" pitchFamily="18" charset="0"/>
                        </a:rPr>
                        <m:t>=</m:t>
                      </m:r>
                      <m:sSubSup>
                        <m:sSubSupPr>
                          <m:ctrlPr>
                            <a:rPr lang="zh-CN" altLang="en-US" b="1" i="1">
                              <a:solidFill>
                                <a:srgbClr val="836967"/>
                              </a:solidFill>
                              <a:latin typeface="Cambria Math" panose="02040503050406030204" pitchFamily="18" charset="0"/>
                            </a:rPr>
                          </m:ctrlPr>
                        </m:sSubSupPr>
                        <m:e>
                          <m:r>
                            <a:rPr lang="zh-CN" altLang="en-US" b="1" i="1">
                              <a:latin typeface="Cambria Math" panose="02040503050406030204" pitchFamily="18" charset="0"/>
                            </a:rPr>
                            <m:t>𝑭</m:t>
                          </m:r>
                        </m:e>
                        <m:sub>
                          <m:r>
                            <a:rPr lang="zh-CN" altLang="en-US" b="1" i="1">
                              <a:latin typeface="Cambria Math" panose="02040503050406030204" pitchFamily="18" charset="0"/>
                            </a:rPr>
                            <m:t>𝒊</m:t>
                          </m:r>
                        </m:sub>
                        <m:sup>
                          <m:r>
                            <a:rPr lang="zh-CN" altLang="en-US" b="1" i="1">
                              <a:latin typeface="Cambria Math" panose="02040503050406030204" pitchFamily="18" charset="0"/>
                            </a:rPr>
                            <m:t>𝒓</m:t>
                          </m:r>
                        </m:sup>
                      </m:sSubSup>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h</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𝑡</m:t>
                              </m:r>
                            </m:e>
                          </m:d>
                          <m:r>
                            <a:rPr lang="zh-CN" altLang="en-US">
                              <a:latin typeface="Cambria Math" panose="02040503050406030204" pitchFamily="18" charset="0"/>
                            </a:rPr>
                            <m:t>∗</m:t>
                          </m:r>
                          <m:sSubSup>
                            <m:sSubSupPr>
                              <m:ctrlPr>
                                <a:rPr lang="zh-CN" altLang="en-US" b="1" i="1">
                                  <a:solidFill>
                                    <a:srgbClr val="836967"/>
                                  </a:solidFill>
                                  <a:latin typeface="Cambria Math" panose="02040503050406030204" pitchFamily="18" charset="0"/>
                                </a:rPr>
                              </m:ctrlPr>
                            </m:sSubSupPr>
                            <m:e>
                              <m:r>
                                <a:rPr lang="zh-CN" altLang="en-US" b="1" i="1">
                                  <a:latin typeface="Cambria Math" panose="02040503050406030204" pitchFamily="18" charset="0"/>
                                </a:rPr>
                                <m:t>𝑭</m:t>
                              </m:r>
                            </m:e>
                            <m:sub>
                              <m:r>
                                <a:rPr lang="zh-CN" altLang="en-US" b="1" i="1">
                                  <a:latin typeface="Cambria Math" panose="02040503050406030204" pitchFamily="18" charset="0"/>
                                </a:rPr>
                                <m:t>𝒋</m:t>
                              </m:r>
                            </m:sub>
                            <m:sup>
                              <m:r>
                                <a:rPr lang="zh-CN" altLang="en-US" b="1" i="1">
                                  <a:latin typeface="Cambria Math" panose="02040503050406030204" pitchFamily="18" charset="0"/>
                                </a:rPr>
                                <m:t>𝒕</m:t>
                              </m:r>
                            </m:sup>
                          </m:sSubSup>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𝑥</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𝑡</m:t>
                                  </m:r>
                                </m:e>
                              </m:d>
                            </m:e>
                          </m:d>
                        </m:e>
                      </m:d>
                      <m:r>
                        <a:rPr lang="zh-CN" altLang="en-US">
                          <a:latin typeface="Cambria Math" panose="02040503050406030204" pitchFamily="18" charset="0"/>
                        </a:rPr>
                        <m:t>+</m:t>
                      </m:r>
                      <m:r>
                        <a:rPr lang="zh-CN" altLang="en-US" i="1">
                          <a:latin typeface="Cambria Math" panose="02040503050406030204" pitchFamily="18" charset="0"/>
                        </a:rPr>
                        <m:t>𝑛</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𝑡</m:t>
                          </m:r>
                        </m:e>
                      </m:d>
                    </m:oMath>
                  </m:oMathPara>
                </a14:m>
                <a:endParaRPr lang="zh-CN" altLang="en-US" dirty="0"/>
              </a:p>
              <a:p>
                <a:pPr>
                  <a:buNone/>
                </a:pPr>
                <a:endParaRPr dirty="0"/>
              </a:p>
            </p:txBody>
          </p:sp>
        </mc:Choice>
        <mc:Fallback>
          <p:sp>
            <p:nvSpPr>
              <p:cNvPr id="13" name="文本框 12">
                <a:extLst>
                  <a:ext uri="{FF2B5EF4-FFF2-40B4-BE49-F238E27FC236}">
                    <a16:creationId xmlns:a16="http://schemas.microsoft.com/office/drawing/2014/main" id="{94AE7DB7-AE22-4DEC-9F46-8D20B0E556E8}"/>
                  </a:ext>
                </a:extLst>
              </p:cNvPr>
              <p:cNvSpPr>
                <a:spLocks noGrp="1" noRot="1" noChangeAspect="1" noMove="1" noResize="1" noEditPoints="1" noAdjustHandles="1" noChangeArrowheads="1" noChangeShapeType="1" noTextEdit="1"/>
              </p:cNvSpPr>
              <p:nvPr/>
            </p:nvSpPr>
            <p:spPr>
              <a:xfrm>
                <a:off x="6963809" y="1796689"/>
                <a:ext cx="4297450" cy="783869"/>
              </a:xfrm>
              <a:prstGeom prst="rect">
                <a:avLst/>
              </a:prstGeom>
              <a:blipFill>
                <a:blip r:embed="rId4"/>
                <a:stretch>
                  <a:fillRect/>
                </a:stretch>
              </a:blipFill>
            </p:spPr>
            <p:txBody>
              <a:bodyPr/>
              <a:lstStyle/>
              <a:p>
                <a:r>
                  <a:rPr lang="zh-CN" altLang="en-US">
                    <a:noFill/>
                  </a:rPr>
                  <a:t> </a:t>
                </a:r>
              </a:p>
            </p:txBody>
          </p:sp>
        </mc:Fallback>
      </mc:AlternateContent>
      <p:sp>
        <p:nvSpPr>
          <p:cNvPr id="14" name="箭头: 下 13">
            <a:extLst>
              <a:ext uri="{FF2B5EF4-FFF2-40B4-BE49-F238E27FC236}">
                <a16:creationId xmlns:a16="http://schemas.microsoft.com/office/drawing/2014/main" id="{0BCD220B-1D09-4565-8818-BD67234D8AA7}"/>
              </a:ext>
            </a:extLst>
          </p:cNvPr>
          <p:cNvSpPr>
            <a:spLocks noGrp="1"/>
          </p:cNvSpPr>
          <p:nvPr/>
        </p:nvSpPr>
        <p:spPr>
          <a:xfrm>
            <a:off x="8229259" y="2292844"/>
            <a:ext cx="163902" cy="355670"/>
          </a:xfrm>
          <a:prstGeom prst="down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 name="箭头: 下 17">
            <a:extLst>
              <a:ext uri="{FF2B5EF4-FFF2-40B4-BE49-F238E27FC236}">
                <a16:creationId xmlns:a16="http://schemas.microsoft.com/office/drawing/2014/main" id="{8EEC97EF-F712-4867-B533-28D904C0D901}"/>
              </a:ext>
            </a:extLst>
          </p:cNvPr>
          <p:cNvSpPr>
            <a:spLocks noGrp="1"/>
          </p:cNvSpPr>
          <p:nvPr/>
        </p:nvSpPr>
        <p:spPr>
          <a:xfrm>
            <a:off x="9230012" y="2292141"/>
            <a:ext cx="163902" cy="355670"/>
          </a:xfrm>
          <a:prstGeom prst="down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文本框 18">
            <a:extLst>
              <a:ext uri="{FF2B5EF4-FFF2-40B4-BE49-F238E27FC236}">
                <a16:creationId xmlns:a16="http://schemas.microsoft.com/office/drawing/2014/main" id="{5F5933F1-041A-4F8A-AB79-75FAA84728CE}"/>
              </a:ext>
            </a:extLst>
          </p:cNvPr>
          <p:cNvSpPr>
            <a:spLocks noGrp="1"/>
          </p:cNvSpPr>
          <p:nvPr/>
        </p:nvSpPr>
        <p:spPr>
          <a:xfrm>
            <a:off x="7746180" y="2752031"/>
            <a:ext cx="948905" cy="646331"/>
          </a:xfrm>
          <a:prstGeom prst="rect">
            <a:avLst/>
          </a:prstGeom>
          <a:noFill/>
        </p:spPr>
        <p:txBody>
          <a:bodyPr wrap="square">
            <a:spAutoFit/>
          </a:bodyPr>
          <a:lstStyle/>
          <a:p>
            <a:pPr algn="ctr"/>
            <a:r>
              <a:rPr lang="zh-CN" altLang="en-US" dirty="0">
                <a:latin typeface="+mn-ea"/>
                <a:cs typeface="宋体"/>
              </a:rPr>
              <a:t>接收机响应</a:t>
            </a:r>
          </a:p>
        </p:txBody>
      </p:sp>
      <p:sp>
        <p:nvSpPr>
          <p:cNvPr id="20" name="文本框 19">
            <a:extLst>
              <a:ext uri="{FF2B5EF4-FFF2-40B4-BE49-F238E27FC236}">
                <a16:creationId xmlns:a16="http://schemas.microsoft.com/office/drawing/2014/main" id="{E3C6293D-E0DE-4A23-95CF-A9F75026A752}"/>
              </a:ext>
            </a:extLst>
          </p:cNvPr>
          <p:cNvSpPr>
            <a:spLocks noGrp="1"/>
          </p:cNvSpPr>
          <p:nvPr/>
        </p:nvSpPr>
        <p:spPr>
          <a:xfrm>
            <a:off x="8864737" y="2749155"/>
            <a:ext cx="948905" cy="646331"/>
          </a:xfrm>
          <a:prstGeom prst="rect">
            <a:avLst/>
          </a:prstGeom>
          <a:noFill/>
        </p:spPr>
        <p:txBody>
          <a:bodyPr wrap="square">
            <a:spAutoFit/>
          </a:bodyPr>
          <a:lstStyle/>
          <a:p>
            <a:pPr algn="ctr"/>
            <a:r>
              <a:rPr lang="zh-CN" altLang="en-US" dirty="0">
                <a:latin typeface="+mn-ea"/>
                <a:cs typeface="宋体"/>
              </a:rPr>
              <a:t>发射机指纹</a:t>
            </a:r>
          </a:p>
        </p:txBody>
      </p:sp>
      <p:sp>
        <p:nvSpPr>
          <p:cNvPr id="5" name="文本框 4">
            <a:extLst>
              <a:ext uri="{FF2B5EF4-FFF2-40B4-BE49-F238E27FC236}">
                <a16:creationId xmlns:a16="http://schemas.microsoft.com/office/drawing/2014/main" id="{65E21C5E-DBC7-4D6F-A670-A1AFF0281B50}"/>
              </a:ext>
            </a:extLst>
          </p:cNvPr>
          <p:cNvSpPr>
            <a:spLocks noGrp="1"/>
          </p:cNvSpPr>
          <p:nvPr/>
        </p:nvSpPr>
        <p:spPr>
          <a:xfrm>
            <a:off x="7029221" y="3496830"/>
            <a:ext cx="4166627" cy="646331"/>
          </a:xfrm>
          <a:prstGeom prst="rect">
            <a:avLst/>
          </a:prstGeom>
          <a:noFill/>
        </p:spPr>
        <p:txBody>
          <a:bodyPr wrap="square">
            <a:spAutoFit/>
          </a:bodyPr>
          <a:lstStyle/>
          <a:p>
            <a:r>
              <a:rPr lang="zh-CN" altLang="en-US" b="1" dirty="0">
                <a:latin typeface="+mn-ea"/>
                <a:cs typeface="Times New Roman"/>
              </a:rPr>
              <a:t>训练接收机上性能高，直接部署到未见接收机后准确率显著下降</a:t>
            </a:r>
          </a:p>
        </p:txBody>
      </p:sp>
      <p:pic>
        <p:nvPicPr>
          <p:cNvPr id="49" name="图片 8"/>
          <p:cNvPicPr>
            <a:picLocks noChangeAspect="1"/>
          </p:cNvPicPr>
          <p:nvPr/>
        </p:nvPicPr>
        <p:blipFill>
          <a:blip r:embed="rId5"/>
          <a:stretch>
            <a:fillRect/>
          </a:stretch>
        </p:blipFill>
        <p:spPr>
          <a:xfrm>
            <a:off x="287868" y="1742409"/>
            <a:ext cx="5558260" cy="2487159"/>
          </a:xfrm>
          <a:prstGeom prst="rect">
            <a:avLst/>
          </a:prstGeom>
        </p:spPr>
      </p:pic>
      <p:sp>
        <p:nvSpPr>
          <p:cNvPr id="28" name="灯片编号占位符 2">
            <a:extLst>
              <a:ext uri="{FF2B5EF4-FFF2-40B4-BE49-F238E27FC236}">
                <a16:creationId xmlns:a16="http://schemas.microsoft.com/office/drawing/2014/main" id="{895E2222-8301-4A64-9EFC-E75E2E5349FA}"/>
              </a:ext>
            </a:extLst>
          </p:cNvPr>
          <p:cNvSpPr>
            <a:spLocks noGrp="1"/>
          </p:cNvSpPr>
          <p:nvPr>
            <p:ph type="sldNum" idx="12"/>
          </p:nvPr>
        </p:nvSpPr>
        <p:spPr>
          <a:xfrm>
            <a:off x="11345381" y="6194821"/>
            <a:ext cx="458972" cy="365125"/>
          </a:xfrm>
        </p:spPr>
        <p:txBody>
          <a:bodyPr/>
          <a:lstStyle/>
          <a:p>
            <a:r>
              <a:t>07</a:t>
            </a:r>
          </a:p>
        </p:txBody>
      </p:sp>
      <p:sp>
        <p:nvSpPr>
          <p:cNvPr id="11" name="文本框 10">
            <a:extLst>
              <a:ext uri="{FF2B5EF4-FFF2-40B4-BE49-F238E27FC236}">
                <a16:creationId xmlns:a16="http://schemas.microsoft.com/office/drawing/2014/main" id="{48A537EF-BD90-9CBB-CEB8-763B0A2CF81C}"/>
              </a:ext>
            </a:extLst>
          </p:cNvPr>
          <p:cNvSpPr txBox="1"/>
          <p:nvPr/>
        </p:nvSpPr>
        <p:spPr>
          <a:xfrm>
            <a:off x="421324" y="4623551"/>
            <a:ext cx="5506908" cy="1366656"/>
          </a:xfrm>
          <a:prstGeom prst="rect">
            <a:avLst/>
          </a:prstGeom>
          <a:noFill/>
        </p:spPr>
        <p:txBody>
          <a:bodyPr wrap="square" rtlCol="0">
            <a:spAutoFit/>
          </a:bodyPr>
          <a:lstStyle/>
          <a:p>
            <a:pPr marL="342900" indent="-342900">
              <a:lnSpc>
                <a:spcPct val="150000"/>
              </a:lnSpc>
              <a:spcAft>
                <a:spcPts val="600"/>
              </a:spcAft>
              <a:buFont typeface="Wingdings" panose="05000000000000000000" pitchFamily="2" charset="2"/>
              <a:buChar char="u"/>
            </a:pPr>
            <a:r>
              <a:rPr lang="zh-CN" altLang="en-US" dirty="0">
                <a:latin typeface="微软雅黑" panose="020B0503020204020204" pitchFamily="34" charset="-122"/>
                <a:ea typeface="微软雅黑" panose="020B0503020204020204" pitchFamily="34" charset="-122"/>
                <a:sym typeface="字魂105号-简雅黑" panose="00000500000000000000" pitchFamily="2" charset="-122"/>
              </a:rPr>
              <a:t>研究了一种对接收机变化具有鲁棒性的射频指纹识别方案</a:t>
            </a:r>
            <a:endParaRPr lang="en-US" altLang="zh-CN" dirty="0">
              <a:latin typeface="微软雅黑" panose="020B0503020204020204" pitchFamily="34" charset="-122"/>
              <a:ea typeface="微软雅黑" panose="020B0503020204020204" pitchFamily="34" charset="-122"/>
              <a:sym typeface="字魂105号-简雅黑" panose="00000500000000000000" pitchFamily="2" charset="-122"/>
            </a:endParaRPr>
          </a:p>
          <a:p>
            <a:pPr marL="342900" indent="-342900">
              <a:lnSpc>
                <a:spcPct val="150000"/>
              </a:lnSpc>
              <a:spcAft>
                <a:spcPts val="600"/>
              </a:spcAft>
              <a:buFont typeface="Wingdings" panose="05000000000000000000" pitchFamily="2" charset="2"/>
              <a:buChar char="u"/>
            </a:pP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字魂105号-简雅黑" panose="00000500000000000000" pitchFamily="2" charset="-122"/>
              </a:rPr>
              <a:t>在撰写论文</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sym typeface="字魂105号-简雅黑" panose="00000500000000000000" pitchFamily="2" charset="-122"/>
            </a:endParaRPr>
          </a:p>
        </p:txBody>
      </p:sp>
      <p:sp>
        <p:nvSpPr>
          <p:cNvPr id="15" name="文本框 34">
            <a:extLst>
              <a:ext uri="{FF2B5EF4-FFF2-40B4-BE49-F238E27FC236}">
                <a16:creationId xmlns:a16="http://schemas.microsoft.com/office/drawing/2014/main" id="{C3EE6EFC-64CC-83BD-1F8C-E4E3544F0966}"/>
              </a:ext>
            </a:extLst>
          </p:cNvPr>
          <p:cNvSpPr>
            <a:spLocks noGrp="1"/>
          </p:cNvSpPr>
          <p:nvPr/>
        </p:nvSpPr>
        <p:spPr>
          <a:xfrm>
            <a:off x="5794086" y="4664414"/>
            <a:ext cx="6397914" cy="406971"/>
          </a:xfrm>
          <a:prstGeom prst="rect">
            <a:avLst/>
          </a:prstGeom>
          <a:noFill/>
        </p:spPr>
        <p:txBody>
          <a:bodyPr wrap="square">
            <a:spAutoFit/>
          </a:bodyPr>
          <a:lstStyle/>
          <a:p>
            <a:pPr marL="342900" indent="-342900">
              <a:lnSpc>
                <a:spcPct val="125000"/>
              </a:lnSpc>
              <a:buFont typeface="Wingdings"/>
              <a:buChar char="Ø"/>
            </a:pPr>
            <a:r>
              <a:rPr lang="zh-CN" altLang="en-US" dirty="0">
                <a:latin typeface="微软雅黑"/>
                <a:ea typeface="微软雅黑"/>
                <a:cs typeface="微软雅黑"/>
              </a:rPr>
              <a:t>完成跨接收机训练与测试流程，明确域偏移的性能影响</a:t>
            </a:r>
          </a:p>
        </p:txBody>
      </p:sp>
      <p:sp>
        <p:nvSpPr>
          <p:cNvPr id="36" name="文本框 35">
            <a:extLst>
              <a:ext uri="{FF2B5EF4-FFF2-40B4-BE49-F238E27FC236}">
                <a16:creationId xmlns:a16="http://schemas.microsoft.com/office/drawing/2014/main" id="{5A2B43B8-93FD-EE11-4E78-22FC7321CEF3}"/>
              </a:ext>
            </a:extLst>
          </p:cNvPr>
          <p:cNvSpPr>
            <a:spLocks noGrp="1"/>
          </p:cNvSpPr>
          <p:nvPr/>
        </p:nvSpPr>
        <p:spPr>
          <a:xfrm>
            <a:off x="5792013" y="5236729"/>
            <a:ext cx="6096000" cy="406971"/>
          </a:xfrm>
          <a:prstGeom prst="rect">
            <a:avLst/>
          </a:prstGeom>
          <a:noFill/>
        </p:spPr>
        <p:txBody>
          <a:bodyPr wrap="square">
            <a:spAutoFit/>
          </a:bodyPr>
          <a:lstStyle/>
          <a:p>
            <a:pPr marL="342900" indent="-342900">
              <a:lnSpc>
                <a:spcPct val="125000"/>
              </a:lnSpc>
              <a:buFont typeface="Wingdings"/>
              <a:buChar char="Ø"/>
            </a:pPr>
            <a:r>
              <a:rPr lang="zh-CN" altLang="en-US" dirty="0">
                <a:latin typeface="微软雅黑"/>
                <a:ea typeface="微软雅黑"/>
                <a:cs typeface="微软雅黑"/>
              </a:rPr>
              <a:t>形成 </a:t>
            </a:r>
            <a:r>
              <a:rPr lang="en-US" altLang="zh-CN" dirty="0">
                <a:latin typeface="微软雅黑"/>
                <a:ea typeface="微软雅黑"/>
                <a:cs typeface="微软雅黑"/>
              </a:rPr>
              <a:t>Gate-Reptile + GN + </a:t>
            </a:r>
            <a:r>
              <a:rPr lang="zh-CN" altLang="en-US" dirty="0">
                <a:latin typeface="微软雅黑"/>
                <a:ea typeface="微软雅黑"/>
                <a:cs typeface="微软雅黑"/>
              </a:rPr>
              <a:t>输入梯度掩码的轻量框架</a:t>
            </a:r>
          </a:p>
        </p:txBody>
      </p:sp>
      <p:sp>
        <p:nvSpPr>
          <p:cNvPr id="37" name="文本框 36">
            <a:extLst>
              <a:ext uri="{FF2B5EF4-FFF2-40B4-BE49-F238E27FC236}">
                <a16:creationId xmlns:a16="http://schemas.microsoft.com/office/drawing/2014/main" id="{90979788-E501-8DBC-E778-141F41E919F6}"/>
              </a:ext>
            </a:extLst>
          </p:cNvPr>
          <p:cNvSpPr>
            <a:spLocks noGrp="1"/>
          </p:cNvSpPr>
          <p:nvPr/>
        </p:nvSpPr>
        <p:spPr>
          <a:xfrm>
            <a:off x="5792013" y="5787850"/>
            <a:ext cx="6471652" cy="406971"/>
          </a:xfrm>
          <a:prstGeom prst="rect">
            <a:avLst/>
          </a:prstGeom>
          <a:noFill/>
        </p:spPr>
        <p:txBody>
          <a:bodyPr wrap="square">
            <a:spAutoFit/>
          </a:bodyPr>
          <a:lstStyle/>
          <a:p>
            <a:pPr marL="342900" indent="-342900">
              <a:lnSpc>
                <a:spcPct val="125000"/>
              </a:lnSpc>
              <a:buFont typeface="Wingdings"/>
              <a:buChar char="Ø"/>
            </a:pPr>
            <a:r>
              <a:rPr lang="zh-CN" altLang="en-US" dirty="0">
                <a:latin typeface="微软雅黑"/>
                <a:ea typeface="微软雅黑"/>
                <a:cs typeface="微软雅黑"/>
              </a:rPr>
              <a:t>在 </a:t>
            </a:r>
            <a:r>
              <a:rPr lang="en-US" altLang="zh-CN" dirty="0" err="1">
                <a:latin typeface="微软雅黑"/>
                <a:ea typeface="微软雅黑"/>
                <a:cs typeface="微软雅黑"/>
              </a:rPr>
              <a:t>WiSig</a:t>
            </a:r>
            <a:r>
              <a:rPr lang="zh-CN" altLang="en-US" dirty="0">
                <a:latin typeface="微软雅黑"/>
                <a:ea typeface="微软雅黑"/>
                <a:cs typeface="微软雅黑"/>
              </a:rPr>
              <a:t>、无接收机标签和仿真数据上完成验证</a:t>
            </a:r>
          </a:p>
        </p:txBody>
      </p:sp>
    </p:spTree>
    <p:extLst>
      <p:ext uri="{BB962C8B-B14F-4D97-AF65-F5344CB8AC3E}">
        <p14:creationId xmlns:p14="http://schemas.microsoft.com/office/powerpoint/2010/main" val="2646261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6D274-2D3B-097D-B5D4-A7142CC6E6FA}"/>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68741D0-D243-617F-3B7D-43E1BA67FDDD}"/>
              </a:ext>
            </a:extLst>
          </p:cNvPr>
          <p:cNvSpPr>
            <a:spLocks noGrp="1"/>
          </p:cNvSpPr>
          <p:nvPr/>
        </p:nvSpPr>
        <p:spPr>
          <a:xfrm>
            <a:off x="-22934" y="0"/>
            <a:ext cx="4680659" cy="6858000"/>
          </a:xfrm>
          <a:prstGeom prst="rect">
            <a:avLst/>
          </a:prstGeom>
          <a:solidFill>
            <a:srgbClr val="911F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文本框 6">
            <a:extLst>
              <a:ext uri="{FF2B5EF4-FFF2-40B4-BE49-F238E27FC236}">
                <a16:creationId xmlns:a16="http://schemas.microsoft.com/office/drawing/2014/main" id="{39A6D1A9-03B5-6EDC-8375-F70241C62F14}"/>
              </a:ext>
            </a:extLst>
          </p:cNvPr>
          <p:cNvSpPr>
            <a:spLocks noGrp="1"/>
          </p:cNvSpPr>
          <p:nvPr/>
        </p:nvSpPr>
        <p:spPr>
          <a:xfrm>
            <a:off x="6290327" y="720843"/>
            <a:ext cx="3062023" cy="646331"/>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600" b="1">
                <a:solidFill>
                  <a:srgbClr val="911F22"/>
                </a:solidFill>
                <a:latin typeface="字魂105号-简雅黑"/>
                <a:ea typeface="字魂105号-简雅黑"/>
                <a:cs typeface="字魂105号-简雅黑"/>
              </a:rPr>
              <a:t>CONTENTS</a:t>
            </a:r>
          </a:p>
        </p:txBody>
      </p:sp>
      <p:sp>
        <p:nvSpPr>
          <p:cNvPr id="8" name="文本框 7">
            <a:extLst>
              <a:ext uri="{FF2B5EF4-FFF2-40B4-BE49-F238E27FC236}">
                <a16:creationId xmlns:a16="http://schemas.microsoft.com/office/drawing/2014/main" id="{A62A8656-545C-88EA-E3B9-B7052297F00A}"/>
              </a:ext>
            </a:extLst>
          </p:cNvPr>
          <p:cNvSpPr>
            <a:spLocks noGrp="1"/>
          </p:cNvSpPr>
          <p:nvPr/>
        </p:nvSpPr>
        <p:spPr>
          <a:xfrm>
            <a:off x="6290327" y="1763603"/>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a:ln>
                  <a:noFill/>
                </a:ln>
                <a:solidFill>
                  <a:srgbClr val="911F22"/>
                </a:solidFill>
                <a:latin typeface="字魂105号-简雅黑"/>
                <a:ea typeface="字魂105号-简雅黑"/>
                <a:cs typeface="字魂105号-简雅黑"/>
              </a:rPr>
              <a:t>01</a:t>
            </a:r>
          </a:p>
        </p:txBody>
      </p:sp>
      <p:sp>
        <p:nvSpPr>
          <p:cNvPr id="9" name="矩形 8">
            <a:extLst>
              <a:ext uri="{FF2B5EF4-FFF2-40B4-BE49-F238E27FC236}">
                <a16:creationId xmlns:a16="http://schemas.microsoft.com/office/drawing/2014/main" id="{845C4F27-13FC-3520-3079-53D042856595}"/>
              </a:ext>
            </a:extLst>
          </p:cNvPr>
          <p:cNvSpPr>
            <a:spLocks noGrp="1"/>
          </p:cNvSpPr>
          <p:nvPr/>
        </p:nvSpPr>
        <p:spPr>
          <a:xfrm>
            <a:off x="7148631" y="1813592"/>
            <a:ext cx="2710146" cy="461665"/>
          </a:xfrm>
          <a:prstGeom prst="rect">
            <a:avLst/>
          </a:prstGeom>
        </p:spPr>
        <p:txBody>
          <a:bodyPr wrap="square">
            <a:spAutoFit/>
          </a:bodyPr>
          <a:lstStyle/>
          <a:p>
            <a:r>
              <a:rPr lang="zh-CN" altLang="en-US" sz="2400" b="1" dirty="0">
                <a:solidFill>
                  <a:schemeClr val="bg1">
                    <a:lumMod val="65000"/>
                  </a:schemeClr>
                </a:solidFill>
                <a:latin typeface="微软雅黑"/>
                <a:ea typeface="微软雅黑"/>
                <a:cs typeface="微软雅黑"/>
              </a:rPr>
              <a:t>选题背景与意义</a:t>
            </a:r>
          </a:p>
        </p:txBody>
      </p:sp>
      <p:sp>
        <p:nvSpPr>
          <p:cNvPr id="18" name="直接连接符 17">
            <a:extLst>
              <a:ext uri="{FF2B5EF4-FFF2-40B4-BE49-F238E27FC236}">
                <a16:creationId xmlns:a16="http://schemas.microsoft.com/office/drawing/2014/main" id="{EA3187AF-AA7C-04AB-22C3-213DCD7EF6E6}"/>
              </a:ext>
            </a:extLst>
          </p:cNvPr>
          <p:cNvSpPr>
            <a:spLocks noGrp="1"/>
          </p:cNvSpPr>
          <p:nvPr/>
        </p:nvSpPr>
        <p:spPr>
          <a:xfrm>
            <a:off x="7148631" y="1846425"/>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EA12F56B-D4A7-34E8-1529-52EFA1959DFC}"/>
              </a:ext>
            </a:extLst>
          </p:cNvPr>
          <p:cNvSpPr>
            <a:spLocks noGrp="1"/>
          </p:cNvSpPr>
          <p:nvPr/>
        </p:nvSpPr>
        <p:spPr>
          <a:xfrm>
            <a:off x="6290327" y="3273320"/>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a:t>
            </a:r>
            <a:r>
              <a:rPr lang="en-US" sz="3200" b="1" i="0" u="none" cap="none" dirty="0">
                <a:ln>
                  <a:noFill/>
                </a:ln>
                <a:solidFill>
                  <a:srgbClr val="911F22"/>
                </a:solidFill>
                <a:latin typeface="字魂105号-简雅黑"/>
                <a:ea typeface="字魂105号-简雅黑"/>
                <a:cs typeface="字魂105号-简雅黑"/>
              </a:rPr>
              <a:t>3</a:t>
            </a:r>
            <a:endParaRPr sz="3200" b="1" i="0" u="none" cap="none" dirty="0">
              <a:ln>
                <a:noFill/>
              </a:ln>
              <a:solidFill>
                <a:srgbClr val="911F22"/>
              </a:solidFill>
              <a:latin typeface="字魂105号-简雅黑"/>
              <a:ea typeface="字魂105号-简雅黑"/>
              <a:cs typeface="字魂105号-简雅黑"/>
            </a:endParaRPr>
          </a:p>
        </p:txBody>
      </p:sp>
      <p:sp>
        <p:nvSpPr>
          <p:cNvPr id="25" name="矩形 24">
            <a:extLst>
              <a:ext uri="{FF2B5EF4-FFF2-40B4-BE49-F238E27FC236}">
                <a16:creationId xmlns:a16="http://schemas.microsoft.com/office/drawing/2014/main" id="{193A9AC6-6F9D-6D1B-9DAF-1E36DE97C5CE}"/>
              </a:ext>
            </a:extLst>
          </p:cNvPr>
          <p:cNvSpPr>
            <a:spLocks noGrp="1"/>
          </p:cNvSpPr>
          <p:nvPr/>
        </p:nvSpPr>
        <p:spPr>
          <a:xfrm>
            <a:off x="7148631" y="3315460"/>
            <a:ext cx="3877985" cy="461665"/>
          </a:xfrm>
          <a:prstGeom prst="rect">
            <a:avLst/>
          </a:prstGeom>
        </p:spPr>
        <p:txBody>
          <a:bodyPr wrap="none">
            <a:spAutoFit/>
          </a:bodyPr>
          <a:lstStyle/>
          <a:p>
            <a:r>
              <a:rPr lang="zh-CN" altLang="en-US" sz="2400" b="1" dirty="0">
                <a:latin typeface="微软雅黑"/>
                <a:ea typeface="微软雅黑"/>
                <a:cs typeface="微软雅黑"/>
              </a:rPr>
              <a:t>跨接收机射频指纹识别方法</a:t>
            </a:r>
          </a:p>
        </p:txBody>
      </p:sp>
      <p:sp>
        <p:nvSpPr>
          <p:cNvPr id="23" name="直接连接符 22">
            <a:extLst>
              <a:ext uri="{FF2B5EF4-FFF2-40B4-BE49-F238E27FC236}">
                <a16:creationId xmlns:a16="http://schemas.microsoft.com/office/drawing/2014/main" id="{C33D70D6-B890-BE90-D3E9-987D7D8A6D07}"/>
              </a:ext>
            </a:extLst>
          </p:cNvPr>
          <p:cNvSpPr>
            <a:spLocks noGrp="1"/>
          </p:cNvSpPr>
          <p:nvPr/>
        </p:nvSpPr>
        <p:spPr>
          <a:xfrm>
            <a:off x="7148631" y="33561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9" name="文本框 28">
            <a:extLst>
              <a:ext uri="{FF2B5EF4-FFF2-40B4-BE49-F238E27FC236}">
                <a16:creationId xmlns:a16="http://schemas.microsoft.com/office/drawing/2014/main" id="{572737D5-C253-B289-C2A6-C760145FCAB3}"/>
              </a:ext>
            </a:extLst>
          </p:cNvPr>
          <p:cNvSpPr>
            <a:spLocks noGrp="1"/>
          </p:cNvSpPr>
          <p:nvPr/>
        </p:nvSpPr>
        <p:spPr>
          <a:xfrm>
            <a:off x="6290327" y="4032170"/>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a:t>
            </a:r>
            <a:r>
              <a:rPr lang="en-US" sz="3200" b="1" i="0" u="none" cap="none" dirty="0">
                <a:ln>
                  <a:noFill/>
                </a:ln>
                <a:solidFill>
                  <a:srgbClr val="911F22"/>
                </a:solidFill>
                <a:latin typeface="字魂105号-简雅黑"/>
                <a:ea typeface="字魂105号-简雅黑"/>
                <a:cs typeface="字魂105号-简雅黑"/>
              </a:rPr>
              <a:t>4</a:t>
            </a:r>
            <a:endParaRPr sz="3200" b="1" i="0" u="none" cap="none" dirty="0">
              <a:ln>
                <a:noFill/>
              </a:ln>
              <a:solidFill>
                <a:srgbClr val="911F22"/>
              </a:solidFill>
              <a:latin typeface="字魂105号-简雅黑"/>
              <a:ea typeface="字魂105号-简雅黑"/>
              <a:cs typeface="字魂105号-简雅黑"/>
            </a:endParaRPr>
          </a:p>
        </p:txBody>
      </p:sp>
      <p:sp>
        <p:nvSpPr>
          <p:cNvPr id="30" name="矩形 29">
            <a:extLst>
              <a:ext uri="{FF2B5EF4-FFF2-40B4-BE49-F238E27FC236}">
                <a16:creationId xmlns:a16="http://schemas.microsoft.com/office/drawing/2014/main" id="{4E7A2044-42CF-C23E-E2F0-3113FB248A74}"/>
              </a:ext>
            </a:extLst>
          </p:cNvPr>
          <p:cNvSpPr>
            <a:spLocks noGrp="1"/>
          </p:cNvSpPr>
          <p:nvPr/>
        </p:nvSpPr>
        <p:spPr>
          <a:xfrm>
            <a:off x="7169896" y="4067698"/>
            <a:ext cx="2339102" cy="461665"/>
          </a:xfrm>
          <a:prstGeom prst="rect">
            <a:avLst/>
          </a:prstGeom>
        </p:spPr>
        <p:txBody>
          <a:bodyPr wrap="none">
            <a:spAutoFit/>
          </a:bodyPr>
          <a:lstStyle/>
          <a:p>
            <a:r>
              <a:rPr lang="zh-CN" altLang="en-US" sz="2400" b="1" dirty="0">
                <a:solidFill>
                  <a:schemeClr val="bg1">
                    <a:lumMod val="65000"/>
                  </a:schemeClr>
                </a:solidFill>
                <a:latin typeface="微软雅黑"/>
                <a:ea typeface="微软雅黑"/>
                <a:cs typeface="微软雅黑"/>
              </a:rPr>
              <a:t>实验结果与分析</a:t>
            </a:r>
          </a:p>
        </p:txBody>
      </p:sp>
      <p:sp>
        <p:nvSpPr>
          <p:cNvPr id="28" name="直接连接符 27">
            <a:extLst>
              <a:ext uri="{FF2B5EF4-FFF2-40B4-BE49-F238E27FC236}">
                <a16:creationId xmlns:a16="http://schemas.microsoft.com/office/drawing/2014/main" id="{8E08DDBD-F5C5-C493-591B-18967ADCCC1E}"/>
              </a:ext>
            </a:extLst>
          </p:cNvPr>
          <p:cNvSpPr>
            <a:spLocks noGrp="1"/>
          </p:cNvSpPr>
          <p:nvPr/>
        </p:nvSpPr>
        <p:spPr>
          <a:xfrm>
            <a:off x="7148631" y="411499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7" name="文本框 46">
            <a:extLst>
              <a:ext uri="{FF2B5EF4-FFF2-40B4-BE49-F238E27FC236}">
                <a16:creationId xmlns:a16="http://schemas.microsoft.com/office/drawing/2014/main" id="{48BAB468-5F30-9C1C-1552-AA2851DFB10D}"/>
              </a:ext>
            </a:extLst>
          </p:cNvPr>
          <p:cNvSpPr>
            <a:spLocks noGrp="1"/>
          </p:cNvSpPr>
          <p:nvPr/>
        </p:nvSpPr>
        <p:spPr>
          <a:xfrm>
            <a:off x="6290327" y="4826548"/>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a:t>
            </a:r>
            <a:r>
              <a:rPr lang="en-US" sz="3200" b="1" i="0" u="none" cap="none" dirty="0">
                <a:ln>
                  <a:noFill/>
                </a:ln>
                <a:solidFill>
                  <a:srgbClr val="911F22"/>
                </a:solidFill>
                <a:latin typeface="字魂105号-简雅黑"/>
                <a:ea typeface="字魂105号-简雅黑"/>
                <a:cs typeface="字魂105号-简雅黑"/>
              </a:rPr>
              <a:t>5</a:t>
            </a:r>
            <a:endParaRPr sz="3200" b="1" i="0" u="none" cap="none" dirty="0">
              <a:ln>
                <a:noFill/>
              </a:ln>
              <a:solidFill>
                <a:srgbClr val="911F22"/>
              </a:solidFill>
              <a:latin typeface="字魂105号-简雅黑"/>
              <a:ea typeface="字魂105号-简雅黑"/>
              <a:cs typeface="字魂105号-简雅黑"/>
            </a:endParaRPr>
          </a:p>
        </p:txBody>
      </p:sp>
      <p:sp>
        <p:nvSpPr>
          <p:cNvPr id="48" name="矩形 47">
            <a:extLst>
              <a:ext uri="{FF2B5EF4-FFF2-40B4-BE49-F238E27FC236}">
                <a16:creationId xmlns:a16="http://schemas.microsoft.com/office/drawing/2014/main" id="{4C9BC116-E5D9-523E-5872-F2B9CB172C5F}"/>
              </a:ext>
            </a:extLst>
          </p:cNvPr>
          <p:cNvSpPr>
            <a:spLocks noGrp="1"/>
          </p:cNvSpPr>
          <p:nvPr/>
        </p:nvSpPr>
        <p:spPr>
          <a:xfrm>
            <a:off x="7169896" y="4859728"/>
            <a:ext cx="2646878" cy="461665"/>
          </a:xfrm>
          <a:prstGeom prst="rect">
            <a:avLst/>
          </a:prstGeom>
        </p:spPr>
        <p:txBody>
          <a:bodyPr wrap="none">
            <a:spAutoFit/>
          </a:bodyPr>
          <a:lstStyle/>
          <a:p>
            <a:r>
              <a:rPr lang="zh-CN" altLang="en-US" sz="2400" b="1" dirty="0">
                <a:solidFill>
                  <a:schemeClr val="bg1">
                    <a:lumMod val="65000"/>
                  </a:schemeClr>
                </a:solidFill>
                <a:latin typeface="微软雅黑"/>
                <a:ea typeface="微软雅黑"/>
                <a:cs typeface="微软雅黑"/>
              </a:rPr>
              <a:t>下一阶段工作计划</a:t>
            </a:r>
          </a:p>
        </p:txBody>
      </p:sp>
      <p:sp>
        <p:nvSpPr>
          <p:cNvPr id="46" name="直接连接符 45">
            <a:extLst>
              <a:ext uri="{FF2B5EF4-FFF2-40B4-BE49-F238E27FC236}">
                <a16:creationId xmlns:a16="http://schemas.microsoft.com/office/drawing/2014/main" id="{E3B095F7-78F3-5BB2-15D9-06F846754489}"/>
              </a:ext>
            </a:extLst>
          </p:cNvPr>
          <p:cNvSpPr>
            <a:spLocks noGrp="1"/>
          </p:cNvSpPr>
          <p:nvPr/>
        </p:nvSpPr>
        <p:spPr>
          <a:xfrm>
            <a:off x="7148631" y="4909370"/>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65" name="图片 3">
            <a:extLst>
              <a:ext uri="{FF2B5EF4-FFF2-40B4-BE49-F238E27FC236}">
                <a16:creationId xmlns:a16="http://schemas.microsoft.com/office/drawing/2014/main" id="{9E1A81B3-6951-A75A-44FE-DF2A70E75143}"/>
              </a:ext>
            </a:extLst>
          </p:cNvPr>
          <p:cNvPicPr>
            <a:picLocks noChangeAspect="1"/>
          </p:cNvPicPr>
          <p:nvPr/>
        </p:nvPicPr>
        <p:blipFill>
          <a:blip r:embed="rId3"/>
          <a:stretch>
            <a:fillRect/>
          </a:stretch>
        </p:blipFill>
        <p:spPr>
          <a:xfrm>
            <a:off x="1364895" y="2928431"/>
            <a:ext cx="1905000" cy="1905000"/>
          </a:xfrm>
          <a:prstGeom prst="rect">
            <a:avLst/>
          </a:prstGeom>
        </p:spPr>
      </p:pic>
      <p:pic>
        <p:nvPicPr>
          <p:cNvPr id="66" name="图片 4">
            <a:extLst>
              <a:ext uri="{FF2B5EF4-FFF2-40B4-BE49-F238E27FC236}">
                <a16:creationId xmlns:a16="http://schemas.microsoft.com/office/drawing/2014/main" id="{C6DBB4E1-6775-03E0-9382-6804784FFC89}"/>
              </a:ext>
            </a:extLst>
          </p:cNvPr>
          <p:cNvPicPr>
            <a:picLocks noChangeAspect="1"/>
          </p:cNvPicPr>
          <p:nvPr/>
        </p:nvPicPr>
        <p:blipFill>
          <a:blip r:embed="rId4">
            <a:biLevel thresh="25000"/>
          </a:blip>
          <a:stretch>
            <a:fillRect/>
          </a:stretch>
        </p:blipFill>
        <p:spPr>
          <a:xfrm>
            <a:off x="1322797" y="703717"/>
            <a:ext cx="1989196" cy="1914672"/>
          </a:xfrm>
          <a:prstGeom prst="rect">
            <a:avLst/>
          </a:prstGeom>
        </p:spPr>
      </p:pic>
      <p:sp>
        <p:nvSpPr>
          <p:cNvPr id="3" name="文本框 23">
            <a:extLst>
              <a:ext uri="{FF2B5EF4-FFF2-40B4-BE49-F238E27FC236}">
                <a16:creationId xmlns:a16="http://schemas.microsoft.com/office/drawing/2014/main" id="{DA936C35-BA02-791C-4468-56B8945E010C}"/>
              </a:ext>
            </a:extLst>
          </p:cNvPr>
          <p:cNvSpPr>
            <a:spLocks noGrp="1"/>
          </p:cNvSpPr>
          <p:nvPr/>
        </p:nvSpPr>
        <p:spPr>
          <a:xfrm>
            <a:off x="6290327" y="2514470"/>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02</a:t>
            </a:r>
          </a:p>
        </p:txBody>
      </p:sp>
      <p:sp>
        <p:nvSpPr>
          <p:cNvPr id="4" name="矩形 3">
            <a:extLst>
              <a:ext uri="{FF2B5EF4-FFF2-40B4-BE49-F238E27FC236}">
                <a16:creationId xmlns:a16="http://schemas.microsoft.com/office/drawing/2014/main" id="{EFA3B69E-0F47-C27F-D6D7-0C824CEF64C3}"/>
              </a:ext>
            </a:extLst>
          </p:cNvPr>
          <p:cNvSpPr>
            <a:spLocks noGrp="1"/>
          </p:cNvSpPr>
          <p:nvPr/>
        </p:nvSpPr>
        <p:spPr>
          <a:xfrm>
            <a:off x="7148631" y="2556610"/>
            <a:ext cx="3570208" cy="461665"/>
          </a:xfrm>
          <a:prstGeom prst="rect">
            <a:avLst/>
          </a:prstGeom>
        </p:spPr>
        <p:txBody>
          <a:bodyPr wrap="none">
            <a:spAutoFit/>
          </a:bodyPr>
          <a:lstStyle/>
          <a:p>
            <a:r>
              <a:rPr lang="zh-CN" altLang="en-US" sz="2400" b="1" dirty="0">
                <a:solidFill>
                  <a:schemeClr val="bg1">
                    <a:lumMod val="65000"/>
                  </a:schemeClr>
                </a:solidFill>
                <a:latin typeface="微软雅黑"/>
                <a:ea typeface="微软雅黑"/>
                <a:cs typeface="微软雅黑"/>
              </a:rPr>
              <a:t>主要研究内容与工作进展</a:t>
            </a:r>
          </a:p>
        </p:txBody>
      </p:sp>
      <p:sp>
        <p:nvSpPr>
          <p:cNvPr id="5" name="直接连接符 4">
            <a:extLst>
              <a:ext uri="{FF2B5EF4-FFF2-40B4-BE49-F238E27FC236}">
                <a16:creationId xmlns:a16="http://schemas.microsoft.com/office/drawing/2014/main" id="{C0E3BF52-F47C-7F8E-F723-C3E76EB92AF5}"/>
              </a:ext>
            </a:extLst>
          </p:cNvPr>
          <p:cNvSpPr>
            <a:spLocks noGrp="1"/>
          </p:cNvSpPr>
          <p:nvPr/>
        </p:nvSpPr>
        <p:spPr>
          <a:xfrm>
            <a:off x="7148631" y="259729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Tree>
    <p:extLst>
      <p:ext uri="{BB962C8B-B14F-4D97-AF65-F5344CB8AC3E}">
        <p14:creationId xmlns:p14="http://schemas.microsoft.com/office/powerpoint/2010/main" val="2768430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5"/>
          <p:cNvPicPr>
            <a:picLocks noChangeAspect="1"/>
          </p:cNvPicPr>
          <p:nvPr/>
        </p:nvPicPr>
        <p:blipFill>
          <a:blip r:embed="rId3"/>
          <a:stretch>
            <a:fillRect/>
          </a:stretch>
        </p:blipFill>
        <p:spPr>
          <a:xfrm>
            <a:off x="928455" y="2378039"/>
            <a:ext cx="9646920" cy="3154680"/>
          </a:xfrm>
          <a:prstGeom prst="rect">
            <a:avLst/>
          </a:prstGeom>
        </p:spPr>
      </p:pic>
      <p:sp>
        <p:nvSpPr>
          <p:cNvPr id="2" name="任意多边形: 形状 1">
            <a:extLst>
              <a:ext uri="{FF2B5EF4-FFF2-40B4-BE49-F238E27FC236}">
                <a16:creationId xmlns:a16="http://schemas.microsoft.com/office/drawing/2014/main" id="{AC801D35-68A1-4184-A2A0-3E86D535D932}"/>
              </a:ext>
            </a:extLst>
          </p:cNvPr>
          <p:cNvSpPr>
            <a:spLocks noGrp="1"/>
          </p:cNvSpPr>
          <p:nvPr/>
        </p:nvSpPr>
        <p:spPr>
          <a:xfrm>
            <a:off x="585917" y="241816"/>
            <a:ext cx="3061579" cy="51597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911F22"/>
          </a:solidFill>
          <a:ln w="38100">
            <a:solidFill>
              <a:srgbClr val="911F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16" name="矩形 15">
            <a:extLst>
              <a:ext uri="{FF2B5EF4-FFF2-40B4-BE49-F238E27FC236}">
                <a16:creationId xmlns:a16="http://schemas.microsoft.com/office/drawing/2014/main" id="{06AA2D42-720A-46B3-A376-DEBE68195A5B}"/>
              </a:ext>
            </a:extLst>
          </p:cNvPr>
          <p:cNvSpPr>
            <a:spLocks noGrp="1"/>
          </p:cNvSpPr>
          <p:nvPr/>
        </p:nvSpPr>
        <p:spPr>
          <a:xfrm>
            <a:off x="632091" y="241816"/>
            <a:ext cx="2874505" cy="461665"/>
          </a:xfrm>
          <a:prstGeom prst="rect">
            <a:avLst/>
          </a:prstGeom>
        </p:spPr>
        <p:txBody>
          <a:bodyPr wrap="none">
            <a:spAutoFit/>
          </a:bodyPr>
          <a:lstStyle/>
          <a:p>
            <a:r>
              <a:rPr lang="zh-CN" altLang="en-US" sz="2400" b="1" dirty="0">
                <a:solidFill>
                  <a:schemeClr val="bg1"/>
                </a:solidFill>
                <a:latin typeface="字魂105号-简雅黑"/>
                <a:ea typeface="字魂105号-简雅黑"/>
                <a:cs typeface="字魂105号-简雅黑"/>
              </a:rPr>
              <a:t>跨接收机 </a:t>
            </a:r>
            <a:r>
              <a:rPr lang="en-US" altLang="zh-CN" sz="2400" b="1" dirty="0">
                <a:solidFill>
                  <a:schemeClr val="bg1"/>
                </a:solidFill>
                <a:latin typeface="字魂105号-简雅黑"/>
                <a:ea typeface="字魂105号-简雅黑"/>
                <a:cs typeface="字魂105号-简雅黑"/>
              </a:rPr>
              <a:t>RFFI </a:t>
            </a:r>
            <a:r>
              <a:rPr lang="zh-CN" altLang="en-US" sz="2400" b="1" dirty="0">
                <a:solidFill>
                  <a:schemeClr val="bg1"/>
                </a:solidFill>
                <a:latin typeface="字魂105号-简雅黑"/>
                <a:ea typeface="字魂105号-简雅黑"/>
                <a:cs typeface="字魂105号-简雅黑"/>
              </a:rPr>
              <a:t>框架</a:t>
            </a:r>
          </a:p>
        </p:txBody>
      </p:sp>
      <p:pic>
        <p:nvPicPr>
          <p:cNvPr id="35" name="图片 3"/>
          <p:cNvPicPr>
            <a:picLocks noChangeAspect="1"/>
          </p:cNvPicPr>
          <p:nvPr/>
        </p:nvPicPr>
        <p:blipFill>
          <a:blip r:embed="rId4"/>
          <a:stretch>
            <a:fillRect/>
          </a:stretch>
        </p:blipFill>
        <p:spPr>
          <a:xfrm>
            <a:off x="10800000" y="216000"/>
            <a:ext cx="1168402" cy="312900"/>
          </a:xfrm>
          <a:prstGeom prst="rect">
            <a:avLst/>
          </a:prstGeom>
        </p:spPr>
      </p:pic>
      <p:sp>
        <p:nvSpPr>
          <p:cNvPr id="15" name="灯片编号占位符 14">
            <a:extLst>
              <a:ext uri="{FF2B5EF4-FFF2-40B4-BE49-F238E27FC236}">
                <a16:creationId xmlns:a16="http://schemas.microsoft.com/office/drawing/2014/main" id="{2954C5AB-1B7F-3CA8-70B8-9D3926ED2A90}"/>
              </a:ext>
            </a:extLst>
          </p:cNvPr>
          <p:cNvSpPr>
            <a:spLocks noGrp="1"/>
          </p:cNvSpPr>
          <p:nvPr>
            <p:ph type="sldNum" idx="12"/>
          </p:nvPr>
        </p:nvSpPr>
        <p:spPr>
          <a:xfrm>
            <a:off x="10849603" y="6276875"/>
            <a:ext cx="317205" cy="365125"/>
          </a:xfrm>
        </p:spPr>
        <p:txBody>
          <a:bodyPr/>
          <a:lstStyle/>
          <a:p>
            <a:r>
              <a:t>09</a:t>
            </a:r>
          </a:p>
        </p:txBody>
      </p:sp>
      <p:sp>
        <p:nvSpPr>
          <p:cNvPr id="8" name="文本框 7">
            <a:extLst>
              <a:ext uri="{FF2B5EF4-FFF2-40B4-BE49-F238E27FC236}">
                <a16:creationId xmlns:a16="http://schemas.microsoft.com/office/drawing/2014/main" id="{1141AA55-97DE-0653-0863-9B19D829380F}"/>
              </a:ext>
            </a:extLst>
          </p:cNvPr>
          <p:cNvSpPr>
            <a:spLocks noGrp="1"/>
          </p:cNvSpPr>
          <p:nvPr/>
        </p:nvSpPr>
        <p:spPr>
          <a:xfrm>
            <a:off x="727572" y="1587166"/>
            <a:ext cx="2203152" cy="400110"/>
          </a:xfrm>
          <a:prstGeom prst="rect">
            <a:avLst/>
          </a:prstGeom>
          <a:noFill/>
        </p:spPr>
        <p:txBody>
          <a:bodyPr wrap="square">
            <a:spAutoFit/>
          </a:bodyPr>
          <a:lstStyle/>
          <a:p>
            <a:r>
              <a:rPr lang="zh-CN" altLang="en-US" sz="2000" b="1" dirty="0">
                <a:solidFill>
                  <a:srgbClr val="911F22"/>
                </a:solidFill>
                <a:latin typeface="微软雅黑"/>
                <a:ea typeface="微软雅黑"/>
                <a:cs typeface="微软雅黑"/>
              </a:rPr>
              <a:t>系统模型</a:t>
            </a:r>
            <a:endParaRPr sz="2000" b="1" dirty="0">
              <a:solidFill>
                <a:srgbClr val="911F22"/>
              </a:solidFill>
              <a:latin typeface="微软雅黑"/>
              <a:ea typeface="微软雅黑"/>
              <a:cs typeface="微软雅黑"/>
            </a:endParaRPr>
          </a:p>
        </p:txBody>
      </p:sp>
      <p:sp>
        <p:nvSpPr>
          <p:cNvPr id="23" name="箭头: 下 22">
            <a:extLst>
              <a:ext uri="{FF2B5EF4-FFF2-40B4-BE49-F238E27FC236}">
                <a16:creationId xmlns:a16="http://schemas.microsoft.com/office/drawing/2014/main" id="{3BBE7030-5DBD-B9E3-18A8-9F7B8104BFAE}"/>
              </a:ext>
            </a:extLst>
          </p:cNvPr>
          <p:cNvSpPr>
            <a:spLocks noGrp="1"/>
          </p:cNvSpPr>
          <p:nvPr/>
        </p:nvSpPr>
        <p:spPr>
          <a:xfrm>
            <a:off x="3758574" y="5303786"/>
            <a:ext cx="290873" cy="478150"/>
          </a:xfrm>
          <a:prstGeom prst="downArrow">
            <a:avLst/>
          </a:prstGeom>
          <a:solidFill>
            <a:schemeClr val="accent1">
              <a:lumMod val="20000"/>
              <a:lumOff val="80000"/>
            </a:schemeClr>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 name="箭头: 直角上 24">
            <a:extLst>
              <a:ext uri="{FF2B5EF4-FFF2-40B4-BE49-F238E27FC236}">
                <a16:creationId xmlns:a16="http://schemas.microsoft.com/office/drawing/2014/main" id="{633704E9-0F28-4A25-6F7D-D38AECD9A795}"/>
              </a:ext>
            </a:extLst>
          </p:cNvPr>
          <p:cNvSpPr>
            <a:spLocks noGrp="1"/>
          </p:cNvSpPr>
          <p:nvPr/>
        </p:nvSpPr>
        <p:spPr>
          <a:xfrm rot="10800000" flipV="1">
            <a:off x="6324599" y="2169160"/>
            <a:ext cx="1106126" cy="449580"/>
          </a:xfrm>
          <a:prstGeom prst="bentUpArrow">
            <a:avLst>
              <a:gd name="adj1" fmla="val 29795"/>
              <a:gd name="adj2" fmla="val 29904"/>
              <a:gd name="adj3" fmla="val 31987"/>
            </a:avLst>
          </a:prstGeom>
          <a:solidFill>
            <a:schemeClr val="accent1">
              <a:lumMod val="20000"/>
              <a:lumOff val="80000"/>
            </a:schemeClr>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 name="箭头: 下 25">
            <a:extLst>
              <a:ext uri="{FF2B5EF4-FFF2-40B4-BE49-F238E27FC236}">
                <a16:creationId xmlns:a16="http://schemas.microsoft.com/office/drawing/2014/main" id="{5018E53A-594E-6F03-AC65-5725C2704E59}"/>
              </a:ext>
            </a:extLst>
          </p:cNvPr>
          <p:cNvSpPr>
            <a:spLocks noGrp="1"/>
          </p:cNvSpPr>
          <p:nvPr/>
        </p:nvSpPr>
        <p:spPr>
          <a:xfrm>
            <a:off x="5867700" y="4521492"/>
            <a:ext cx="290873" cy="1260444"/>
          </a:xfrm>
          <a:prstGeom prst="downArrow">
            <a:avLst/>
          </a:prstGeom>
          <a:solidFill>
            <a:schemeClr val="accent1">
              <a:lumMod val="20000"/>
              <a:lumOff val="80000"/>
            </a:schemeClr>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 name="文本框 26">
            <a:extLst>
              <a:ext uri="{FF2B5EF4-FFF2-40B4-BE49-F238E27FC236}">
                <a16:creationId xmlns:a16="http://schemas.microsoft.com/office/drawing/2014/main" id="{3F9819F1-5599-C60A-822D-177306E39F23}"/>
              </a:ext>
            </a:extLst>
          </p:cNvPr>
          <p:cNvSpPr>
            <a:spLocks noGrp="1"/>
          </p:cNvSpPr>
          <p:nvPr/>
        </p:nvSpPr>
        <p:spPr>
          <a:xfrm>
            <a:off x="3503960" y="5849401"/>
            <a:ext cx="800100" cy="369332"/>
          </a:xfrm>
          <a:prstGeom prst="rect">
            <a:avLst/>
          </a:prstGeom>
          <a:noFill/>
        </p:spPr>
        <p:txBody>
          <a:bodyPr wrap="square">
            <a:spAutoFit/>
          </a:bodyPr>
          <a:lstStyle/>
          <a:p>
            <a:pPr algn="ctr"/>
            <a:r>
              <a:rPr lang="zh-CN" altLang="en-US" b="1" dirty="0">
                <a:latin typeface="宋体"/>
                <a:ea typeface="宋体"/>
                <a:cs typeface="宋体"/>
              </a:rPr>
              <a:t>掩码</a:t>
            </a:r>
          </a:p>
        </p:txBody>
      </p:sp>
      <p:sp>
        <p:nvSpPr>
          <p:cNvPr id="29" name="文本框 28">
            <a:extLst>
              <a:ext uri="{FF2B5EF4-FFF2-40B4-BE49-F238E27FC236}">
                <a16:creationId xmlns:a16="http://schemas.microsoft.com/office/drawing/2014/main" id="{C91512D3-D07F-8AA2-1DE4-AB6D520F9A79}"/>
              </a:ext>
            </a:extLst>
          </p:cNvPr>
          <p:cNvSpPr>
            <a:spLocks noGrp="1"/>
          </p:cNvSpPr>
          <p:nvPr/>
        </p:nvSpPr>
        <p:spPr>
          <a:xfrm>
            <a:off x="5613086" y="5852368"/>
            <a:ext cx="800100" cy="369332"/>
          </a:xfrm>
          <a:prstGeom prst="rect">
            <a:avLst/>
          </a:prstGeom>
          <a:noFill/>
        </p:spPr>
        <p:txBody>
          <a:bodyPr wrap="square">
            <a:spAutoFit/>
          </a:bodyPr>
          <a:lstStyle/>
          <a:p>
            <a:pPr algn="ctr">
              <a:buNone/>
            </a:pPr>
            <a:r>
              <a:rPr lang="en-US" dirty="0">
                <a:latin typeface="Times New Roman" panose="02020603050405020304" pitchFamily="18" charset="0"/>
                <a:ea typeface="宋体"/>
                <a:cs typeface="Times New Roman" panose="02020603050405020304" pitchFamily="18" charset="0"/>
              </a:rPr>
              <a:t>GN</a:t>
            </a:r>
            <a:endParaRPr dirty="0">
              <a:latin typeface="Times New Roman" panose="02020603050405020304" pitchFamily="18" charset="0"/>
              <a:ea typeface="宋体"/>
              <a:cs typeface="Times New Roman" panose="02020603050405020304" pitchFamily="18" charset="0"/>
            </a:endParaRPr>
          </a:p>
        </p:txBody>
      </p:sp>
      <p:sp>
        <p:nvSpPr>
          <p:cNvPr id="7" name="文本框 6">
            <a:extLst>
              <a:ext uri="{FF2B5EF4-FFF2-40B4-BE49-F238E27FC236}">
                <a16:creationId xmlns:a16="http://schemas.microsoft.com/office/drawing/2014/main" id="{B9F56F73-FD78-4D97-A311-7EED226345DD}"/>
              </a:ext>
            </a:extLst>
          </p:cNvPr>
          <p:cNvSpPr>
            <a:spLocks noGrp="1"/>
          </p:cNvSpPr>
          <p:nvPr/>
        </p:nvSpPr>
        <p:spPr>
          <a:xfrm>
            <a:off x="727571" y="881082"/>
            <a:ext cx="10591815" cy="369332"/>
          </a:xfrm>
          <a:prstGeom prst="rect">
            <a:avLst/>
          </a:prstGeom>
          <a:noFill/>
        </p:spPr>
        <p:txBody>
          <a:bodyPr wrap="square">
            <a:spAutoFit/>
          </a:bodyPr>
          <a:lstStyle/>
          <a:p>
            <a:r>
              <a:rPr lang="zh-CN" altLang="en-US" b="1" dirty="0">
                <a:latin typeface="+mn-ea"/>
                <a:cs typeface="宋体"/>
              </a:rPr>
              <a:t>针对接收机域偏移，从训练策略、模型归一化和输入依赖三个层面协同改进</a:t>
            </a:r>
          </a:p>
        </p:txBody>
      </p:sp>
      <p:sp>
        <p:nvSpPr>
          <p:cNvPr id="3" name="文本框 28">
            <a:extLst>
              <a:ext uri="{FF2B5EF4-FFF2-40B4-BE49-F238E27FC236}">
                <a16:creationId xmlns:a16="http://schemas.microsoft.com/office/drawing/2014/main" id="{52E9264F-9EAF-6162-1486-BFB75A32B252}"/>
              </a:ext>
            </a:extLst>
          </p:cNvPr>
          <p:cNvSpPr>
            <a:spLocks noGrp="1"/>
          </p:cNvSpPr>
          <p:nvPr/>
        </p:nvSpPr>
        <p:spPr>
          <a:xfrm>
            <a:off x="6023478" y="1536326"/>
            <a:ext cx="800100" cy="646331"/>
          </a:xfrm>
          <a:prstGeom prst="rect">
            <a:avLst/>
          </a:prstGeom>
          <a:noFill/>
        </p:spPr>
        <p:txBody>
          <a:bodyPr wrap="square">
            <a:spAutoFit/>
          </a:bodyPr>
          <a:lstStyle/>
          <a:p>
            <a:pPr algn="ctr">
              <a:buNone/>
            </a:pPr>
            <a:r>
              <a:rPr lang="zh-CN" altLang="en-US" b="1" dirty="0">
                <a:latin typeface="Times New Roman" panose="02020603050405020304" pitchFamily="18" charset="0"/>
                <a:ea typeface="宋体"/>
                <a:cs typeface="Times New Roman" panose="02020603050405020304" pitchFamily="18" charset="0"/>
              </a:rPr>
              <a:t>门控更新</a:t>
            </a:r>
            <a:endParaRPr b="1" dirty="0">
              <a:latin typeface="Times New Roman" panose="02020603050405020304" pitchFamily="18" charset="0"/>
              <a:ea typeface="宋体"/>
              <a:cs typeface="Times New Roman" panose="02020603050405020304" pitchFamily="18" charset="0"/>
            </a:endParaRPr>
          </a:p>
        </p:txBody>
      </p:sp>
    </p:spTree>
    <p:extLst>
      <p:ext uri="{BB962C8B-B14F-4D97-AF65-F5344CB8AC3E}">
        <p14:creationId xmlns:p14="http://schemas.microsoft.com/office/powerpoint/2010/main" val="1930896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233A4AF7-8D7A-9C50-BC2C-AC14CDC12F75}"/>
              </a:ext>
            </a:extLst>
          </p:cNvPr>
          <p:cNvGraphicFramePr>
            <a:graphicFrameLocks noChangeAspect="1"/>
          </p:cNvGraphicFramePr>
          <p:nvPr>
            <p:extLst>
              <p:ext uri="{D42A27DB-BD31-4B8C-83A1-F6EECF244321}">
                <p14:modId xmlns:p14="http://schemas.microsoft.com/office/powerpoint/2010/main" val="1756645624"/>
              </p:ext>
            </p:extLst>
          </p:nvPr>
        </p:nvGraphicFramePr>
        <p:xfrm>
          <a:off x="5519743" y="1672480"/>
          <a:ext cx="6272212" cy="4052887"/>
        </p:xfrm>
        <a:graphic>
          <a:graphicData uri="http://schemas.openxmlformats.org/presentationml/2006/ole">
            <mc:AlternateContent xmlns:mc="http://schemas.openxmlformats.org/markup-compatibility/2006">
              <mc:Choice xmlns:v="urn:schemas-microsoft-com:vml" Requires="v">
                <p:oleObj name="Visio" r:id="rId3" imgW="4953051" imgH="3200298" progId="Visio.Drawing.15">
                  <p:embed/>
                </p:oleObj>
              </mc:Choice>
              <mc:Fallback>
                <p:oleObj name="Visio" r:id="rId3" imgW="4953051" imgH="3200298" progId="Visio.Drawing.15">
                  <p:embed/>
                  <p:pic>
                    <p:nvPicPr>
                      <p:cNvPr id="82" name="对象 81">
                        <a:extLst>
                          <a:ext uri="{FF2B5EF4-FFF2-40B4-BE49-F238E27FC236}">
                            <a16:creationId xmlns:a16="http://schemas.microsoft.com/office/drawing/2014/main" id="{C37C6EB8-1229-1763-BA78-3F3AFED5BEB8}"/>
                          </a:ext>
                        </a:extLst>
                      </p:cNvPr>
                      <p:cNvPicPr/>
                      <p:nvPr/>
                    </p:nvPicPr>
                    <p:blipFill>
                      <a:blip r:embed="rId4"/>
                      <a:stretch>
                        <a:fillRect/>
                      </a:stretch>
                    </p:blipFill>
                    <p:spPr>
                      <a:xfrm>
                        <a:off x="5519743" y="1672480"/>
                        <a:ext cx="6272212" cy="4052887"/>
                      </a:xfrm>
                      <a:prstGeom prst="rect">
                        <a:avLst/>
                      </a:prstGeom>
                    </p:spPr>
                  </p:pic>
                </p:oleObj>
              </mc:Fallback>
            </mc:AlternateContent>
          </a:graphicData>
        </a:graphic>
      </p:graphicFrame>
      <p:pic>
        <p:nvPicPr>
          <p:cNvPr id="83" name="图片 3"/>
          <p:cNvPicPr>
            <a:picLocks noChangeAspect="1"/>
          </p:cNvPicPr>
          <p:nvPr/>
        </p:nvPicPr>
        <p:blipFill>
          <a:blip r:embed="rId5"/>
          <a:stretch>
            <a:fillRect/>
          </a:stretch>
        </p:blipFill>
        <p:spPr>
          <a:xfrm>
            <a:off x="10764636" y="166837"/>
            <a:ext cx="1168402" cy="312900"/>
          </a:xfrm>
          <a:prstGeom prst="rect">
            <a:avLst/>
          </a:prstGeom>
        </p:spPr>
      </p:pic>
      <p:sp>
        <p:nvSpPr>
          <p:cNvPr id="15" name="灯片编号占位符 14">
            <a:extLst>
              <a:ext uri="{FF2B5EF4-FFF2-40B4-BE49-F238E27FC236}">
                <a16:creationId xmlns:a16="http://schemas.microsoft.com/office/drawing/2014/main" id="{2954C5AB-1B7F-3CA8-70B8-9D3926ED2A90}"/>
              </a:ext>
            </a:extLst>
          </p:cNvPr>
          <p:cNvSpPr>
            <a:spLocks noGrp="1"/>
          </p:cNvSpPr>
          <p:nvPr>
            <p:ph type="sldNum" idx="12"/>
          </p:nvPr>
        </p:nvSpPr>
        <p:spPr>
          <a:xfrm>
            <a:off x="11036594" y="6356350"/>
            <a:ext cx="672539" cy="365125"/>
          </a:xfrm>
        </p:spPr>
        <p:txBody>
          <a:bodyPr/>
          <a:lstStyle/>
          <a:p>
            <a:r>
              <a:t>10</a:t>
            </a:r>
          </a:p>
        </p:txBody>
      </p:sp>
      <p:sp>
        <p:nvSpPr>
          <p:cNvPr id="16" name="任意多边形: 形状 15">
            <a:extLst>
              <a:ext uri="{FF2B5EF4-FFF2-40B4-BE49-F238E27FC236}">
                <a16:creationId xmlns:a16="http://schemas.microsoft.com/office/drawing/2014/main" id="{F45051F9-5E87-1D01-1C0A-299AC31270C7}"/>
              </a:ext>
            </a:extLst>
          </p:cNvPr>
          <p:cNvSpPr>
            <a:spLocks noGrp="1"/>
          </p:cNvSpPr>
          <p:nvPr/>
        </p:nvSpPr>
        <p:spPr>
          <a:xfrm>
            <a:off x="129539" y="225889"/>
            <a:ext cx="3487645" cy="508923"/>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911F22"/>
          </a:solidFill>
          <a:ln w="38100">
            <a:solidFill>
              <a:srgbClr val="911F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61" name="矩形 60">
            <a:extLst>
              <a:ext uri="{FF2B5EF4-FFF2-40B4-BE49-F238E27FC236}">
                <a16:creationId xmlns:a16="http://schemas.microsoft.com/office/drawing/2014/main" id="{C7CA54B6-3CC2-0DA3-4C27-7382299F0A85}"/>
              </a:ext>
            </a:extLst>
          </p:cNvPr>
          <p:cNvSpPr>
            <a:spLocks noGrp="1"/>
          </p:cNvSpPr>
          <p:nvPr/>
        </p:nvSpPr>
        <p:spPr>
          <a:xfrm>
            <a:off x="373031" y="256095"/>
            <a:ext cx="2874505" cy="830997"/>
          </a:xfrm>
          <a:prstGeom prst="rect">
            <a:avLst/>
          </a:prstGeom>
        </p:spPr>
        <p:txBody>
          <a:bodyPr wrap="none">
            <a:spAutoFit/>
          </a:bodyPr>
          <a:lstStyle/>
          <a:p>
            <a:r>
              <a:rPr lang="zh-CN" altLang="en-US" sz="2400" b="1" dirty="0">
                <a:solidFill>
                  <a:schemeClr val="bg1"/>
                </a:solidFill>
                <a:latin typeface="字魂105号-简雅黑"/>
                <a:ea typeface="字魂105号-简雅黑"/>
                <a:cs typeface="字魂105号-简雅黑"/>
              </a:rPr>
              <a:t>跨接收机 </a:t>
            </a:r>
            <a:r>
              <a:rPr lang="en-US" altLang="zh-CN" sz="2400" b="1" dirty="0">
                <a:solidFill>
                  <a:schemeClr val="bg1"/>
                </a:solidFill>
                <a:latin typeface="字魂105号-简雅黑"/>
                <a:ea typeface="字魂105号-简雅黑"/>
                <a:cs typeface="字魂105号-简雅黑"/>
              </a:rPr>
              <a:t>RFFI </a:t>
            </a:r>
            <a:r>
              <a:rPr lang="zh-CN" altLang="en-US" sz="2400" b="1" dirty="0">
                <a:solidFill>
                  <a:schemeClr val="bg1"/>
                </a:solidFill>
                <a:latin typeface="字魂105号-简雅黑"/>
                <a:ea typeface="字魂105号-简雅黑"/>
                <a:cs typeface="字魂105号-简雅黑"/>
              </a:rPr>
              <a:t>框架</a:t>
            </a:r>
          </a:p>
          <a:p>
            <a:endParaRPr sz="2400" b="1" dirty="0">
              <a:solidFill>
                <a:schemeClr val="bg1"/>
              </a:solidFill>
              <a:latin typeface="字魂105号-简雅黑"/>
              <a:ea typeface="字魂105号-简雅黑"/>
              <a:cs typeface="字魂105号-简雅黑"/>
            </a:endParaRPr>
          </a:p>
        </p:txBody>
      </p:sp>
      <p:sp>
        <p:nvSpPr>
          <p:cNvPr id="62" name="文本框 61">
            <a:extLst>
              <a:ext uri="{FF2B5EF4-FFF2-40B4-BE49-F238E27FC236}">
                <a16:creationId xmlns:a16="http://schemas.microsoft.com/office/drawing/2014/main" id="{261C5A57-3441-444F-DE93-F1F7093FF5C0}"/>
              </a:ext>
            </a:extLst>
          </p:cNvPr>
          <p:cNvSpPr>
            <a:spLocks noGrp="1"/>
          </p:cNvSpPr>
          <p:nvPr/>
        </p:nvSpPr>
        <p:spPr>
          <a:xfrm>
            <a:off x="39866" y="791501"/>
            <a:ext cx="7899318" cy="369332"/>
          </a:xfrm>
          <a:prstGeom prst="rect">
            <a:avLst/>
          </a:prstGeom>
          <a:noFill/>
        </p:spPr>
        <p:txBody>
          <a:bodyPr wrap="square">
            <a:spAutoFit/>
          </a:bodyPr>
          <a:lstStyle/>
          <a:p>
            <a:r>
              <a:rPr lang="en-US" altLang="zh-CN" b="1" dirty="0">
                <a:solidFill>
                  <a:srgbClr val="911F22"/>
                </a:solidFill>
                <a:latin typeface="微软雅黑"/>
                <a:ea typeface="微软雅黑"/>
                <a:cs typeface="微软雅黑"/>
              </a:rPr>
              <a:t>Gate-Reptile</a:t>
            </a:r>
            <a:r>
              <a:rPr lang="zh-CN" altLang="en-US" b="1" dirty="0">
                <a:solidFill>
                  <a:srgbClr val="911F22"/>
                </a:solidFill>
                <a:latin typeface="微软雅黑"/>
                <a:ea typeface="微软雅黑"/>
                <a:cs typeface="微软雅黑"/>
              </a:rPr>
              <a:t>：抑制跨接收机更新冲突，保留共享判别方向</a:t>
            </a:r>
          </a:p>
        </p:txBody>
      </p:sp>
      <p:sp>
        <p:nvSpPr>
          <p:cNvPr id="4" name="文本框 3">
            <a:extLst>
              <a:ext uri="{FF2B5EF4-FFF2-40B4-BE49-F238E27FC236}">
                <a16:creationId xmlns:a16="http://schemas.microsoft.com/office/drawing/2014/main" id="{4016D494-162B-2FC2-776E-2135072E7686}"/>
              </a:ext>
            </a:extLst>
          </p:cNvPr>
          <p:cNvSpPr txBox="1"/>
          <p:nvPr/>
        </p:nvSpPr>
        <p:spPr>
          <a:xfrm>
            <a:off x="305136" y="1303148"/>
            <a:ext cx="150365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CN" dirty="0">
                <a:latin typeface="宋体" panose="02010600030101010101" pitchFamily="2" charset="-122"/>
                <a:ea typeface="宋体" panose="02010600030101010101" pitchFamily="2" charset="-122"/>
              </a:rPr>
              <a:t>1.</a:t>
            </a:r>
            <a:r>
              <a:rPr lang="zh-CN" altLang="en-US" dirty="0">
                <a:latin typeface="+mn-ea"/>
              </a:rPr>
              <a:t>采样</a:t>
            </a:r>
          </a:p>
        </p:txBody>
      </p:sp>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BD0B034A-B06E-3DC0-4BA2-B80C07C71CF2}"/>
                  </a:ext>
                </a:extLst>
              </p:cNvPr>
              <p:cNvSpPr txBox="1"/>
              <p:nvPr/>
            </p:nvSpPr>
            <p:spPr>
              <a:xfrm>
                <a:off x="258962" y="1742521"/>
                <a:ext cx="28902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ℬ</m:t>
                          </m:r>
                        </m:e>
                        <m:sub>
                          <m:r>
                            <a:rPr lang="en-US" altLang="zh-CN" i="1" dirty="0">
                              <a:latin typeface="Cambria Math" panose="02040503050406030204" pitchFamily="18" charset="0"/>
                              <a:ea typeface="Cambria Math" panose="02040503050406030204" pitchFamily="18" charset="0"/>
                            </a:rPr>
                            <m:t>𝑖</m:t>
                          </m:r>
                        </m:sub>
                      </m:sSub>
                      <m:r>
                        <a:rPr lang="en-US" altLang="zh-CN" i="1" dirty="0"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𝒟</m:t>
                          </m:r>
                        </m:e>
                        <m:sub>
                          <m:r>
                            <a:rPr lang="en-US" altLang="zh-CN" i="1">
                              <a:latin typeface="Cambria Math" panose="02040503050406030204" pitchFamily="18" charset="0"/>
                            </a:rPr>
                            <m:t>𝑖</m:t>
                          </m:r>
                        </m:sub>
                      </m:sSub>
                      <m:r>
                        <a:rPr lang="zh-CN" altLang="en-US" i="1">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=1,2···,</m:t>
                      </m:r>
                      <m:r>
                        <a:rPr lang="en-US" altLang="zh-CN" b="0" i="1" smtClean="0">
                          <a:latin typeface="Cambria Math" panose="02040503050406030204" pitchFamily="18" charset="0"/>
                        </a:rPr>
                        <m:t>𝑛</m:t>
                      </m:r>
                    </m:oMath>
                  </m:oMathPara>
                </a14:m>
                <a:endParaRPr lang="zh-CN" altLang="en-US" i="1" dirty="0"/>
              </a:p>
            </p:txBody>
          </p:sp>
        </mc:Choice>
        <mc:Fallback>
          <p:sp>
            <p:nvSpPr>
              <p:cNvPr id="5" name="文本框 4">
                <a:extLst>
                  <a:ext uri="{FF2B5EF4-FFF2-40B4-BE49-F238E27FC236}">
                    <a16:creationId xmlns:a16="http://schemas.microsoft.com/office/drawing/2014/main" id="{BD0B034A-B06E-3DC0-4BA2-B80C07C71CF2}"/>
                  </a:ext>
                </a:extLst>
              </p:cNvPr>
              <p:cNvSpPr txBox="1">
                <a:spLocks noRot="1" noChangeAspect="1" noMove="1" noResize="1" noEditPoints="1" noAdjustHandles="1" noChangeArrowheads="1" noChangeShapeType="1" noTextEdit="1"/>
              </p:cNvSpPr>
              <p:nvPr/>
            </p:nvSpPr>
            <p:spPr>
              <a:xfrm>
                <a:off x="258962" y="1742521"/>
                <a:ext cx="2890225" cy="369332"/>
              </a:xfrm>
              <a:prstGeom prst="rect">
                <a:avLst/>
              </a:prstGeom>
              <a:blipFill>
                <a:blip r:embed="rId6"/>
                <a:stretch>
                  <a:fillRect/>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F475D3F0-9395-9645-88B9-DB9B67A6B561}"/>
              </a:ext>
            </a:extLst>
          </p:cNvPr>
          <p:cNvSpPr txBox="1"/>
          <p:nvPr/>
        </p:nvSpPr>
        <p:spPr>
          <a:xfrm>
            <a:off x="258962" y="2570162"/>
            <a:ext cx="240347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CN" dirty="0">
                <a:latin typeface="宋体" panose="02010600030101010101" pitchFamily="2" charset="-122"/>
                <a:ea typeface="宋体" panose="02010600030101010101" pitchFamily="2" charset="-122"/>
              </a:rPr>
              <a:t>2.</a:t>
            </a:r>
            <a:r>
              <a:rPr lang="zh-CN" altLang="en-US" dirty="0">
                <a:latin typeface="+mn-ea"/>
              </a:rPr>
              <a:t>内循环更新</a:t>
            </a:r>
          </a:p>
        </p:txBody>
      </p:sp>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12DCC3DF-C220-15B0-1952-827A5DD3CA30}"/>
                  </a:ext>
                </a:extLst>
              </p:cNvPr>
              <p:cNvSpPr txBox="1"/>
              <p:nvPr/>
            </p:nvSpPr>
            <p:spPr>
              <a:xfrm>
                <a:off x="400045" y="3013235"/>
                <a:ext cx="4879839" cy="2831544"/>
              </a:xfrm>
              <a:prstGeom prst="rect">
                <a:avLst/>
              </a:prstGeom>
              <a:noFill/>
            </p:spPr>
            <p:txBody>
              <a:bodyPr wrap="square" rtlCol="0">
                <a:spAutoFit/>
              </a:bodyPr>
              <a:lstStyle/>
              <a:p>
                <a:pPr>
                  <a:lnSpc>
                    <a:spcPct val="125000"/>
                  </a:lnSpc>
                </a:pPr>
                <a:r>
                  <a:rPr lang="zh-CN" altLang="en-US" dirty="0">
                    <a:latin typeface="+mn-ea"/>
                    <a:cs typeface="Times New Roman" panose="02020603050405020304" pitchFamily="18" charset="0"/>
                  </a:rPr>
                  <a:t>初始化子模型为元模型  </a:t>
                </a:r>
                <a14:m>
                  <m:oMath xmlns:m="http://schemas.openxmlformats.org/officeDocument/2006/math">
                    <m:sSub>
                      <m:sSubPr>
                        <m:ctrlPr>
                          <a:rPr lang="en-US" altLang="zh-CN" i="1" dirty="0" smtClean="0">
                            <a:latin typeface="+mn-ea"/>
                            <a:cs typeface="Times New Roman" panose="02020603050405020304" pitchFamily="18" charset="0"/>
                          </a:rPr>
                        </m:ctrlPr>
                      </m:sSubPr>
                      <m:e>
                        <m:r>
                          <a:rPr lang="zh-CN" altLang="en-US" i="1" dirty="0">
                            <a:latin typeface="+mn-ea"/>
                            <a:cs typeface="Times New Roman" panose="02020603050405020304" pitchFamily="18" charset="0"/>
                          </a:rPr>
                          <m:t>𝜙</m:t>
                        </m:r>
                      </m:e>
                      <m:sub>
                        <m:r>
                          <a:rPr lang="en-US" altLang="zh-CN" b="0" i="1" dirty="0" smtClean="0">
                            <a:latin typeface="+mn-ea"/>
                            <a:cs typeface="Times New Roman" panose="02020603050405020304" pitchFamily="18" charset="0"/>
                          </a:rPr>
                          <m:t>𝑖</m:t>
                        </m:r>
                        <m:r>
                          <a:rPr lang="en-US" altLang="zh-CN" b="0" i="1" dirty="0" smtClean="0">
                            <a:latin typeface="+mn-ea"/>
                            <a:cs typeface="Times New Roman" panose="02020603050405020304" pitchFamily="18" charset="0"/>
                          </a:rPr>
                          <m:t>,0</m:t>
                        </m:r>
                      </m:sub>
                    </m:sSub>
                    <m:r>
                      <a:rPr lang="en-US" altLang="zh-CN" b="0" i="1" dirty="0" smtClean="0">
                        <a:latin typeface="+mn-ea"/>
                        <a:cs typeface="Times New Roman" panose="02020603050405020304" pitchFamily="18" charset="0"/>
                      </a:rPr>
                      <m:t>=</m:t>
                    </m:r>
                    <m:r>
                      <a:rPr lang="zh-CN" altLang="en-US" i="1">
                        <a:latin typeface="+mn-ea"/>
                        <a:cs typeface="Times New Roman" panose="02020603050405020304" pitchFamily="18" charset="0"/>
                      </a:rPr>
                      <m:t>𝜃</m:t>
                    </m:r>
                  </m:oMath>
                </a14:m>
                <a:endParaRPr lang="en-US" altLang="zh-CN" dirty="0">
                  <a:latin typeface="+mn-ea"/>
                  <a:cs typeface="Times New Roman" panose="02020603050405020304" pitchFamily="18" charset="0"/>
                </a:endParaRPr>
              </a:p>
              <a:p>
                <a:pPr>
                  <a:lnSpc>
                    <a:spcPct val="125000"/>
                  </a:lnSpc>
                </a:pPr>
                <a:endParaRPr lang="en-US" altLang="zh-CN" dirty="0">
                  <a:latin typeface="+mn-ea"/>
                  <a:cs typeface="Times New Roman" panose="02020603050405020304" pitchFamily="18" charset="0"/>
                </a:endParaRPr>
              </a:p>
              <a:p>
                <a:pPr>
                  <a:lnSpc>
                    <a:spcPct val="125000"/>
                  </a:lnSpc>
                </a:pPr>
                <a:r>
                  <a:rPr lang="zh-CN" altLang="en-US" dirty="0">
                    <a:latin typeface="+mn-ea"/>
                    <a:cs typeface="Times New Roman" panose="02020603050405020304" pitchFamily="18" charset="0"/>
                  </a:rPr>
                  <a:t>对子模型进行</a:t>
                </a:r>
                <a14:m>
                  <m:oMath xmlns:m="http://schemas.openxmlformats.org/officeDocument/2006/math">
                    <m:r>
                      <a:rPr lang="en-US" altLang="zh-CN" b="0" i="0" smtClean="0">
                        <a:latin typeface="+mn-ea"/>
                        <a:cs typeface="Times New Roman" panose="02020603050405020304" pitchFamily="18" charset="0"/>
                      </a:rPr>
                      <m:t> </m:t>
                    </m:r>
                    <m:r>
                      <a:rPr lang="en-US" altLang="zh-CN" b="0" i="1" smtClean="0">
                        <a:latin typeface="+mn-ea"/>
                        <a:cs typeface="Times New Roman" panose="02020603050405020304" pitchFamily="18" charset="0"/>
                      </a:rPr>
                      <m:t>𝑙</m:t>
                    </m:r>
                  </m:oMath>
                </a14:m>
                <a:r>
                  <a:rPr lang="zh-CN" altLang="en-US" dirty="0">
                    <a:latin typeface="+mn-ea"/>
                    <a:cs typeface="Times New Roman" panose="02020603050405020304" pitchFamily="18" charset="0"/>
                  </a:rPr>
                  <a:t> 步的更新， 得到 </a:t>
                </a:r>
                <a14:m>
                  <m:oMath xmlns:m="http://schemas.openxmlformats.org/officeDocument/2006/math">
                    <m:r>
                      <a:rPr lang="en-US" altLang="zh-CN" b="0" i="1" smtClean="0">
                        <a:latin typeface="+mn-ea"/>
                        <a:cs typeface="Times New Roman" panose="02020603050405020304" pitchFamily="18" charset="0"/>
                      </a:rPr>
                      <m:t>𝑛</m:t>
                    </m:r>
                  </m:oMath>
                </a14:m>
                <a:r>
                  <a:rPr lang="zh-CN" altLang="en-US" dirty="0">
                    <a:latin typeface="+mn-ea"/>
                    <a:cs typeface="Times New Roman" panose="02020603050405020304" pitchFamily="18" charset="0"/>
                  </a:rPr>
                  <a:t> 个特定域的子模型</a:t>
                </a:r>
                <a14:m>
                  <m:oMath xmlns:m="http://schemas.openxmlformats.org/officeDocument/2006/math">
                    <m:sSub>
                      <m:sSubPr>
                        <m:ctrlPr>
                          <a:rPr lang="en-US" altLang="zh-CN" i="1" dirty="0">
                            <a:latin typeface="+mn-ea"/>
                            <a:cs typeface="Times New Roman" panose="02020603050405020304" pitchFamily="18" charset="0"/>
                          </a:rPr>
                        </m:ctrlPr>
                      </m:sSubPr>
                      <m:e>
                        <m:r>
                          <a:rPr lang="en-US" altLang="zh-CN" b="0" i="1" dirty="0" smtClean="0">
                            <a:latin typeface="+mn-ea"/>
                            <a:cs typeface="Times New Roman" panose="02020603050405020304" pitchFamily="18" charset="0"/>
                          </a:rPr>
                          <m:t> </m:t>
                        </m:r>
                        <m:r>
                          <a:rPr lang="zh-CN" altLang="en-US" i="1" dirty="0">
                            <a:latin typeface="+mn-ea"/>
                            <a:cs typeface="Times New Roman" panose="02020603050405020304" pitchFamily="18" charset="0"/>
                          </a:rPr>
                          <m:t>𝜙</m:t>
                        </m:r>
                      </m:e>
                      <m:sub>
                        <m:r>
                          <a:rPr lang="en-US" altLang="zh-CN" i="1" dirty="0">
                            <a:latin typeface="+mn-ea"/>
                            <a:cs typeface="Times New Roman" panose="02020603050405020304" pitchFamily="18" charset="0"/>
                          </a:rPr>
                          <m:t>𝑖</m:t>
                        </m:r>
                        <m:r>
                          <a:rPr lang="en-US" altLang="zh-CN" i="1" dirty="0">
                            <a:latin typeface="+mn-ea"/>
                            <a:cs typeface="Times New Roman" panose="02020603050405020304" pitchFamily="18" charset="0"/>
                          </a:rPr>
                          <m:t>,</m:t>
                        </m:r>
                        <m:r>
                          <a:rPr lang="en-US" altLang="zh-CN" i="1" dirty="0">
                            <a:latin typeface="+mn-ea"/>
                            <a:cs typeface="Times New Roman" panose="02020603050405020304" pitchFamily="18" charset="0"/>
                          </a:rPr>
                          <m:t>𝑙</m:t>
                        </m:r>
                      </m:sub>
                    </m:sSub>
                  </m:oMath>
                </a14:m>
                <a:endParaRPr lang="en-US" altLang="zh-CN" dirty="0">
                  <a:latin typeface="+mn-ea"/>
                  <a:cs typeface="Times New Roman" panose="02020603050405020304" pitchFamily="18" charset="0"/>
                </a:endParaRPr>
              </a:p>
              <a:p>
                <a:pPr>
                  <a:lnSpc>
                    <a:spcPct val="125000"/>
                  </a:lnSpc>
                </a:pPr>
                <a:endParaRPr lang="en-US" altLang="zh-CN" dirty="0">
                  <a:latin typeface="+mn-ea"/>
                  <a:cs typeface="Times New Roman" panose="02020603050405020304" pitchFamily="18" charset="0"/>
                </a:endParaRPr>
              </a:p>
              <a:p>
                <a:pPr>
                  <a:lnSpc>
                    <a:spcPct val="125000"/>
                  </a:lnSpc>
                </a:pPr>
                <a14:m>
                  <m:oMath xmlns:m="http://schemas.openxmlformats.org/officeDocument/2006/math">
                    <m:sSub>
                      <m:sSubPr>
                        <m:ctrlPr>
                          <a:rPr lang="en-US" altLang="zh-CN" i="1" dirty="0">
                            <a:latin typeface="+mn-ea"/>
                            <a:cs typeface="Times New Roman" panose="02020603050405020304" pitchFamily="18" charset="0"/>
                          </a:rPr>
                        </m:ctrlPr>
                      </m:sSubPr>
                      <m:e>
                        <m:eqArr>
                          <m:eqArrPr>
                            <m:ctrlPr>
                              <a:rPr lang="en-US" altLang="zh-CN" i="1" dirty="0">
                                <a:latin typeface="+mn-ea"/>
                                <a:cs typeface="Times New Roman" panose="02020603050405020304" pitchFamily="18" charset="0"/>
                              </a:rPr>
                            </m:ctrlPr>
                          </m:eqArrPr>
                          <m:e>
                            <m:r>
                              <a:rPr lang="en-US" altLang="zh-CN" i="1" dirty="0">
                                <a:latin typeface="+mn-ea"/>
                                <a:cs typeface="Times New Roman" panose="02020603050405020304" pitchFamily="18" charset="0"/>
                              </a:rPr>
                              <m:t> </m:t>
                            </m:r>
                          </m:e>
                          <m:e>
                            <m:r>
                              <a:rPr lang="zh-CN" altLang="en-US" i="1" dirty="0">
                                <a:latin typeface="+mn-ea"/>
                                <a:cs typeface="Times New Roman" panose="02020603050405020304" pitchFamily="18" charset="0"/>
                              </a:rPr>
                              <m:t>𝜙</m:t>
                            </m:r>
                          </m:e>
                        </m:eqArr>
                      </m:e>
                      <m:sub>
                        <m:r>
                          <a:rPr lang="en-US" altLang="zh-CN" i="1" dirty="0">
                            <a:latin typeface="+mn-ea"/>
                            <a:cs typeface="Times New Roman" panose="02020603050405020304" pitchFamily="18" charset="0"/>
                          </a:rPr>
                          <m:t>𝑖</m:t>
                        </m:r>
                        <m:r>
                          <a:rPr lang="en-US" altLang="zh-CN" i="1" dirty="0">
                            <a:latin typeface="+mn-ea"/>
                            <a:cs typeface="Times New Roman" panose="02020603050405020304" pitchFamily="18" charset="0"/>
                          </a:rPr>
                          <m:t>,</m:t>
                        </m:r>
                        <m:r>
                          <a:rPr lang="en-US" altLang="zh-CN" i="1" dirty="0">
                            <a:latin typeface="+mn-ea"/>
                            <a:cs typeface="Times New Roman" panose="02020603050405020304" pitchFamily="18" charset="0"/>
                          </a:rPr>
                          <m:t>𝑙</m:t>
                        </m:r>
                      </m:sub>
                    </m:sSub>
                  </m:oMath>
                </a14:m>
                <a:r>
                  <a:rPr lang="zh-CN" altLang="en-US" dirty="0">
                    <a:latin typeface="+mn-ea"/>
                    <a:cs typeface="Times New Roman" panose="02020603050405020304" pitchFamily="18" charset="0"/>
                  </a:rPr>
                  <a:t>中</a:t>
                </a:r>
                <a:r>
                  <a:rPr lang="zh-CN" altLang="zh-CN" dirty="0">
                    <a:latin typeface="+mn-ea"/>
                  </a:rPr>
                  <a:t>第</a:t>
                </a:r>
                <a14:m>
                  <m:oMath xmlns:m="http://schemas.openxmlformats.org/officeDocument/2006/math">
                    <m:r>
                      <a:rPr lang="zh-CN" altLang="zh-CN" i="1" dirty="0" smtClean="0">
                        <a:latin typeface="+mn-ea"/>
                      </a:rPr>
                      <m:t> </m:t>
                    </m:r>
                    <m:r>
                      <a:rPr lang="zh-CN" altLang="zh-CN" i="1" dirty="0">
                        <a:latin typeface="+mn-ea"/>
                      </a:rPr>
                      <m:t>𝑚</m:t>
                    </m:r>
                    <m:r>
                      <a:rPr lang="zh-CN" altLang="zh-CN" i="1" dirty="0">
                        <a:latin typeface="+mn-ea"/>
                      </a:rPr>
                      <m:t> </m:t>
                    </m:r>
                    <m:r>
                      <a:rPr lang="zh-CN" altLang="en-US" i="1" dirty="0" smtClean="0">
                        <a:latin typeface="+mn-ea"/>
                      </a:rPr>
                      <m:t>组</m:t>
                    </m:r>
                  </m:oMath>
                </a14:m>
                <a:r>
                  <a:rPr lang="zh-CN" altLang="zh-CN" dirty="0">
                    <a:latin typeface="+mn-ea"/>
                  </a:rPr>
                  <a:t>参数</a:t>
                </a:r>
                <a:r>
                  <a:rPr lang="zh-CN" altLang="en-US" dirty="0">
                    <a:latin typeface="+mn-ea"/>
                  </a:rPr>
                  <a:t>向量</a:t>
                </a:r>
                <a:r>
                  <a:rPr lang="zh-CN" altLang="zh-CN" dirty="0">
                    <a:latin typeface="+mn-ea"/>
                  </a:rPr>
                  <a:t>的更新方向</a:t>
                </a:r>
                <a:r>
                  <a:rPr lang="zh-CN" altLang="en-US" dirty="0">
                    <a:latin typeface="+mn-ea"/>
                  </a:rPr>
                  <a:t>表示为</a:t>
                </a:r>
                <a:r>
                  <a:rPr lang="zh-CN" altLang="zh-CN" dirty="0">
                    <a:latin typeface="+mn-ea"/>
                  </a:rPr>
                  <a:t>：</a:t>
                </a:r>
                <a:endParaRPr lang="en-US" altLang="zh-CN" dirty="0">
                  <a:latin typeface="+mn-ea"/>
                </a:endParaRPr>
              </a:p>
              <a:p>
                <a:pPr>
                  <a:lnSpc>
                    <a:spcPct val="125000"/>
                  </a:lnSpc>
                </a:pPr>
                <a14:m>
                  <m:oMathPara xmlns:m="http://schemas.openxmlformats.org/officeDocument/2006/math">
                    <m:oMathParaPr>
                      <m:jc m:val="centerGroup"/>
                    </m:oMathParaPr>
                    <m:oMath xmlns:m="http://schemas.openxmlformats.org/officeDocument/2006/math">
                      <m:sSubSup>
                        <m:sSubSupPr>
                          <m:ctrlPr>
                            <a:rPr lang="en-US" altLang="zh-CN" i="1" smtClean="0">
                              <a:latin typeface="+mn-ea"/>
                            </a:rPr>
                          </m:ctrlPr>
                        </m:sSubSupPr>
                        <m:e>
                          <m:r>
                            <m:rPr>
                              <m:sty m:val="p"/>
                            </m:rPr>
                            <a:rPr lang="en-US" altLang="zh-CN" i="1" smtClean="0">
                              <a:latin typeface="+mn-ea"/>
                            </a:rPr>
                            <m:t>Δ</m:t>
                          </m:r>
                        </m:e>
                        <m:sub>
                          <m:r>
                            <a:rPr lang="en-US" altLang="zh-CN" i="1" smtClean="0">
                              <a:latin typeface="+mn-ea"/>
                            </a:rPr>
                            <m:t>𝑖</m:t>
                          </m:r>
                        </m:sub>
                        <m:sup>
                          <m:d>
                            <m:dPr>
                              <m:ctrlPr>
                                <a:rPr lang="en-US" altLang="zh-CN" i="1" smtClean="0">
                                  <a:latin typeface="+mn-ea"/>
                                </a:rPr>
                              </m:ctrlPr>
                            </m:dPr>
                            <m:e>
                              <m:r>
                                <a:rPr lang="en-US" altLang="zh-CN" i="1" smtClean="0">
                                  <a:latin typeface="+mn-ea"/>
                                </a:rPr>
                                <m:t>𝑚</m:t>
                              </m:r>
                            </m:e>
                          </m:d>
                        </m:sup>
                      </m:sSubSup>
                      <m:r>
                        <a:rPr lang="en-US" altLang="zh-CN" i="1" smtClean="0">
                          <a:latin typeface="+mn-ea"/>
                        </a:rPr>
                        <m:t>=</m:t>
                      </m:r>
                      <m:sSubSup>
                        <m:sSubSupPr>
                          <m:ctrlPr>
                            <a:rPr lang="en-US" altLang="zh-CN" i="1" smtClean="0">
                              <a:latin typeface="+mn-ea"/>
                            </a:rPr>
                          </m:ctrlPr>
                        </m:sSubSupPr>
                        <m:e>
                          <m:r>
                            <a:rPr lang="en-US" altLang="zh-CN" i="1" smtClean="0">
                              <a:latin typeface="+mn-ea"/>
                            </a:rPr>
                            <m:t>𝜙</m:t>
                          </m:r>
                        </m:e>
                        <m:sub>
                          <m:r>
                            <a:rPr lang="en-US" altLang="zh-CN" i="1" smtClean="0">
                              <a:latin typeface="+mn-ea"/>
                            </a:rPr>
                            <m:t>𝑖</m:t>
                          </m:r>
                          <m:r>
                            <a:rPr lang="en-US" altLang="zh-CN" i="1" smtClean="0">
                              <a:latin typeface="+mn-ea"/>
                            </a:rPr>
                            <m:t>,</m:t>
                          </m:r>
                          <m:r>
                            <a:rPr lang="en-US" altLang="zh-CN" b="0" i="1" smtClean="0">
                              <a:latin typeface="+mn-ea"/>
                            </a:rPr>
                            <m:t>𝑙</m:t>
                          </m:r>
                        </m:sub>
                        <m:sup>
                          <m:d>
                            <m:dPr>
                              <m:ctrlPr>
                                <a:rPr lang="en-US" altLang="zh-CN" i="1" smtClean="0">
                                  <a:latin typeface="+mn-ea"/>
                                </a:rPr>
                              </m:ctrlPr>
                            </m:dPr>
                            <m:e>
                              <m:r>
                                <a:rPr lang="en-US" altLang="zh-CN" i="1" smtClean="0">
                                  <a:latin typeface="+mn-ea"/>
                                </a:rPr>
                                <m:t>𝑚</m:t>
                              </m:r>
                            </m:e>
                          </m:d>
                        </m:sup>
                      </m:sSubSup>
                      <m:r>
                        <a:rPr lang="en-US" altLang="zh-CN" i="1" smtClean="0">
                          <a:latin typeface="+mn-ea"/>
                        </a:rPr>
                        <m:t>−</m:t>
                      </m:r>
                      <m:sSup>
                        <m:sSupPr>
                          <m:ctrlPr>
                            <a:rPr lang="en-US" altLang="zh-CN" i="1" smtClean="0">
                              <a:latin typeface="+mn-ea"/>
                            </a:rPr>
                          </m:ctrlPr>
                        </m:sSupPr>
                        <m:e>
                          <m:r>
                            <a:rPr lang="en-US" altLang="zh-CN" i="1" smtClean="0">
                              <a:latin typeface="+mn-ea"/>
                            </a:rPr>
                            <m:t>𝜃</m:t>
                          </m:r>
                        </m:e>
                        <m:sup>
                          <m:d>
                            <m:dPr>
                              <m:ctrlPr>
                                <a:rPr lang="en-US" altLang="zh-CN" i="1" smtClean="0">
                                  <a:latin typeface="+mn-ea"/>
                                </a:rPr>
                              </m:ctrlPr>
                            </m:dPr>
                            <m:e>
                              <m:r>
                                <a:rPr lang="en-US" altLang="zh-CN" i="1" smtClean="0">
                                  <a:latin typeface="+mn-ea"/>
                                </a:rPr>
                                <m:t>𝑚</m:t>
                              </m:r>
                            </m:e>
                          </m:d>
                        </m:sup>
                      </m:sSup>
                    </m:oMath>
                  </m:oMathPara>
                </a14:m>
                <a:endParaRPr lang="en-US" altLang="zh-CN" dirty="0">
                  <a:latin typeface="+mn-ea"/>
                  <a:cs typeface="Times New Roman" panose="02020603050405020304" pitchFamily="18" charset="0"/>
                </a:endParaRPr>
              </a:p>
            </p:txBody>
          </p:sp>
        </mc:Choice>
        <mc:Fallback>
          <p:sp>
            <p:nvSpPr>
              <p:cNvPr id="7" name="文本框 6">
                <a:extLst>
                  <a:ext uri="{FF2B5EF4-FFF2-40B4-BE49-F238E27FC236}">
                    <a16:creationId xmlns:a16="http://schemas.microsoft.com/office/drawing/2014/main" id="{12DCC3DF-C220-15B0-1952-827A5DD3CA30}"/>
                  </a:ext>
                </a:extLst>
              </p:cNvPr>
              <p:cNvSpPr txBox="1">
                <a:spLocks noRot="1" noChangeAspect="1" noMove="1" noResize="1" noEditPoints="1" noAdjustHandles="1" noChangeArrowheads="1" noChangeShapeType="1" noTextEdit="1"/>
              </p:cNvSpPr>
              <p:nvPr/>
            </p:nvSpPr>
            <p:spPr>
              <a:xfrm>
                <a:off x="400045" y="3013235"/>
                <a:ext cx="4879839" cy="2831544"/>
              </a:xfrm>
              <a:prstGeom prst="rect">
                <a:avLst/>
              </a:prstGeom>
              <a:blipFill>
                <a:blip r:embed="rId7"/>
                <a:stretch>
                  <a:fillRect l="-11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19817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48C24-01DC-801D-184C-36C78599CE9B}"/>
            </a:ext>
          </a:extLst>
        </p:cNvPr>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9D3734A1-C3A2-5D7A-7017-CDEC03F308A1}"/>
              </a:ext>
            </a:extLst>
          </p:cNvPr>
          <p:cNvGraphicFramePr>
            <a:graphicFrameLocks noChangeAspect="1"/>
          </p:cNvGraphicFramePr>
          <p:nvPr/>
        </p:nvGraphicFramePr>
        <p:xfrm>
          <a:off x="5660826" y="617580"/>
          <a:ext cx="6272212" cy="4052887"/>
        </p:xfrm>
        <a:graphic>
          <a:graphicData uri="http://schemas.openxmlformats.org/presentationml/2006/ole">
            <mc:AlternateContent xmlns:mc="http://schemas.openxmlformats.org/markup-compatibility/2006">
              <mc:Choice xmlns:v="urn:schemas-microsoft-com:vml" Requires="v">
                <p:oleObj name="Visio" r:id="rId3" imgW="4953051" imgH="3200298" progId="Visio.Drawing.15">
                  <p:embed/>
                </p:oleObj>
              </mc:Choice>
              <mc:Fallback>
                <p:oleObj name="Visio" r:id="rId3" imgW="4953051" imgH="3200298" progId="Visio.Drawing.15">
                  <p:embed/>
                  <p:pic>
                    <p:nvPicPr>
                      <p:cNvPr id="3" name="对象 2">
                        <a:extLst>
                          <a:ext uri="{FF2B5EF4-FFF2-40B4-BE49-F238E27FC236}">
                            <a16:creationId xmlns:a16="http://schemas.microsoft.com/office/drawing/2014/main" id="{233A4AF7-8D7A-9C50-BC2C-AC14CDC12F75}"/>
                          </a:ext>
                        </a:extLst>
                      </p:cNvPr>
                      <p:cNvPicPr/>
                      <p:nvPr/>
                    </p:nvPicPr>
                    <p:blipFill>
                      <a:blip r:embed="rId4"/>
                      <a:stretch>
                        <a:fillRect/>
                      </a:stretch>
                    </p:blipFill>
                    <p:spPr>
                      <a:xfrm>
                        <a:off x="5660826" y="617580"/>
                        <a:ext cx="6272212" cy="4052887"/>
                      </a:xfrm>
                      <a:prstGeom prst="rect">
                        <a:avLst/>
                      </a:prstGeom>
                    </p:spPr>
                  </p:pic>
                </p:oleObj>
              </mc:Fallback>
            </mc:AlternateContent>
          </a:graphicData>
        </a:graphic>
      </p:graphicFrame>
      <p:pic>
        <p:nvPicPr>
          <p:cNvPr id="83" name="图片 3">
            <a:extLst>
              <a:ext uri="{FF2B5EF4-FFF2-40B4-BE49-F238E27FC236}">
                <a16:creationId xmlns:a16="http://schemas.microsoft.com/office/drawing/2014/main" id="{3FFF9222-7782-2B73-F7B7-56D62B954FF0}"/>
              </a:ext>
            </a:extLst>
          </p:cNvPr>
          <p:cNvPicPr>
            <a:picLocks noChangeAspect="1"/>
          </p:cNvPicPr>
          <p:nvPr/>
        </p:nvPicPr>
        <p:blipFill>
          <a:blip r:embed="rId5"/>
          <a:stretch>
            <a:fillRect/>
          </a:stretch>
        </p:blipFill>
        <p:spPr>
          <a:xfrm>
            <a:off x="10764636" y="166837"/>
            <a:ext cx="1168402" cy="312900"/>
          </a:xfrm>
          <a:prstGeom prst="rect">
            <a:avLst/>
          </a:prstGeom>
        </p:spPr>
      </p:pic>
      <p:sp>
        <p:nvSpPr>
          <p:cNvPr id="15" name="灯片编号占位符 14">
            <a:extLst>
              <a:ext uri="{FF2B5EF4-FFF2-40B4-BE49-F238E27FC236}">
                <a16:creationId xmlns:a16="http://schemas.microsoft.com/office/drawing/2014/main" id="{1107BAD9-06F2-372E-6708-3627F9837882}"/>
              </a:ext>
            </a:extLst>
          </p:cNvPr>
          <p:cNvSpPr>
            <a:spLocks noGrp="1"/>
          </p:cNvSpPr>
          <p:nvPr>
            <p:ph type="sldNum" idx="12"/>
          </p:nvPr>
        </p:nvSpPr>
        <p:spPr>
          <a:xfrm>
            <a:off x="11036594" y="6356350"/>
            <a:ext cx="672539" cy="365125"/>
          </a:xfrm>
        </p:spPr>
        <p:txBody>
          <a:bodyPr/>
          <a:lstStyle/>
          <a:p>
            <a:r>
              <a:t>10</a:t>
            </a:r>
          </a:p>
        </p:txBody>
      </p:sp>
      <p:sp>
        <p:nvSpPr>
          <p:cNvPr id="16" name="任意多边形: 形状 15">
            <a:extLst>
              <a:ext uri="{FF2B5EF4-FFF2-40B4-BE49-F238E27FC236}">
                <a16:creationId xmlns:a16="http://schemas.microsoft.com/office/drawing/2014/main" id="{3B0FA695-2031-276C-63CC-6A5AD449716A}"/>
              </a:ext>
            </a:extLst>
          </p:cNvPr>
          <p:cNvSpPr>
            <a:spLocks noGrp="1"/>
          </p:cNvSpPr>
          <p:nvPr/>
        </p:nvSpPr>
        <p:spPr>
          <a:xfrm>
            <a:off x="129539" y="225889"/>
            <a:ext cx="3487645" cy="508923"/>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911F22"/>
          </a:solidFill>
          <a:ln w="38100">
            <a:solidFill>
              <a:srgbClr val="911F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61" name="矩形 60">
            <a:extLst>
              <a:ext uri="{FF2B5EF4-FFF2-40B4-BE49-F238E27FC236}">
                <a16:creationId xmlns:a16="http://schemas.microsoft.com/office/drawing/2014/main" id="{DCD479C4-8885-FBBD-2A0E-BD801EC3160A}"/>
              </a:ext>
            </a:extLst>
          </p:cNvPr>
          <p:cNvSpPr>
            <a:spLocks noGrp="1"/>
          </p:cNvSpPr>
          <p:nvPr/>
        </p:nvSpPr>
        <p:spPr>
          <a:xfrm>
            <a:off x="373031" y="256095"/>
            <a:ext cx="2874505" cy="461665"/>
          </a:xfrm>
          <a:prstGeom prst="rect">
            <a:avLst/>
          </a:prstGeom>
        </p:spPr>
        <p:txBody>
          <a:bodyPr wrap="none">
            <a:spAutoFit/>
          </a:bodyPr>
          <a:lstStyle/>
          <a:p>
            <a:r>
              <a:rPr lang="zh-CN" altLang="en-US" sz="2400" b="1" dirty="0">
                <a:solidFill>
                  <a:schemeClr val="bg1"/>
                </a:solidFill>
                <a:latin typeface="字魂105号-简雅黑"/>
                <a:ea typeface="字魂105号-简雅黑"/>
                <a:cs typeface="字魂105号-简雅黑"/>
              </a:rPr>
              <a:t>跨接收机 </a:t>
            </a:r>
            <a:r>
              <a:rPr lang="en-US" altLang="zh-CN" sz="2400" b="1" dirty="0">
                <a:solidFill>
                  <a:schemeClr val="bg1"/>
                </a:solidFill>
                <a:latin typeface="字魂105号-简雅黑"/>
                <a:ea typeface="字魂105号-简雅黑"/>
                <a:cs typeface="字魂105号-简雅黑"/>
              </a:rPr>
              <a:t>RFFI </a:t>
            </a:r>
            <a:r>
              <a:rPr lang="zh-CN" altLang="en-US" sz="2400" b="1" dirty="0">
                <a:solidFill>
                  <a:schemeClr val="bg1"/>
                </a:solidFill>
                <a:latin typeface="字魂105号-简雅黑"/>
                <a:ea typeface="字魂105号-简雅黑"/>
                <a:cs typeface="字魂105号-简雅黑"/>
              </a:rPr>
              <a:t>框架</a:t>
            </a:r>
          </a:p>
        </p:txBody>
      </p:sp>
      <p:sp>
        <p:nvSpPr>
          <p:cNvPr id="62" name="文本框 61">
            <a:extLst>
              <a:ext uri="{FF2B5EF4-FFF2-40B4-BE49-F238E27FC236}">
                <a16:creationId xmlns:a16="http://schemas.microsoft.com/office/drawing/2014/main" id="{1D3B7A22-DEE0-0828-1E47-23D99A39954A}"/>
              </a:ext>
            </a:extLst>
          </p:cNvPr>
          <p:cNvSpPr>
            <a:spLocks noGrp="1"/>
          </p:cNvSpPr>
          <p:nvPr/>
        </p:nvSpPr>
        <p:spPr>
          <a:xfrm>
            <a:off x="39866" y="791501"/>
            <a:ext cx="7899318" cy="369332"/>
          </a:xfrm>
          <a:prstGeom prst="rect">
            <a:avLst/>
          </a:prstGeom>
          <a:noFill/>
        </p:spPr>
        <p:txBody>
          <a:bodyPr wrap="square">
            <a:spAutoFit/>
          </a:bodyPr>
          <a:lstStyle/>
          <a:p>
            <a:r>
              <a:rPr lang="en-US" altLang="zh-CN" b="1" dirty="0">
                <a:solidFill>
                  <a:srgbClr val="911F22"/>
                </a:solidFill>
                <a:latin typeface="微软雅黑"/>
                <a:ea typeface="微软雅黑"/>
                <a:cs typeface="微软雅黑"/>
              </a:rPr>
              <a:t>Gate-Reptile</a:t>
            </a:r>
            <a:r>
              <a:rPr lang="zh-CN" altLang="en-US" b="1" dirty="0">
                <a:solidFill>
                  <a:srgbClr val="911F22"/>
                </a:solidFill>
                <a:latin typeface="微软雅黑"/>
                <a:ea typeface="微软雅黑"/>
                <a:cs typeface="微软雅黑"/>
              </a:rPr>
              <a:t>：抑制跨接收机更新冲突，保留共享判别方向</a:t>
            </a:r>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6DCE4597-7CB5-7851-99B7-7600C580DFEC}"/>
                  </a:ext>
                </a:extLst>
              </p:cNvPr>
              <p:cNvSpPr txBox="1"/>
              <p:nvPr/>
            </p:nvSpPr>
            <p:spPr>
              <a:xfrm>
                <a:off x="6291040" y="4670467"/>
                <a:ext cx="5057797" cy="2063322"/>
              </a:xfrm>
              <a:prstGeom prst="rect">
                <a:avLst/>
              </a:prstGeom>
              <a:noFill/>
            </p:spPr>
            <p:txBody>
              <a:bodyPr wrap="square" rtlCol="0">
                <a:spAutoFit/>
              </a:bodyPr>
              <a:lstStyle/>
              <a:p>
                <a:pPr marL="285750" indent="-285750">
                  <a:buFont typeface="Wingdings" panose="05000000000000000000" pitchFamily="2" charset="2"/>
                  <a:buChar char="Ø"/>
                </a:pPr>
                <a:r>
                  <a:rPr lang="en-US" altLang="zh-CN" dirty="0">
                    <a:latin typeface="宋体" panose="02010600030101010101" pitchFamily="2" charset="-122"/>
                    <a:ea typeface="宋体" panose="02010600030101010101" pitchFamily="2" charset="-122"/>
                  </a:rPr>
                  <a:t>3.</a:t>
                </a:r>
                <a:r>
                  <a:rPr lang="zh-CN" altLang="en-US" dirty="0">
                    <a:latin typeface="+mn-ea"/>
                  </a:rPr>
                  <a:t>外循环更新</a:t>
                </a:r>
                <a:endParaRPr lang="en-US" altLang="zh-CN" dirty="0">
                  <a:latin typeface="+mn-ea"/>
                </a:endParaRPr>
              </a:p>
              <a:p>
                <a:r>
                  <a:rPr lang="zh-CN" altLang="en-US" dirty="0">
                    <a:latin typeface="+mn-ea"/>
                  </a:rPr>
                  <a:t>    第</a:t>
                </a:r>
                <a:r>
                  <a:rPr lang="en-US" altLang="zh-CN" dirty="0">
                    <a:latin typeface="+mn-ea"/>
                  </a:rPr>
                  <a:t>m</a:t>
                </a:r>
                <a:r>
                  <a:rPr lang="zh-CN" altLang="en-US" dirty="0">
                    <a:latin typeface="+mn-ea"/>
                  </a:rPr>
                  <a:t>组参数上两个接收机模型的平均更新</a:t>
                </a:r>
                <a:endParaRPr lang="en-US" altLang="zh-CN" dirty="0">
                  <a:latin typeface="+mn-ea"/>
                </a:endParaRPr>
              </a:p>
              <a:p>
                <a14:m>
                  <m:oMathPara xmlns:m="http://schemas.openxmlformats.org/officeDocument/2006/math">
                    <m:oMathParaPr>
                      <m:jc m:val="centerGroup"/>
                    </m:oMathParaPr>
                    <m:oMath xmlns:m="http://schemas.openxmlformats.org/officeDocument/2006/math">
                      <m:sSup>
                        <m:sSupPr>
                          <m:ctrlPr>
                            <a:rPr lang="zh-CN" altLang="en-US" i="1" smtClean="0">
                              <a:latin typeface="Cambria Math" panose="02040503050406030204" pitchFamily="18" charset="0"/>
                            </a:rPr>
                          </m:ctrlPr>
                        </m:sSupPr>
                        <m:e>
                          <m:bar>
                            <m:barPr>
                              <m:pos m:val="top"/>
                              <m:ctrlPr>
                                <a:rPr lang="zh-CN" altLang="en-US" i="1" smtClean="0">
                                  <a:latin typeface="Cambria Math" panose="02040503050406030204" pitchFamily="18" charset="0"/>
                                </a:rPr>
                              </m:ctrlPr>
                            </m:barPr>
                            <m:e>
                              <m:r>
                                <m:rPr>
                                  <m:sty m:val="p"/>
                                </m:rPr>
                                <a:rPr lang="zh-CN" altLang="en-US" i="1" smtClean="0">
                                  <a:latin typeface="Cambria Math" panose="02040503050406030204" pitchFamily="18" charset="0"/>
                                </a:rPr>
                                <m:t>Δ</m:t>
                              </m:r>
                            </m:e>
                          </m:bar>
                        </m:e>
                        <m: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𝑚</m:t>
                              </m:r>
                            </m:e>
                          </m:d>
                        </m:sup>
                      </m:sSup>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𝑛</m:t>
                          </m:r>
                        </m:den>
                      </m:f>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𝑛</m:t>
                          </m:r>
                        </m:sup>
                        <m:e>
                          <m:sSubSup>
                            <m:sSubSupPr>
                              <m:ctrlPr>
                                <a:rPr lang="zh-CN" altLang="en-US" i="1" smtClean="0">
                                  <a:latin typeface="Cambria Math" panose="02040503050406030204" pitchFamily="18" charset="0"/>
                                </a:rPr>
                              </m:ctrlPr>
                            </m:sSubSupPr>
                            <m:e>
                              <m:r>
                                <m:rPr>
                                  <m:sty m:val="p"/>
                                </m:rPr>
                                <a:rPr lang="zh-CN" altLang="en-US" i="1" smtClean="0">
                                  <a:latin typeface="Cambria Math" panose="02040503050406030204" pitchFamily="18" charset="0"/>
                                </a:rPr>
                                <m:t>Δ</m:t>
                              </m:r>
                            </m:e>
                            <m:sub>
                              <m:r>
                                <a:rPr lang="zh-CN" altLang="en-US" i="1" smtClean="0">
                                  <a:latin typeface="Cambria Math" panose="02040503050406030204" pitchFamily="18" charset="0"/>
                                </a:rPr>
                                <m:t>𝑖</m:t>
                              </m:r>
                            </m:sub>
                            <m: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𝑚</m:t>
                                  </m:r>
                                </m:e>
                              </m:d>
                            </m:sup>
                          </m:sSubSup>
                        </m:e>
                      </m:nary>
                    </m:oMath>
                  </m:oMathPara>
                </a14:m>
                <a:endParaRPr lang="en-US" altLang="zh-CN" dirty="0">
                  <a:latin typeface="+mn-ea"/>
                </a:endParaRPr>
              </a:p>
              <a:p>
                <a:r>
                  <a:rPr lang="en-US" altLang="zh-CN" dirty="0">
                    <a:latin typeface="+mn-ea"/>
                  </a:rPr>
                  <a:t>     </a:t>
                </a:r>
                <a:r>
                  <a:rPr lang="zh-CN" altLang="en-US" dirty="0">
                    <a:latin typeface="+mn-ea"/>
                  </a:rPr>
                  <a:t>门控系数调节更新大小：</a:t>
                </a:r>
                <a:endParaRPr lang="en-US" altLang="zh-CN" dirty="0">
                  <a:latin typeface="+mn-ea"/>
                </a:endParaRPr>
              </a:p>
              <a:p>
                <a14:m>
                  <m:oMathPara xmlns:m="http://schemas.openxmlformats.org/officeDocument/2006/math">
                    <m:oMathParaPr>
                      <m:jc m:val="centerGroup"/>
                    </m:oMathParaPr>
                    <m:oMath xmlns:m="http://schemas.openxmlformats.org/officeDocument/2006/math">
                      <m:sSup>
                        <m:sSupPr>
                          <m:ctrlPr>
                            <a:rPr lang="zh-CN" altLang="en-US" dirty="0" smtClean="0">
                              <a:latin typeface="Cambria Math" panose="02040503050406030204" pitchFamily="18" charset="0"/>
                            </a:rPr>
                          </m:ctrlPr>
                        </m:sSupPr>
                        <m:e>
                          <m:r>
                            <a:rPr lang="zh-CN" altLang="en-US" i="1" dirty="0">
                              <a:latin typeface="Cambria Math" panose="02040503050406030204" pitchFamily="18" charset="0"/>
                            </a:rPr>
                            <m:t>𝜃</m:t>
                          </m:r>
                        </m:e>
                        <m: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𝑚</m:t>
                              </m:r>
                            </m:e>
                          </m:d>
                        </m:sup>
                      </m:sSup>
                      <m:r>
                        <a:rPr lang="zh-CN" altLang="en-US" i="0" dirty="0">
                          <a:latin typeface="Cambria Math" panose="02040503050406030204" pitchFamily="18" charset="0"/>
                        </a:rPr>
                        <m:t>←</m:t>
                      </m:r>
                      <m:sSup>
                        <m:sSupPr>
                          <m:ctrlPr>
                            <a:rPr lang="zh-CN" altLang="en-US" i="1" dirty="0">
                              <a:latin typeface="Cambria Math" panose="02040503050406030204" pitchFamily="18" charset="0"/>
                            </a:rPr>
                          </m:ctrlPr>
                        </m:sSupPr>
                        <m:e>
                          <m:r>
                            <a:rPr lang="zh-CN" altLang="en-US" i="1" dirty="0">
                              <a:latin typeface="Cambria Math" panose="02040503050406030204" pitchFamily="18" charset="0"/>
                            </a:rPr>
                            <m:t>𝜃</m:t>
                          </m:r>
                        </m:e>
                        <m: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𝑚</m:t>
                              </m:r>
                            </m:e>
                          </m:d>
                        </m:sup>
                      </m:sSup>
                      <m:r>
                        <a:rPr lang="zh-CN" altLang="en-US" i="0" dirty="0">
                          <a:latin typeface="Cambria Math" panose="02040503050406030204" pitchFamily="18" charset="0"/>
                        </a:rPr>
                        <m:t>+</m:t>
                      </m:r>
                      <m:r>
                        <a:rPr lang="zh-CN" altLang="en-US" i="1" dirty="0">
                          <a:latin typeface="Cambria Math" panose="02040503050406030204" pitchFamily="18" charset="0"/>
                        </a:rPr>
                        <m:t>𝛽</m:t>
                      </m:r>
                      <m:sSup>
                        <m:sSupPr>
                          <m:ctrlPr>
                            <a:rPr lang="zh-CN" altLang="en-US" i="1" dirty="0">
                              <a:latin typeface="Cambria Math" panose="02040503050406030204" pitchFamily="18" charset="0"/>
                            </a:rPr>
                          </m:ctrlPr>
                        </m:sSupPr>
                        <m:e>
                          <m:r>
                            <a:rPr lang="zh-CN" altLang="en-US" i="1" dirty="0">
                              <a:latin typeface="Cambria Math" panose="02040503050406030204" pitchFamily="18" charset="0"/>
                            </a:rPr>
                            <m:t>𝑔</m:t>
                          </m:r>
                        </m:e>
                        <m: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𝑚</m:t>
                              </m:r>
                            </m:e>
                          </m:d>
                        </m:sup>
                      </m:sSup>
                      <m:sSup>
                        <m:sSupPr>
                          <m:ctrlPr>
                            <a:rPr lang="zh-CN" altLang="en-US" i="1" dirty="0">
                              <a:latin typeface="Cambria Math" panose="02040503050406030204" pitchFamily="18" charset="0"/>
                            </a:rPr>
                          </m:ctrlPr>
                        </m:sSupPr>
                        <m:e>
                          <m:bar>
                            <m:barPr>
                              <m:pos m:val="top"/>
                              <m:ctrlPr>
                                <a:rPr lang="zh-CN" altLang="en-US" i="1" dirty="0">
                                  <a:latin typeface="Cambria Math" panose="02040503050406030204" pitchFamily="18" charset="0"/>
                                </a:rPr>
                              </m:ctrlPr>
                            </m:barPr>
                            <m:e>
                              <m:r>
                                <m:rPr>
                                  <m:sty m:val="p"/>
                                </m:rPr>
                                <a:rPr lang="zh-CN" altLang="en-US" i="0" dirty="0">
                                  <a:latin typeface="Cambria Math" panose="02040503050406030204" pitchFamily="18" charset="0"/>
                                </a:rPr>
                                <m:t>Δ</m:t>
                              </m:r>
                            </m:e>
                          </m:bar>
                        </m:e>
                        <m: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𝑚</m:t>
                              </m:r>
                            </m:e>
                          </m:d>
                        </m:sup>
                      </m:sSup>
                    </m:oMath>
                  </m:oMathPara>
                </a14:m>
                <a:endParaRPr lang="zh-CN" altLang="en-US" dirty="0">
                  <a:latin typeface="+mn-ea"/>
                </a:endParaRPr>
              </a:p>
            </p:txBody>
          </p:sp>
        </mc:Choice>
        <mc:Fallback>
          <p:sp>
            <p:nvSpPr>
              <p:cNvPr id="8" name="文本框 7">
                <a:extLst>
                  <a:ext uri="{FF2B5EF4-FFF2-40B4-BE49-F238E27FC236}">
                    <a16:creationId xmlns:a16="http://schemas.microsoft.com/office/drawing/2014/main" id="{6DCE4597-7CB5-7851-99B7-7600C580DFEC}"/>
                  </a:ext>
                </a:extLst>
              </p:cNvPr>
              <p:cNvSpPr txBox="1">
                <a:spLocks noRot="1" noChangeAspect="1" noMove="1" noResize="1" noEditPoints="1" noAdjustHandles="1" noChangeArrowheads="1" noChangeShapeType="1" noTextEdit="1"/>
              </p:cNvSpPr>
              <p:nvPr/>
            </p:nvSpPr>
            <p:spPr>
              <a:xfrm>
                <a:off x="6291040" y="4670467"/>
                <a:ext cx="5057797" cy="2063322"/>
              </a:xfrm>
              <a:prstGeom prst="rect">
                <a:avLst/>
              </a:prstGeom>
              <a:blipFill>
                <a:blip r:embed="rId6"/>
                <a:stretch>
                  <a:fillRect l="-843" t="-23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5DE052F0-E917-7E24-8D0E-90F4ABC9D9E3}"/>
                  </a:ext>
                </a:extLst>
              </p:cNvPr>
              <p:cNvSpPr txBox="1"/>
              <p:nvPr/>
            </p:nvSpPr>
            <p:spPr>
              <a:xfrm>
                <a:off x="221473" y="1419935"/>
                <a:ext cx="5057798" cy="4864152"/>
              </a:xfrm>
              <a:prstGeom prst="rect">
                <a:avLst/>
              </a:prstGeom>
              <a:noFill/>
            </p:spPr>
            <p:txBody>
              <a:bodyPr wrap="square" rtlCol="0">
                <a:spAutoFit/>
              </a:bodyPr>
              <a:lstStyle/>
              <a:p>
                <a:r>
                  <a:rPr lang="zh-CN" altLang="en-US" dirty="0">
                    <a:latin typeface="Times New Roman" panose="02020603050405020304" pitchFamily="18" charset="0"/>
                    <a:cs typeface="Times New Roman" panose="02020603050405020304" pitchFamily="18" charset="0"/>
                  </a:rPr>
                  <a:t>在</a:t>
                </a:r>
                <a:r>
                  <a:rPr lang="zh-CN" altLang="zh-CN" dirty="0">
                    <a:latin typeface="Times New Roman" panose="02020603050405020304" pitchFamily="18" charset="0"/>
                    <a:cs typeface="Times New Roman" panose="02020603050405020304" pitchFamily="18" charset="0"/>
                  </a:rPr>
                  <a:t>两个源接收机</a:t>
                </a:r>
                <a:r>
                  <a:rPr lang="zh-CN" altLang="en-US" dirty="0">
                    <a:latin typeface="Times New Roman" panose="02020603050405020304" pitchFamily="18" charset="0"/>
                    <a:cs typeface="Times New Roman" panose="02020603050405020304" pitchFamily="18" charset="0"/>
                  </a:rPr>
                  <a:t>情况下</a:t>
                </a:r>
                <a:r>
                  <a:rPr lang="zh-CN"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可</a:t>
                </a:r>
                <a:r>
                  <a:rPr lang="zh-CN" altLang="zh-CN" dirty="0">
                    <a:latin typeface="Times New Roman" panose="02020603050405020304" pitchFamily="18" charset="0"/>
                    <a:cs typeface="Times New Roman" panose="02020603050405020304" pitchFamily="18" charset="0"/>
                  </a:rPr>
                  <a:t>计算参数更新方向的余弦相似度：</a:t>
                </a:r>
                <a:endParaRPr lang="en-US" altLang="zh-CN" dirty="0">
                  <a:latin typeface="Times New Roman" panose="02020603050405020304" pitchFamily="18"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𝑠</m:t>
                          </m:r>
                        </m:e>
                        <m: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𝑚</m:t>
                              </m:r>
                            </m:e>
                          </m:d>
                        </m:sup>
                      </m:sSup>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d>
                            <m:dPr>
                              <m:begChr m:val="⟨"/>
                              <m:endChr m:val="⟩"/>
                              <m:ctrlPr>
                                <a:rPr lang="zh-CN" altLang="en-US" i="1" smtClean="0">
                                  <a:latin typeface="Cambria Math" panose="02040503050406030204" pitchFamily="18" charset="0"/>
                                </a:rPr>
                              </m:ctrlPr>
                            </m:dPr>
                            <m:e>
                              <m:sSubSup>
                                <m:sSubSupPr>
                                  <m:ctrlPr>
                                    <a:rPr lang="zh-CN" altLang="en-US" i="1" smtClean="0">
                                      <a:latin typeface="Cambria Math" panose="02040503050406030204" pitchFamily="18" charset="0"/>
                                    </a:rPr>
                                  </m:ctrlPr>
                                </m:sSubSupPr>
                                <m:e>
                                  <m:r>
                                    <m:rPr>
                                      <m:sty m:val="p"/>
                                    </m:rPr>
                                    <a:rPr lang="zh-CN" altLang="en-US" i="1" smtClean="0">
                                      <a:latin typeface="Cambria Math" panose="02040503050406030204" pitchFamily="18" charset="0"/>
                                    </a:rPr>
                                    <m:t>Δ</m:t>
                                  </m:r>
                                </m:e>
                                <m:sub>
                                  <m:r>
                                    <a:rPr lang="zh-CN" altLang="en-US" i="1" smtClean="0">
                                      <a:latin typeface="Cambria Math" panose="02040503050406030204" pitchFamily="18" charset="0"/>
                                    </a:rPr>
                                    <m:t>1</m:t>
                                  </m:r>
                                </m:sub>
                                <m: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𝑚</m:t>
                                      </m:r>
                                    </m:e>
                                  </m:d>
                                </m:sup>
                              </m:sSubSup>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m:rPr>
                                      <m:sty m:val="p"/>
                                    </m:rPr>
                                    <a:rPr lang="zh-CN" altLang="en-US" i="1" smtClean="0">
                                      <a:latin typeface="Cambria Math" panose="02040503050406030204" pitchFamily="18" charset="0"/>
                                    </a:rPr>
                                    <m:t>Δ</m:t>
                                  </m:r>
                                </m:e>
                                <m:sub>
                                  <m:r>
                                    <a:rPr lang="zh-CN" altLang="en-US" i="1" smtClean="0">
                                      <a:latin typeface="Cambria Math" panose="02040503050406030204" pitchFamily="18" charset="0"/>
                                    </a:rPr>
                                    <m:t>2</m:t>
                                  </m:r>
                                </m:sub>
                                <m: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𝑚</m:t>
                                      </m:r>
                                    </m:e>
                                  </m:d>
                                </m:sup>
                              </m:sSubSup>
                            </m:e>
                          </m:d>
                        </m:num>
                        <m:den>
                          <m:sSub>
                            <m:sSubPr>
                              <m:ctrlPr>
                                <a:rPr lang="zh-CN" altLang="en-US" i="1" smtClean="0">
                                  <a:latin typeface="Cambria Math" panose="02040503050406030204" pitchFamily="18" charset="0"/>
                                </a:rPr>
                              </m:ctrlPr>
                            </m:sSubPr>
                            <m:e>
                              <m:d>
                                <m:dPr>
                                  <m:begChr m:val="‖"/>
                                  <m:endChr m:val="‖"/>
                                  <m:ctrlPr>
                                    <a:rPr lang="zh-CN" altLang="en-US" i="1" smtClean="0">
                                      <a:latin typeface="Cambria Math" panose="02040503050406030204" pitchFamily="18" charset="0"/>
                                    </a:rPr>
                                  </m:ctrlPr>
                                </m:dPr>
                                <m:e>
                                  <m:sSubSup>
                                    <m:sSubSupPr>
                                      <m:ctrlPr>
                                        <a:rPr lang="zh-CN" altLang="en-US" i="1" smtClean="0">
                                          <a:latin typeface="Cambria Math" panose="02040503050406030204" pitchFamily="18" charset="0"/>
                                        </a:rPr>
                                      </m:ctrlPr>
                                    </m:sSubSupPr>
                                    <m:e>
                                      <m:r>
                                        <m:rPr>
                                          <m:sty m:val="p"/>
                                        </m:rPr>
                                        <a:rPr lang="zh-CN" altLang="en-US" i="1" smtClean="0">
                                          <a:latin typeface="Cambria Math" panose="02040503050406030204" pitchFamily="18" charset="0"/>
                                        </a:rPr>
                                        <m:t>Δ</m:t>
                                      </m:r>
                                    </m:e>
                                    <m:sub>
                                      <m:r>
                                        <a:rPr lang="zh-CN" altLang="en-US" i="1" smtClean="0">
                                          <a:latin typeface="Cambria Math" panose="02040503050406030204" pitchFamily="18" charset="0"/>
                                        </a:rPr>
                                        <m:t>1</m:t>
                                      </m:r>
                                    </m:sub>
                                    <m: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𝑚</m:t>
                                          </m:r>
                                        </m:e>
                                      </m:d>
                                    </m:sup>
                                  </m:sSubSup>
                                </m:e>
                              </m:d>
                            </m:e>
                            <m:sub>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d>
                                <m:dPr>
                                  <m:begChr m:val="‖"/>
                                  <m:endChr m:val="‖"/>
                                  <m:ctrlPr>
                                    <a:rPr lang="zh-CN" altLang="en-US" i="1" smtClean="0">
                                      <a:latin typeface="Cambria Math" panose="02040503050406030204" pitchFamily="18" charset="0"/>
                                    </a:rPr>
                                  </m:ctrlPr>
                                </m:dPr>
                                <m:e>
                                  <m:sSubSup>
                                    <m:sSubSupPr>
                                      <m:ctrlPr>
                                        <a:rPr lang="zh-CN" altLang="en-US" i="1" smtClean="0">
                                          <a:latin typeface="Cambria Math" panose="02040503050406030204" pitchFamily="18" charset="0"/>
                                        </a:rPr>
                                      </m:ctrlPr>
                                    </m:sSubSupPr>
                                    <m:e>
                                      <m:r>
                                        <m:rPr>
                                          <m:sty m:val="p"/>
                                        </m:rPr>
                                        <a:rPr lang="zh-CN" altLang="en-US" i="1" smtClean="0">
                                          <a:latin typeface="Cambria Math" panose="02040503050406030204" pitchFamily="18" charset="0"/>
                                        </a:rPr>
                                        <m:t>Δ</m:t>
                                      </m:r>
                                    </m:e>
                                    <m:sub>
                                      <m:r>
                                        <a:rPr lang="zh-CN" altLang="en-US" i="1" smtClean="0">
                                          <a:latin typeface="Cambria Math" panose="02040503050406030204" pitchFamily="18" charset="0"/>
                                        </a:rPr>
                                        <m:t>2</m:t>
                                      </m:r>
                                    </m:sub>
                                    <m: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𝑚</m:t>
                                          </m:r>
                                        </m:e>
                                      </m:d>
                                    </m:sup>
                                  </m:sSubSup>
                                </m:e>
                              </m:d>
                            </m:e>
                            <m:sub>
                              <m:r>
                                <a:rPr lang="zh-CN" altLang="en-US" i="1" smtClean="0">
                                  <a:latin typeface="Cambria Math" panose="02040503050406030204" pitchFamily="18" charset="0"/>
                                </a:rPr>
                                <m:t>2</m:t>
                              </m:r>
                            </m:sub>
                          </m:sSub>
                        </m:den>
                      </m:f>
                    </m:oMath>
                  </m:oMathPara>
                </a14:m>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基于相似度计算可得到门控系数：</a:t>
                </a:r>
                <a:endParaRPr lang="en-US" altLang="zh-CN" dirty="0">
                  <a:latin typeface="Times New Roman" panose="02020603050405020304" pitchFamily="18"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𝑔</m:t>
                          </m:r>
                        </m:e>
                        <m: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𝑚</m:t>
                              </m:r>
                            </m:e>
                          </m:d>
                        </m:sup>
                      </m:sSup>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m>
                            <m:mPr>
                              <m:mcs>
                                <m:mc>
                                  <m:mcPr>
                                    <m:count m:val="2"/>
                                    <m:mcJc m:val="center"/>
                                  </m:mcPr>
                                </m:mc>
                              </m:mcs>
                              <m:ctrlPr>
                                <a:rPr lang="zh-CN" altLang="en-US" i="1" smtClean="0">
                                  <a:latin typeface="Cambria Math" panose="02040503050406030204" pitchFamily="18" charset="0"/>
                                </a:rPr>
                              </m:ctrlPr>
                            </m:mPr>
                            <m:mr>
                              <m:e>
                                <m:r>
                                  <a:rPr lang="zh-CN" altLang="en-US" i="1" smtClean="0">
                                    <a:latin typeface="Cambria Math" panose="02040503050406030204" pitchFamily="18" charset="0"/>
                                  </a:rPr>
                                  <m:t>1,</m:t>
                                </m:r>
                              </m:e>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𝑠</m:t>
                                    </m:r>
                                  </m:e>
                                  <m: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𝑚</m:t>
                                        </m:r>
                                      </m:e>
                                    </m:d>
                                  </m:sup>
                                </m:sSup>
                                <m:r>
                                  <a:rPr lang="zh-CN" altLang="en-US" i="1" smtClean="0">
                                    <a:latin typeface="Cambria Math" panose="02040503050406030204" pitchFamily="18" charset="0"/>
                                  </a:rPr>
                                  <m:t>≥0,</m:t>
                                </m:r>
                              </m:e>
                            </m:mr>
                            <m:mr>
                              <m:e>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max</m:t>
                                    </m:r>
                                  </m:fName>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𝑔</m:t>
                                            </m:r>
                                          </m:e>
                                          <m:sub>
                                            <m:r>
                                              <m:rPr>
                                                <m:sty m:val="p"/>
                                              </m:rPr>
                                              <a:rPr lang="zh-CN" altLang="en-US" i="1" smtClean="0">
                                                <a:latin typeface="Cambria Math" panose="02040503050406030204" pitchFamily="18" charset="0"/>
                                              </a:rPr>
                                              <m:t>min</m:t>
                                            </m:r>
                                          </m:sub>
                                        </m:sSub>
                                        <m:r>
                                          <a:rPr lang="zh-CN" altLang="en-US" i="1" smtClean="0">
                                            <a:latin typeface="Cambria Math" panose="02040503050406030204" pitchFamily="18" charset="0"/>
                                          </a:rPr>
                                          <m:t>,1+</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𝑠</m:t>
                                            </m:r>
                                          </m:e>
                                          <m: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𝑚</m:t>
                                                </m:r>
                                              </m:e>
                                            </m:d>
                                          </m:sup>
                                        </m:sSup>
                                      </m:e>
                                    </m:d>
                                  </m:e>
                                </m:func>
                                <m:r>
                                  <a:rPr lang="zh-CN" altLang="en-US" i="1" smtClean="0">
                                    <a:latin typeface="Cambria Math" panose="02040503050406030204" pitchFamily="18" charset="0"/>
                                  </a:rPr>
                                  <m:t>,</m:t>
                                </m:r>
                              </m:e>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𝑠</m:t>
                                    </m:r>
                                  </m:e>
                                  <m: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𝑚</m:t>
                                        </m:r>
                                      </m:e>
                                    </m:d>
                                  </m:sup>
                                </m:sSup>
                                <m:r>
                                  <a:rPr lang="zh-CN" altLang="en-US" i="1" smtClean="0">
                                    <a:latin typeface="Cambria Math" panose="02040503050406030204" pitchFamily="18" charset="0"/>
                                  </a:rPr>
                                  <m:t>&lt;0.</m:t>
                                </m:r>
                              </m:e>
                            </m:mr>
                          </m:m>
                        </m:e>
                      </m:d>
                    </m:oMath>
                  </m:oMathPara>
                </a14:m>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𝑠</m:t>
                        </m:r>
                      </m:e>
                      <m: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𝑚</m:t>
                            </m:r>
                          </m:e>
                        </m:d>
                      </m:sup>
                    </m:sSup>
                    <m:r>
                      <a:rPr lang="zh-CN" altLang="en-US" i="1" smtClean="0">
                        <a:latin typeface="Cambria Math" panose="02040503050406030204" pitchFamily="18" charset="0"/>
                      </a:rPr>
                      <m:t>≥0</m:t>
                    </m:r>
                  </m:oMath>
                </a14:m>
                <a:r>
                  <a:rPr lang="zh-CN" altLang="en-US" dirty="0">
                    <a:latin typeface="Times New Roman" panose="02020603050405020304" pitchFamily="18" charset="0"/>
                    <a:cs typeface="Times New Roman" panose="02020603050405020304" pitchFamily="18" charset="0"/>
                  </a:rPr>
                  <a:t>说明不同接收机更新方向一致</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𝑠</m:t>
                        </m:r>
                      </m:e>
                      <m:sup>
                        <m:d>
                          <m:dPr>
                            <m:ctrlPr>
                              <a:rPr lang="zh-CN" altLang="en-US" i="1">
                                <a:latin typeface="Cambria Math" panose="02040503050406030204" pitchFamily="18" charset="0"/>
                              </a:rPr>
                            </m:ctrlPr>
                          </m:dPr>
                          <m:e>
                            <m:r>
                              <a:rPr lang="zh-CN" altLang="en-US" i="1">
                                <a:latin typeface="Cambria Math" panose="02040503050406030204" pitchFamily="18" charset="0"/>
                              </a:rPr>
                              <m:t>𝑚</m:t>
                            </m:r>
                          </m:e>
                        </m:d>
                      </m:sup>
                    </m:sSup>
                    <m:r>
                      <a:rPr lang="en-US" altLang="zh-CN" b="0" i="1" smtClean="0">
                        <a:latin typeface="Cambria Math" panose="02040503050406030204" pitchFamily="18" charset="0"/>
                      </a:rPr>
                      <m:t>&lt;</m:t>
                    </m:r>
                    <m:r>
                      <a:rPr lang="zh-CN" altLang="en-US" i="1">
                        <a:latin typeface="Cambria Math" panose="02040503050406030204" pitchFamily="18" charset="0"/>
                      </a:rPr>
                      <m:t>0</m:t>
                    </m:r>
                  </m:oMath>
                </a14:m>
                <a:r>
                  <a:rPr lang="zh-CN" altLang="en-US" dirty="0">
                    <a:latin typeface="Times New Roman" panose="02020603050405020304" pitchFamily="18" charset="0"/>
                    <a:cs typeface="Times New Roman" panose="02020603050405020304" pitchFamily="18" charset="0"/>
                  </a:rPr>
                  <a:t>说明不同接收机更新方向不同</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目标为抑制由接收机引起的更新方向不同，并保留不同接收机之间的一致性更新方向。</a:t>
                </a:r>
                <a:endParaRPr lang="en-US" altLang="zh-CN" b="1" dirty="0">
                  <a:latin typeface="Times New Roman" panose="02020603050405020304" pitchFamily="18" charset="0"/>
                  <a:cs typeface="Times New Roman" panose="02020603050405020304" pitchFamily="18" charset="0"/>
                </a:endParaRPr>
              </a:p>
            </p:txBody>
          </p:sp>
        </mc:Choice>
        <mc:Fallback>
          <p:sp>
            <p:nvSpPr>
              <p:cNvPr id="2" name="文本框 1">
                <a:extLst>
                  <a:ext uri="{FF2B5EF4-FFF2-40B4-BE49-F238E27FC236}">
                    <a16:creationId xmlns:a16="http://schemas.microsoft.com/office/drawing/2014/main" id="{5DE052F0-E917-7E24-8D0E-90F4ABC9D9E3}"/>
                  </a:ext>
                </a:extLst>
              </p:cNvPr>
              <p:cNvSpPr txBox="1">
                <a:spLocks noRot="1" noChangeAspect="1" noMove="1" noResize="1" noEditPoints="1" noAdjustHandles="1" noChangeArrowheads="1" noChangeShapeType="1" noTextEdit="1"/>
              </p:cNvSpPr>
              <p:nvPr/>
            </p:nvSpPr>
            <p:spPr>
              <a:xfrm>
                <a:off x="221473" y="1419935"/>
                <a:ext cx="5057798" cy="4864152"/>
              </a:xfrm>
              <a:prstGeom prst="rect">
                <a:avLst/>
              </a:prstGeom>
              <a:blipFill>
                <a:blip r:embed="rId7"/>
                <a:stretch>
                  <a:fillRect l="-964" t="-752" b="-1003"/>
                </a:stretch>
              </a:blipFill>
            </p:spPr>
            <p:txBody>
              <a:bodyPr/>
              <a:lstStyle/>
              <a:p>
                <a:r>
                  <a:rPr lang="zh-CN" altLang="en-US">
                    <a:noFill/>
                  </a:rPr>
                  <a:t> </a:t>
                </a:r>
              </a:p>
            </p:txBody>
          </p:sp>
        </mc:Fallback>
      </mc:AlternateContent>
      <p:sp>
        <p:nvSpPr>
          <p:cNvPr id="14" name="箭头: 右 13">
            <a:extLst>
              <a:ext uri="{FF2B5EF4-FFF2-40B4-BE49-F238E27FC236}">
                <a16:creationId xmlns:a16="http://schemas.microsoft.com/office/drawing/2014/main" id="{2B465942-02B4-BF23-4FC6-931A082EA19C}"/>
              </a:ext>
            </a:extLst>
          </p:cNvPr>
          <p:cNvSpPr/>
          <p:nvPr/>
        </p:nvSpPr>
        <p:spPr>
          <a:xfrm>
            <a:off x="5595572" y="5486400"/>
            <a:ext cx="670223" cy="5800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04792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图片 3"/>
          <p:cNvPicPr>
            <a:picLocks noChangeAspect="1"/>
          </p:cNvPicPr>
          <p:nvPr/>
        </p:nvPicPr>
        <p:blipFill>
          <a:blip r:embed="rId3"/>
          <a:stretch>
            <a:fillRect/>
          </a:stretch>
        </p:blipFill>
        <p:spPr>
          <a:xfrm>
            <a:off x="10800000" y="216000"/>
            <a:ext cx="1168402" cy="312900"/>
          </a:xfrm>
          <a:prstGeom prst="rect">
            <a:avLst/>
          </a:prstGeom>
        </p:spPr>
      </p:pic>
      <p:sp>
        <p:nvSpPr>
          <p:cNvPr id="15" name="灯片编号占位符 14">
            <a:extLst>
              <a:ext uri="{FF2B5EF4-FFF2-40B4-BE49-F238E27FC236}">
                <a16:creationId xmlns:a16="http://schemas.microsoft.com/office/drawing/2014/main" id="{2954C5AB-1B7F-3CA8-70B8-9D3926ED2A90}"/>
              </a:ext>
            </a:extLst>
          </p:cNvPr>
          <p:cNvSpPr>
            <a:spLocks noGrp="1"/>
          </p:cNvSpPr>
          <p:nvPr>
            <p:ph type="sldNum" idx="12"/>
          </p:nvPr>
        </p:nvSpPr>
        <p:spPr>
          <a:xfrm>
            <a:off x="11066996" y="6276875"/>
            <a:ext cx="700282" cy="365125"/>
          </a:xfrm>
        </p:spPr>
        <p:txBody>
          <a:bodyPr/>
          <a:lstStyle/>
          <a:p>
            <a:r>
              <a:rPr dirty="0"/>
              <a:t>11</a:t>
            </a:r>
          </a:p>
        </p:txBody>
      </p:sp>
      <p:sp>
        <p:nvSpPr>
          <p:cNvPr id="62" name="文本框 61">
            <a:extLst>
              <a:ext uri="{FF2B5EF4-FFF2-40B4-BE49-F238E27FC236}">
                <a16:creationId xmlns:a16="http://schemas.microsoft.com/office/drawing/2014/main" id="{261C5A57-3441-444F-DE93-F1F7093FF5C0}"/>
              </a:ext>
            </a:extLst>
          </p:cNvPr>
          <p:cNvSpPr>
            <a:spLocks noGrp="1"/>
          </p:cNvSpPr>
          <p:nvPr/>
        </p:nvSpPr>
        <p:spPr>
          <a:xfrm>
            <a:off x="211723" y="1027494"/>
            <a:ext cx="3567123" cy="369332"/>
          </a:xfrm>
          <a:prstGeom prst="rect">
            <a:avLst/>
          </a:prstGeom>
          <a:noFill/>
        </p:spPr>
        <p:txBody>
          <a:bodyPr wrap="square">
            <a:spAutoFit/>
          </a:bodyPr>
          <a:lstStyle/>
          <a:p>
            <a:r>
              <a:rPr lang="en-US" altLang="zh-CN" b="1" dirty="0">
                <a:solidFill>
                  <a:srgbClr val="911F22"/>
                </a:solidFill>
                <a:latin typeface="微软雅黑"/>
                <a:ea typeface="微软雅黑"/>
                <a:cs typeface="微软雅黑"/>
              </a:rPr>
              <a:t>GN</a:t>
            </a:r>
            <a:r>
              <a:rPr lang="zh-CN" altLang="en-US" b="1" dirty="0">
                <a:solidFill>
                  <a:srgbClr val="911F22"/>
                </a:solidFill>
                <a:latin typeface="微软雅黑"/>
                <a:ea typeface="微软雅黑"/>
                <a:cs typeface="微软雅黑"/>
              </a:rPr>
              <a:t>：降低模型对批统计量的依赖</a:t>
            </a:r>
          </a:p>
        </p:txBody>
      </p:sp>
      <p:pic>
        <p:nvPicPr>
          <p:cNvPr id="70" name="图片 9"/>
          <p:cNvPicPr>
            <a:picLocks noChangeAspect="1"/>
          </p:cNvPicPr>
          <p:nvPr/>
        </p:nvPicPr>
        <p:blipFill>
          <a:blip r:embed="rId4"/>
          <a:stretch>
            <a:fillRect/>
          </a:stretch>
        </p:blipFill>
        <p:spPr>
          <a:xfrm>
            <a:off x="0" y="1396825"/>
            <a:ext cx="5385760" cy="3772584"/>
          </a:xfrm>
          <a:prstGeom prst="rect">
            <a:avLst/>
          </a:prstGeom>
        </p:spPr>
      </p:pic>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566686D1-AF51-BAAB-5BBB-8B5076611624}"/>
                  </a:ext>
                </a:extLst>
              </p:cNvPr>
              <p:cNvSpPr>
                <a:spLocks noGrp="1"/>
              </p:cNvSpPr>
              <p:nvPr/>
            </p:nvSpPr>
            <p:spPr>
              <a:xfrm>
                <a:off x="5876191" y="1073660"/>
                <a:ext cx="5891087" cy="1188274"/>
              </a:xfrm>
              <a:prstGeom prst="rect">
                <a:avLst/>
              </a:prstGeom>
              <a:noFill/>
            </p:spPr>
            <p:txBody>
              <a:bodyPr wrap="square">
                <a:spAutoFit/>
              </a:bodyPr>
              <a:lstStyle/>
              <a:p>
                <a:r>
                  <a:rPr lang="en-US" altLang="zh-CN" dirty="0">
                    <a:latin typeface="+mn-ea"/>
                    <a:cs typeface="Times New Roman"/>
                  </a:rPr>
                  <a:t>BN </a:t>
                </a:r>
                <a:r>
                  <a:rPr lang="zh-CN" altLang="en-US" dirty="0">
                    <a:latin typeface="+mn-ea"/>
                    <a:cs typeface="Times New Roman"/>
                  </a:rPr>
                  <a:t>使用批次均值和方差，接收机变化会引入统计偏移：</a:t>
                </a:r>
                <a:endParaRPr lang="en-US" altLang="zh-CN" dirty="0">
                  <a:latin typeface="+mn-ea"/>
                  <a:cs typeface="Times New Roman"/>
                </a:endParaRPr>
              </a:p>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acc>
                            <m:accPr>
                              <m:chr m:val="ˆ"/>
                              <m:ctrlPr>
                                <a:rPr lang="en-US" altLang="zh-CN" i="1" smtClean="0">
                                  <a:latin typeface="Cambria Math" panose="02040503050406030204" pitchFamily="18" charset="0"/>
                                </a:rPr>
                              </m:ctrlPr>
                            </m:accPr>
                            <m:e>
                              <m:r>
                                <a:rPr lang="en-US" altLang="zh-CN" i="1" smtClean="0">
                                  <a:latin typeface="Cambria Math" panose="02040503050406030204" pitchFamily="18" charset="0"/>
                                </a:rPr>
                                <m:t>𝑥</m:t>
                              </m:r>
                            </m:e>
                          </m:acc>
                        </m:e>
                        <m:sub>
                          <m:r>
                            <a:rPr lang="en-US" altLang="zh-CN" i="1" smtClean="0">
                              <a:latin typeface="Cambria Math" panose="02040503050406030204" pitchFamily="18" charset="0"/>
                            </a:rPr>
                            <m:t>𝑡</m:t>
                          </m:r>
                        </m:sub>
                      </m:sSub>
                      <m:r>
                        <a:rPr lang="en-US" altLang="zh-CN" i="1" smtClean="0">
                          <a:latin typeface="Cambria Math" panose="02040503050406030204" pitchFamily="18" charset="0"/>
                        </a:rPr>
                        <m:t>=</m:t>
                      </m:r>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𝑥</m:t>
                              </m:r>
                            </m:e>
                            <m:sub>
                              <m:r>
                                <a:rPr lang="en-US" altLang="zh-CN" i="1" smtClean="0">
                                  <a:latin typeface="Cambria Math" panose="02040503050406030204" pitchFamily="18" charset="0"/>
                                </a:rPr>
                                <m:t>𝑡</m:t>
                              </m:r>
                            </m:sub>
                          </m:sSub>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zh-CN" altLang="en-US" i="1">
                                  <a:latin typeface="Cambria Math" panose="02040503050406030204" pitchFamily="18" charset="0"/>
                                </a:rPr>
                                <m:t>𝜇</m:t>
                              </m:r>
                            </m:e>
                            <m:sub>
                              <m:r>
                                <m:rPr>
                                  <m:sty m:val="p"/>
                                </m:rPr>
                                <a:rPr lang="en-US" altLang="zh-CN" i="1">
                                  <a:latin typeface="Cambria Math" panose="02040503050406030204" pitchFamily="18" charset="0"/>
                                </a:rPr>
                                <m:t>src</m:t>
                              </m:r>
                            </m:sub>
                          </m:sSub>
                        </m:num>
                        <m:den>
                          <m:rad>
                            <m:radPr>
                              <m:degHide m:val="on"/>
                              <m:ctrlPr>
                                <a:rPr lang="en-US" altLang="zh-CN" i="1" smtClean="0">
                                  <a:latin typeface="Cambria Math" panose="02040503050406030204" pitchFamily="18" charset="0"/>
                                </a:rPr>
                              </m:ctrlPr>
                            </m:radPr>
                            <m:deg/>
                            <m:e>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𝜎</m:t>
                                      </m:r>
                                    </m:e>
                                    <m:sub>
                                      <m:r>
                                        <m:rPr>
                                          <m:sty m:val="p"/>
                                        </m:rPr>
                                        <a:rPr lang="en-US" altLang="zh-CN" i="1">
                                          <a:latin typeface="Cambria Math" panose="02040503050406030204" pitchFamily="18" charset="0"/>
                                        </a:rPr>
                                        <m:t>src</m:t>
                                      </m:r>
                                    </m:sub>
                                    <m:sup>
                                      <m:r>
                                        <a:rPr lang="en-US" altLang="zh-CN" i="1">
                                          <a:latin typeface="Cambria Math" panose="02040503050406030204" pitchFamily="18" charset="0"/>
                                        </a:rPr>
                                        <m:t>2</m:t>
                                      </m:r>
                                    </m:sup>
                                  </m:sSubSup>
                                </m:e>
                              </m:d>
                            </m:e>
                          </m:rad>
                        </m:den>
                      </m:f>
                    </m:oMath>
                  </m:oMathPara>
                </a14:m>
                <a:endParaRPr lang="en-US" altLang="zh-CN" dirty="0">
                  <a:latin typeface="+mn-ea"/>
                  <a:cs typeface="Times New Roman"/>
                </a:endParaRPr>
              </a:p>
            </p:txBody>
          </p:sp>
        </mc:Choice>
        <mc:Fallback>
          <p:sp>
            <p:nvSpPr>
              <p:cNvPr id="11" name="文本框 10">
                <a:extLst>
                  <a:ext uri="{FF2B5EF4-FFF2-40B4-BE49-F238E27FC236}">
                    <a16:creationId xmlns:a16="http://schemas.microsoft.com/office/drawing/2014/main" id="{566686D1-AF51-BAAB-5BBB-8B5076611624}"/>
                  </a:ext>
                </a:extLst>
              </p:cNvPr>
              <p:cNvSpPr>
                <a:spLocks noGrp="1" noRot="1" noChangeAspect="1" noMove="1" noResize="1" noEditPoints="1" noAdjustHandles="1" noChangeArrowheads="1" noChangeShapeType="1" noTextEdit="1"/>
              </p:cNvSpPr>
              <p:nvPr/>
            </p:nvSpPr>
            <p:spPr>
              <a:xfrm>
                <a:off x="5876191" y="1073660"/>
                <a:ext cx="5891087" cy="1188274"/>
              </a:xfrm>
              <a:prstGeom prst="rect">
                <a:avLst/>
              </a:prstGeom>
              <a:blipFill>
                <a:blip r:embed="rId5"/>
                <a:stretch>
                  <a:fillRect l="-932" t="-25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6BAAFCDA-15BD-0689-6A92-FA0312A15785}"/>
                  </a:ext>
                </a:extLst>
              </p:cNvPr>
              <p:cNvSpPr>
                <a:spLocks noGrp="1"/>
              </p:cNvSpPr>
              <p:nvPr/>
            </p:nvSpPr>
            <p:spPr>
              <a:xfrm>
                <a:off x="5843850" y="3600341"/>
                <a:ext cx="5573285" cy="1238801"/>
              </a:xfrm>
              <a:prstGeom prst="rect">
                <a:avLst/>
              </a:prstGeom>
              <a:noFill/>
            </p:spPr>
            <p:txBody>
              <a:bodyPr wrap="square">
                <a:spAutoFit/>
              </a:bodyPr>
              <a:lstStyle/>
              <a:p>
                <a:r>
                  <a:rPr lang="en-US" altLang="zh-CN" b="1" dirty="0">
                    <a:latin typeface="+mn-ea"/>
                    <a:cs typeface="Times New Roman" panose="02020603050405020304" pitchFamily="18" charset="0"/>
                  </a:rPr>
                  <a:t>GN </a:t>
                </a:r>
                <a:r>
                  <a:rPr lang="zh-CN" altLang="en-US" b="1" dirty="0">
                    <a:latin typeface="+mn-ea"/>
                    <a:cs typeface="Times New Roman" panose="02020603050405020304" pitchFamily="18" charset="0"/>
                  </a:rPr>
                  <a:t>在单样本通道组内归一化，不依赖批次组成</a:t>
                </a:r>
              </a:p>
              <a:p>
                <a:r>
                  <a:rPr lang="zh-CN" altLang="en-US" b="1" dirty="0">
                    <a:latin typeface="+mn-ea"/>
                    <a:cs typeface="Times New Roman" panose="02020603050405020304" pitchFamily="18" charset="0"/>
                  </a:rPr>
                  <a:t>更适合多接收机、小批量和域泛化训练</a:t>
                </a:r>
                <a:endParaRPr lang="en-US" altLang="zh-CN" b="1" dirty="0">
                  <a:latin typeface="+mn-ea"/>
                  <a:cs typeface="Times New Roman" panose="02020603050405020304" pitchFamily="18" charset="0"/>
                </a:endParaRPr>
              </a:p>
              <a:p>
                <a:pPr>
                  <a:spcBef>
                    <a:spcPts val="300"/>
                  </a:spcBef>
                </a:pPr>
                <a:r>
                  <a:rPr lang="zh-CN" altLang="zh-CN" dirty="0"/>
                  <a:t>GN将单个样本</a:t>
                </a:r>
                <a14:m>
                  <m:oMath xmlns:m="http://schemas.openxmlformats.org/officeDocument/2006/math">
                    <m:r>
                      <a:rPr lang="en-US" altLang="zh-CN" b="0" i="0" dirty="0" smtClean="0">
                        <a:latin typeface="Cambria Math" panose="02040503050406030204" pitchFamily="18" charset="0"/>
                      </a:rPr>
                      <m:t> </m:t>
                    </m:r>
                    <m:r>
                      <a:rPr lang="en-US" altLang="zh-CN" i="1" dirty="0" smtClean="0">
                        <a:latin typeface="Cambria Math" panose="02040503050406030204" pitchFamily="18" charset="0"/>
                      </a:rPr>
                      <m:t>𝐶</m:t>
                    </m:r>
                  </m:oMath>
                </a14:m>
                <a:r>
                  <a:rPr lang="en-US" altLang="zh-CN" dirty="0"/>
                  <a:t> </a:t>
                </a:r>
                <a:r>
                  <a:rPr lang="zh-CN" altLang="zh-CN" dirty="0"/>
                  <a:t>个通道划分为 </a:t>
                </a:r>
                <a14:m>
                  <m:oMath xmlns:m="http://schemas.openxmlformats.org/officeDocument/2006/math">
                    <m:r>
                      <a:rPr lang="zh-CN" altLang="zh-CN" i="1" dirty="0" smtClean="0">
                        <a:latin typeface="Cambria Math" panose="02040503050406030204" pitchFamily="18" charset="0"/>
                      </a:rPr>
                      <m:t>𝐺</m:t>
                    </m:r>
                    <m:r>
                      <a:rPr lang="zh-CN" altLang="zh-CN" i="1" dirty="0" smtClean="0">
                        <a:latin typeface="Cambria Math" panose="02040503050406030204" pitchFamily="18" charset="0"/>
                      </a:rPr>
                      <m:t> </m:t>
                    </m:r>
                  </m:oMath>
                </a14:m>
                <a:r>
                  <a:rPr lang="zh-CN" altLang="zh-CN" dirty="0"/>
                  <a:t>组，仅在每个样本的组内通道和空间维度上计算统计量：</a:t>
                </a:r>
                <a:endParaRPr lang="zh-CN" altLang="en-US" b="1" dirty="0">
                  <a:latin typeface="+mn-ea"/>
                  <a:cs typeface="Times New Roman" panose="02020603050405020304" pitchFamily="18" charset="0"/>
                </a:endParaRPr>
              </a:p>
            </p:txBody>
          </p:sp>
        </mc:Choice>
        <mc:Fallback>
          <p:sp>
            <p:nvSpPr>
              <p:cNvPr id="12" name="文本框 11">
                <a:extLst>
                  <a:ext uri="{FF2B5EF4-FFF2-40B4-BE49-F238E27FC236}">
                    <a16:creationId xmlns:a16="http://schemas.microsoft.com/office/drawing/2014/main" id="{6BAAFCDA-15BD-0689-6A92-FA0312A15785}"/>
                  </a:ext>
                </a:extLst>
              </p:cNvPr>
              <p:cNvSpPr>
                <a:spLocks noGrp="1" noRot="1" noChangeAspect="1" noMove="1" noResize="1" noEditPoints="1" noAdjustHandles="1" noChangeArrowheads="1" noChangeShapeType="1" noTextEdit="1"/>
              </p:cNvSpPr>
              <p:nvPr/>
            </p:nvSpPr>
            <p:spPr>
              <a:xfrm>
                <a:off x="5843850" y="3600341"/>
                <a:ext cx="5573285" cy="1238801"/>
              </a:xfrm>
              <a:prstGeom prst="rect">
                <a:avLst/>
              </a:prstGeom>
              <a:blipFill>
                <a:blip r:embed="rId6"/>
                <a:stretch>
                  <a:fillRect l="-985" t="-2956" b="-689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9D7C3BFD-BFC1-8DCA-7060-2EBD098C84B9}"/>
                  </a:ext>
                </a:extLst>
              </p:cNvPr>
              <p:cNvSpPr>
                <a:spLocks noGrp="1"/>
              </p:cNvSpPr>
              <p:nvPr/>
            </p:nvSpPr>
            <p:spPr>
              <a:xfrm>
                <a:off x="6040429" y="4942828"/>
                <a:ext cx="4307717" cy="841512"/>
              </a:xfrm>
              <a:prstGeom prst="rect">
                <a:avLst/>
              </a:prstGeom>
              <a:noFill/>
            </p:spPr>
            <p:txBody>
              <a:bodyPr wrap="square" lIns="0" tIns="0" rIns="0" bIns="0">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𝜇</m:t>
                          </m:r>
                        </m:e>
                        <m:sub>
                          <m:r>
                            <a:rPr lang="en-US" altLang="zh-CN" i="1">
                              <a:latin typeface="Cambria Math" panose="02040503050406030204" pitchFamily="18" charset="0"/>
                            </a:rPr>
                            <m:t>𝑏</m:t>
                          </m:r>
                          <m:r>
                            <a:rPr lang="en-US" altLang="zh-CN" i="1">
                              <a:latin typeface="Cambria Math" panose="02040503050406030204" pitchFamily="18" charset="0"/>
                            </a:rPr>
                            <m:t>,</m:t>
                          </m:r>
                          <m:r>
                            <a:rPr lang="en-US" altLang="zh-CN" i="1">
                              <a:latin typeface="Cambria Math" panose="02040503050406030204" pitchFamily="18" charset="0"/>
                            </a:rPr>
                            <m:t>𝑔</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d>
                            <m:dPr>
                              <m:ctrlPr>
                                <a:rPr lang="en-US" altLang="zh-CN" i="1">
                                  <a:latin typeface="Cambria Math" panose="02040503050406030204" pitchFamily="18" charset="0"/>
                                </a:rPr>
                              </m:ctrlPr>
                            </m:dPr>
                            <m:e>
                              <m:f>
                                <m:fPr>
                                  <m:type m:val="lin"/>
                                  <m:ctrlPr>
                                    <a:rPr lang="en-US" altLang="zh-CN" i="1">
                                      <a:latin typeface="Cambria Math" panose="02040503050406030204" pitchFamily="18" charset="0"/>
                                    </a:rPr>
                                  </m:ctrlPr>
                                </m:fPr>
                                <m:num>
                                  <m:r>
                                    <a:rPr lang="en-US" altLang="zh-CN" i="1">
                                      <a:latin typeface="Cambria Math" panose="02040503050406030204" pitchFamily="18" charset="0"/>
                                    </a:rPr>
                                    <m:t>𝐶</m:t>
                                  </m:r>
                                </m:num>
                                <m:den>
                                  <m:r>
                                    <a:rPr lang="en-US" altLang="zh-CN" i="1">
                                      <a:latin typeface="Cambria Math" panose="02040503050406030204" pitchFamily="18" charset="0"/>
                                    </a:rPr>
                                    <m:t>𝐺</m:t>
                                  </m:r>
                                </m:den>
                              </m:f>
                            </m:e>
                          </m:d>
                          <m:r>
                            <a:rPr lang="en-US" altLang="zh-CN" i="1">
                              <a:latin typeface="Cambria Math" panose="02040503050406030204" pitchFamily="18" charset="0"/>
                            </a:rPr>
                            <m:t>·</m:t>
                          </m:r>
                          <m:r>
                            <a:rPr lang="en-US" altLang="zh-CN" i="1">
                              <a:latin typeface="Cambria Math" panose="02040503050406030204" pitchFamily="18" charset="0"/>
                            </a:rPr>
                            <m:t>𝐻</m:t>
                          </m:r>
                          <m:r>
                            <a:rPr lang="en-US" altLang="zh-CN" i="1">
                              <a:latin typeface="Cambria Math" panose="02040503050406030204" pitchFamily="18" charset="0"/>
                            </a:rPr>
                            <m:t>·</m:t>
                          </m:r>
                          <m:r>
                            <a:rPr lang="en-US" altLang="zh-CN" i="1">
                              <a:latin typeface="Cambria Math" panose="02040503050406030204" pitchFamily="18" charset="0"/>
                            </a:rPr>
                            <m:t>𝑊</m:t>
                          </m:r>
                        </m:den>
                      </m:f>
                      <m:nary>
                        <m:naryPr>
                          <m:chr m:val="∑"/>
                          <m:supHide m:val="on"/>
                          <m:ctrlPr>
                            <a:rPr lang="en-US" altLang="zh-CN" i="1">
                              <a:latin typeface="Cambria Math" panose="02040503050406030204" pitchFamily="18" charset="0"/>
                            </a:rPr>
                          </m:ctrlPr>
                        </m:naryPr>
                        <m:sub>
                          <m:r>
                            <m:rPr>
                              <m:brk m:alnAt="7"/>
                            </m:rPr>
                            <a:rPr lang="en-US" altLang="zh-CN" i="1">
                              <a:latin typeface="Cambria Math" panose="02040503050406030204" pitchFamily="18" charset="0"/>
                            </a:rPr>
                            <m:t>𝑐</m:t>
                          </m:r>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𝑆</m:t>
                              </m:r>
                            </m:e>
                            <m:sub>
                              <m:r>
                                <a:rPr lang="en-US" altLang="zh-CN" i="1">
                                  <a:latin typeface="Cambria Math" panose="02040503050406030204" pitchFamily="18" charset="0"/>
                                  <a:ea typeface="Cambria Math" panose="02040503050406030204" pitchFamily="18" charset="0"/>
                                </a:rPr>
                                <m:t>𝑔</m:t>
                              </m:r>
                            </m:sub>
                          </m:sSub>
                        </m:sub>
                        <m:sup/>
                        <m:e>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h</m:t>
                              </m:r>
                              <m:r>
                                <a:rPr lang="en-US" altLang="zh-CN" i="1">
                                  <a:latin typeface="Cambria Math" panose="02040503050406030204" pitchFamily="18" charset="0"/>
                                </a:rPr>
                                <m:t>=1</m:t>
                              </m:r>
                            </m:sub>
                            <m:sup>
                              <m:r>
                                <a:rPr lang="en-US" altLang="zh-CN" i="1">
                                  <a:latin typeface="Cambria Math" panose="02040503050406030204" pitchFamily="18" charset="0"/>
                                </a:rPr>
                                <m:t>𝐻</m:t>
                              </m:r>
                            </m:sup>
                            <m:e>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𝑤</m:t>
                                  </m:r>
                                  <m:r>
                                    <a:rPr lang="en-US" altLang="zh-CN" i="1">
                                      <a:latin typeface="Cambria Math" panose="02040503050406030204" pitchFamily="18" charset="0"/>
                                    </a:rPr>
                                    <m:t>=1</m:t>
                                  </m:r>
                                </m:sub>
                                <m:sup>
                                  <m:r>
                                    <a:rPr lang="en-US" altLang="zh-CN" i="1">
                                      <a:latin typeface="Cambria Math" panose="02040503050406030204" pitchFamily="18" charset="0"/>
                                    </a:rPr>
                                    <m:t>𝑊</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𝑏</m:t>
                                      </m:r>
                                      <m:r>
                                        <a:rPr lang="en-US" altLang="zh-CN" i="1">
                                          <a:latin typeface="Cambria Math" panose="02040503050406030204" pitchFamily="18" charset="0"/>
                                        </a:rPr>
                                        <m:t>,</m:t>
                                      </m:r>
                                      <m:r>
                                        <a:rPr lang="en-US" altLang="zh-CN" i="1">
                                          <a:latin typeface="Cambria Math" panose="02040503050406030204" pitchFamily="18" charset="0"/>
                                        </a:rPr>
                                        <m:t>𝑐</m:t>
                                      </m:r>
                                      <m:r>
                                        <a:rPr lang="en-US" altLang="zh-CN" i="1">
                                          <a:latin typeface="Cambria Math" panose="02040503050406030204" pitchFamily="18" charset="0"/>
                                        </a:rPr>
                                        <m:t>,</m:t>
                                      </m:r>
                                      <m:r>
                                        <a:rPr lang="en-US" altLang="zh-CN" i="1">
                                          <a:latin typeface="Cambria Math" panose="02040503050406030204" pitchFamily="18" charset="0"/>
                                        </a:rPr>
                                        <m:t>h</m:t>
                                      </m:r>
                                      <m:r>
                                        <a:rPr lang="en-US" altLang="zh-CN" i="1">
                                          <a:latin typeface="Cambria Math" panose="02040503050406030204" pitchFamily="18" charset="0"/>
                                        </a:rPr>
                                        <m:t>,</m:t>
                                      </m:r>
                                      <m:r>
                                        <a:rPr lang="en-US" altLang="zh-CN" i="1">
                                          <a:latin typeface="Cambria Math" panose="02040503050406030204" pitchFamily="18" charset="0"/>
                                        </a:rPr>
                                        <m:t>𝑤</m:t>
                                      </m:r>
                                    </m:sub>
                                  </m:sSub>
                                </m:e>
                              </m:nary>
                            </m:e>
                          </m:nary>
                        </m:e>
                      </m:nary>
                    </m:oMath>
                  </m:oMathPara>
                </a14:m>
                <a:endParaRPr dirty="0"/>
              </a:p>
            </p:txBody>
          </p:sp>
        </mc:Choice>
        <mc:Fallback>
          <p:sp>
            <p:nvSpPr>
              <p:cNvPr id="2" name="文本框 1">
                <a:extLst>
                  <a:ext uri="{FF2B5EF4-FFF2-40B4-BE49-F238E27FC236}">
                    <a16:creationId xmlns:a16="http://schemas.microsoft.com/office/drawing/2014/main" id="{9D7C3BFD-BFC1-8DCA-7060-2EBD098C84B9}"/>
                  </a:ext>
                </a:extLst>
              </p:cNvPr>
              <p:cNvSpPr>
                <a:spLocks noGrp="1" noRot="1" noChangeAspect="1" noMove="1" noResize="1" noEditPoints="1" noAdjustHandles="1" noChangeArrowheads="1" noChangeShapeType="1" noTextEdit="1"/>
              </p:cNvSpPr>
              <p:nvPr/>
            </p:nvSpPr>
            <p:spPr>
              <a:xfrm>
                <a:off x="6040429" y="4942828"/>
                <a:ext cx="4307717" cy="84151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BCAB3F5F-6AFF-EF89-A1E4-73502979C62D}"/>
                  </a:ext>
                </a:extLst>
              </p:cNvPr>
              <p:cNvSpPr>
                <a:spLocks noGrp="1"/>
              </p:cNvSpPr>
              <p:nvPr/>
            </p:nvSpPr>
            <p:spPr>
              <a:xfrm>
                <a:off x="5876191" y="5769573"/>
                <a:ext cx="5385759" cy="841512"/>
              </a:xfrm>
              <a:prstGeom prst="rect">
                <a:avLst/>
              </a:prstGeom>
              <a:noFill/>
            </p:spPr>
            <p:txBody>
              <a:bodyPr wrap="square" lIns="0" tIns="0" rIns="0" bIns="0">
                <a:spAutoFit/>
              </a:bodyPr>
              <a:lstStyle/>
              <a:p>
                <a:pPr>
                  <a:buNone/>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zh-CN" altLang="en-US" i="1">
                              <a:latin typeface="Cambria Math" panose="02040503050406030204" pitchFamily="18" charset="0"/>
                            </a:rPr>
                            <m:t>𝜎</m:t>
                          </m:r>
                        </m:e>
                        <m:sub>
                          <m:r>
                            <a:rPr lang="en-US" altLang="zh-CN" i="1">
                              <a:latin typeface="Cambria Math" panose="02040503050406030204" pitchFamily="18" charset="0"/>
                            </a:rPr>
                            <m:t>𝑏</m:t>
                          </m:r>
                          <m:r>
                            <a:rPr lang="en-US" altLang="zh-CN" i="1">
                              <a:latin typeface="Cambria Math" panose="02040503050406030204" pitchFamily="18" charset="0"/>
                            </a:rPr>
                            <m:t>,</m:t>
                          </m:r>
                          <m:r>
                            <a:rPr lang="en-US" altLang="zh-CN" i="1">
                              <a:latin typeface="Cambria Math" panose="02040503050406030204" pitchFamily="18" charset="0"/>
                            </a:rPr>
                            <m:t>𝑔</m:t>
                          </m:r>
                        </m:sub>
                        <m:sup>
                          <m:r>
                            <a:rPr lang="en-US" altLang="zh-CN" i="1">
                              <a:latin typeface="Cambria Math" panose="02040503050406030204" pitchFamily="18" charset="0"/>
                            </a:rPr>
                            <m:t>2</m:t>
                          </m:r>
                        </m:sup>
                      </m:sSubSup>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d>
                            <m:dPr>
                              <m:ctrlPr>
                                <a:rPr lang="en-US" altLang="zh-CN" i="1">
                                  <a:latin typeface="Cambria Math" panose="02040503050406030204" pitchFamily="18" charset="0"/>
                                </a:rPr>
                              </m:ctrlPr>
                            </m:dPr>
                            <m:e>
                              <m:f>
                                <m:fPr>
                                  <m:type m:val="lin"/>
                                  <m:ctrlPr>
                                    <a:rPr lang="en-US" altLang="zh-CN" i="1">
                                      <a:latin typeface="Cambria Math" panose="02040503050406030204" pitchFamily="18" charset="0"/>
                                    </a:rPr>
                                  </m:ctrlPr>
                                </m:fPr>
                                <m:num>
                                  <m:r>
                                    <a:rPr lang="en-US" altLang="zh-CN" i="1">
                                      <a:latin typeface="Cambria Math" panose="02040503050406030204" pitchFamily="18" charset="0"/>
                                    </a:rPr>
                                    <m:t>𝐶</m:t>
                                  </m:r>
                                </m:num>
                                <m:den>
                                  <m:r>
                                    <a:rPr lang="en-US" altLang="zh-CN" i="1">
                                      <a:latin typeface="Cambria Math" panose="02040503050406030204" pitchFamily="18" charset="0"/>
                                    </a:rPr>
                                    <m:t>𝐺</m:t>
                                  </m:r>
                                </m:den>
                              </m:f>
                            </m:e>
                          </m:d>
                          <m:r>
                            <a:rPr lang="en-US" altLang="zh-CN" i="1">
                              <a:latin typeface="Cambria Math" panose="02040503050406030204" pitchFamily="18" charset="0"/>
                            </a:rPr>
                            <m:t>·</m:t>
                          </m:r>
                          <m:r>
                            <a:rPr lang="en-US" altLang="zh-CN" i="1">
                              <a:latin typeface="Cambria Math" panose="02040503050406030204" pitchFamily="18" charset="0"/>
                            </a:rPr>
                            <m:t>𝐻</m:t>
                          </m:r>
                          <m:r>
                            <a:rPr lang="en-US" altLang="zh-CN" i="1">
                              <a:latin typeface="Cambria Math" panose="02040503050406030204" pitchFamily="18" charset="0"/>
                            </a:rPr>
                            <m:t>·</m:t>
                          </m:r>
                          <m:r>
                            <a:rPr lang="en-US" altLang="zh-CN" i="1">
                              <a:latin typeface="Cambria Math" panose="02040503050406030204" pitchFamily="18" charset="0"/>
                            </a:rPr>
                            <m:t>𝑊</m:t>
                          </m:r>
                        </m:den>
                      </m:f>
                      <m:nary>
                        <m:naryPr>
                          <m:chr m:val="∑"/>
                          <m:supHide m:val="on"/>
                          <m:ctrlPr>
                            <a:rPr lang="en-US" altLang="zh-CN" i="1">
                              <a:latin typeface="Cambria Math" panose="02040503050406030204" pitchFamily="18" charset="0"/>
                            </a:rPr>
                          </m:ctrlPr>
                        </m:naryPr>
                        <m:sub>
                          <m:r>
                            <m:rPr>
                              <m:brk m:alnAt="7"/>
                            </m:rPr>
                            <a:rPr lang="en-US" altLang="zh-CN" i="1">
                              <a:latin typeface="Cambria Math" panose="02040503050406030204" pitchFamily="18" charset="0"/>
                            </a:rPr>
                            <m:t>𝑐</m:t>
                          </m:r>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𝑆</m:t>
                              </m:r>
                            </m:e>
                            <m:sub>
                              <m:r>
                                <a:rPr lang="en-US" altLang="zh-CN" i="1">
                                  <a:latin typeface="Cambria Math" panose="02040503050406030204" pitchFamily="18" charset="0"/>
                                  <a:ea typeface="Cambria Math" panose="02040503050406030204" pitchFamily="18" charset="0"/>
                                </a:rPr>
                                <m:t>𝑔</m:t>
                              </m:r>
                            </m:sub>
                          </m:sSub>
                        </m:sub>
                        <m:sup/>
                        <m:e>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h</m:t>
                              </m:r>
                              <m:r>
                                <a:rPr lang="en-US" altLang="zh-CN" i="1">
                                  <a:latin typeface="Cambria Math" panose="02040503050406030204" pitchFamily="18" charset="0"/>
                                </a:rPr>
                                <m:t>=1</m:t>
                              </m:r>
                            </m:sub>
                            <m:sup>
                              <m:r>
                                <a:rPr lang="en-US" altLang="zh-CN" i="1">
                                  <a:latin typeface="Cambria Math" panose="02040503050406030204" pitchFamily="18" charset="0"/>
                                </a:rPr>
                                <m:t>𝐻</m:t>
                              </m:r>
                            </m:sup>
                            <m:e>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𝑤</m:t>
                                  </m:r>
                                  <m:r>
                                    <a:rPr lang="en-US" altLang="zh-CN" i="1">
                                      <a:latin typeface="Cambria Math" panose="02040503050406030204" pitchFamily="18" charset="0"/>
                                    </a:rPr>
                                    <m:t>=1</m:t>
                                  </m:r>
                                </m:sub>
                                <m:sup>
                                  <m:r>
                                    <a:rPr lang="en-US" altLang="zh-CN" i="1">
                                      <a:latin typeface="Cambria Math" panose="02040503050406030204" pitchFamily="18" charset="0"/>
                                    </a:rPr>
                                    <m:t>𝑊</m:t>
                                  </m:r>
                                </m:sup>
                                <m:e>
                                  <m:sSup>
                                    <m:sSupPr>
                                      <m:ctrlPr>
                                        <a:rPr lang="en-US" altLang="zh-CN" i="1">
                                          <a:latin typeface="Cambria Math" panose="02040503050406030204" pitchFamily="18" charset="0"/>
                                        </a:rPr>
                                      </m:ctrlPr>
                                    </m:sSupPr>
                                    <m:e>
                                      <m:sSub>
                                        <m:sSubPr>
                                          <m:ctrlPr>
                                            <a:rPr lang="en-US" altLang="zh-CN"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𝑥</m:t>
                                          </m:r>
                                        </m:e>
                                        <m:sub>
                                          <m:r>
                                            <a:rPr lang="en-US" altLang="zh-CN" i="1">
                                              <a:latin typeface="Cambria Math" panose="02040503050406030204" pitchFamily="18" charset="0"/>
                                            </a:rPr>
                                            <m:t>𝑏</m:t>
                                          </m:r>
                                          <m:r>
                                            <a:rPr lang="en-US" altLang="zh-CN" i="1">
                                              <a:latin typeface="Cambria Math" panose="02040503050406030204" pitchFamily="18" charset="0"/>
                                            </a:rPr>
                                            <m:t>,</m:t>
                                          </m:r>
                                          <m:r>
                                            <a:rPr lang="en-US" altLang="zh-CN" i="1">
                                              <a:latin typeface="Cambria Math" panose="02040503050406030204" pitchFamily="18" charset="0"/>
                                            </a:rPr>
                                            <m:t>𝑐</m:t>
                                          </m:r>
                                          <m:r>
                                            <a:rPr lang="en-US" altLang="zh-CN" i="1">
                                              <a:latin typeface="Cambria Math" panose="02040503050406030204" pitchFamily="18" charset="0"/>
                                            </a:rPr>
                                            <m:t>,</m:t>
                                          </m:r>
                                          <m:r>
                                            <a:rPr lang="en-US" altLang="zh-CN" i="1">
                                              <a:latin typeface="Cambria Math" panose="02040503050406030204" pitchFamily="18" charset="0"/>
                                            </a:rPr>
                                            <m:t>h</m:t>
                                          </m:r>
                                          <m:r>
                                            <a:rPr lang="en-US" altLang="zh-CN" i="1">
                                              <a:latin typeface="Cambria Math" panose="02040503050406030204" pitchFamily="18" charset="0"/>
                                            </a:rPr>
                                            <m:t>,</m:t>
                                          </m:r>
                                          <m:r>
                                            <a:rPr lang="en-US" altLang="zh-CN" i="1">
                                              <a:latin typeface="Cambria Math" panose="02040503050406030204" pitchFamily="18" charset="0"/>
                                            </a:rPr>
                                            <m:t>𝑤</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𝜇</m:t>
                                          </m:r>
                                        </m:e>
                                        <m:sub>
                                          <m:r>
                                            <a:rPr lang="en-US" altLang="zh-CN" b="0" i="1" smtClean="0">
                                              <a:latin typeface="Cambria Math" panose="02040503050406030204" pitchFamily="18" charset="0"/>
                                            </a:rPr>
                                            <m:t>𝑏</m:t>
                                          </m:r>
                                          <m:r>
                                            <a:rPr lang="en-US" altLang="zh-CN" i="1">
                                              <a:latin typeface="Cambria Math" panose="02040503050406030204" pitchFamily="18" charset="0"/>
                                            </a:rPr>
                                            <m:t>,</m:t>
                                          </m:r>
                                          <m:r>
                                            <a:rPr lang="en-US" altLang="zh-CN" i="1">
                                              <a:latin typeface="Cambria Math" panose="02040503050406030204" pitchFamily="18" charset="0"/>
                                            </a:rPr>
                                            <m:t>𝑔</m:t>
                                          </m:r>
                                        </m:sub>
                                      </m:sSub>
                                      <m:r>
                                        <a:rPr lang="en-US" altLang="zh-CN" i="1">
                                          <a:latin typeface="Cambria Math" panose="02040503050406030204" pitchFamily="18" charset="0"/>
                                        </a:rPr>
                                        <m:t>)</m:t>
                                      </m:r>
                                    </m:e>
                                    <m:sup>
                                      <m:r>
                                        <a:rPr lang="en-US" altLang="zh-CN" i="1">
                                          <a:latin typeface="Cambria Math" panose="02040503050406030204" pitchFamily="18" charset="0"/>
                                        </a:rPr>
                                        <m:t>2</m:t>
                                      </m:r>
                                    </m:sup>
                                  </m:sSup>
                                </m:e>
                              </m:nary>
                            </m:e>
                          </m:nary>
                        </m:e>
                      </m:nary>
                    </m:oMath>
                  </m:oMathPara>
                </a14:m>
                <a:endParaRPr dirty="0"/>
              </a:p>
            </p:txBody>
          </p:sp>
        </mc:Choice>
        <mc:Fallback>
          <p:sp>
            <p:nvSpPr>
              <p:cNvPr id="3" name="文本框 2">
                <a:extLst>
                  <a:ext uri="{FF2B5EF4-FFF2-40B4-BE49-F238E27FC236}">
                    <a16:creationId xmlns:a16="http://schemas.microsoft.com/office/drawing/2014/main" id="{BCAB3F5F-6AFF-EF89-A1E4-73502979C62D}"/>
                  </a:ext>
                </a:extLst>
              </p:cNvPr>
              <p:cNvSpPr>
                <a:spLocks noGrp="1" noRot="1" noChangeAspect="1" noMove="1" noResize="1" noEditPoints="1" noAdjustHandles="1" noChangeArrowheads="1" noChangeShapeType="1" noTextEdit="1"/>
              </p:cNvSpPr>
              <p:nvPr/>
            </p:nvSpPr>
            <p:spPr>
              <a:xfrm>
                <a:off x="5876191" y="5769573"/>
                <a:ext cx="5385759" cy="841512"/>
              </a:xfrm>
              <a:prstGeom prst="rect">
                <a:avLst/>
              </a:prstGeom>
              <a:blipFill>
                <a:blip r:embed="rId8"/>
                <a:stretch>
                  <a:fillRect/>
                </a:stretch>
              </a:blipFill>
            </p:spPr>
            <p:txBody>
              <a:bodyPr/>
              <a:lstStyle/>
              <a:p>
                <a:r>
                  <a:rPr lang="zh-CN" altLang="en-US">
                    <a:noFill/>
                  </a:rPr>
                  <a:t> </a:t>
                </a:r>
              </a:p>
            </p:txBody>
          </p:sp>
        </mc:Fallback>
      </mc:AlternateContent>
      <p:sp>
        <p:nvSpPr>
          <p:cNvPr id="4" name="任意多边形: 形状 3">
            <a:extLst>
              <a:ext uri="{FF2B5EF4-FFF2-40B4-BE49-F238E27FC236}">
                <a16:creationId xmlns:a16="http://schemas.microsoft.com/office/drawing/2014/main" id="{79A80C76-A8C6-DC17-1C86-24E6D63FF648}"/>
              </a:ext>
            </a:extLst>
          </p:cNvPr>
          <p:cNvSpPr>
            <a:spLocks noGrp="1"/>
          </p:cNvSpPr>
          <p:nvPr/>
        </p:nvSpPr>
        <p:spPr>
          <a:xfrm>
            <a:off x="129539" y="225889"/>
            <a:ext cx="3487645" cy="508923"/>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911F22"/>
          </a:solidFill>
          <a:ln w="38100">
            <a:solidFill>
              <a:srgbClr val="911F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6" name="矩形 5">
            <a:extLst>
              <a:ext uri="{FF2B5EF4-FFF2-40B4-BE49-F238E27FC236}">
                <a16:creationId xmlns:a16="http://schemas.microsoft.com/office/drawing/2014/main" id="{E8A40E9A-3355-8D61-190C-054978F7EB48}"/>
              </a:ext>
            </a:extLst>
          </p:cNvPr>
          <p:cNvSpPr>
            <a:spLocks noGrp="1"/>
          </p:cNvSpPr>
          <p:nvPr/>
        </p:nvSpPr>
        <p:spPr>
          <a:xfrm>
            <a:off x="373031" y="256095"/>
            <a:ext cx="2874505" cy="461665"/>
          </a:xfrm>
          <a:prstGeom prst="rect">
            <a:avLst/>
          </a:prstGeom>
        </p:spPr>
        <p:txBody>
          <a:bodyPr wrap="none">
            <a:spAutoFit/>
          </a:bodyPr>
          <a:lstStyle/>
          <a:p>
            <a:r>
              <a:rPr lang="zh-CN" altLang="en-US" sz="2400" b="1" dirty="0">
                <a:solidFill>
                  <a:schemeClr val="bg1"/>
                </a:solidFill>
                <a:latin typeface="字魂105号-简雅黑"/>
                <a:ea typeface="字魂105号-简雅黑"/>
                <a:cs typeface="字魂105号-简雅黑"/>
              </a:rPr>
              <a:t>跨接收机 </a:t>
            </a:r>
            <a:r>
              <a:rPr lang="en-US" altLang="zh-CN" sz="2400" b="1" dirty="0">
                <a:solidFill>
                  <a:schemeClr val="bg1"/>
                </a:solidFill>
                <a:latin typeface="字魂105号-简雅黑"/>
                <a:ea typeface="字魂105号-简雅黑"/>
                <a:cs typeface="字魂105号-简雅黑"/>
              </a:rPr>
              <a:t>RFFI </a:t>
            </a:r>
            <a:r>
              <a:rPr lang="zh-CN" altLang="en-US" sz="2400" b="1" dirty="0">
                <a:solidFill>
                  <a:schemeClr val="bg1"/>
                </a:solidFill>
                <a:latin typeface="字魂105号-简雅黑"/>
                <a:ea typeface="字魂105号-简雅黑"/>
                <a:cs typeface="字魂105号-简雅黑"/>
              </a:rPr>
              <a:t>框架</a:t>
            </a:r>
          </a:p>
        </p:txBody>
      </p:sp>
      <p:sp>
        <p:nvSpPr>
          <p:cNvPr id="8" name="文本框 7">
            <a:extLst>
              <a:ext uri="{FF2B5EF4-FFF2-40B4-BE49-F238E27FC236}">
                <a16:creationId xmlns:a16="http://schemas.microsoft.com/office/drawing/2014/main" id="{A8A90BC2-0340-74FB-9AA6-B6AB2268960A}"/>
              </a:ext>
            </a:extLst>
          </p:cNvPr>
          <p:cNvSpPr txBox="1"/>
          <p:nvPr/>
        </p:nvSpPr>
        <p:spPr>
          <a:xfrm>
            <a:off x="373031" y="5169409"/>
            <a:ext cx="5042377" cy="1200329"/>
          </a:xfrm>
          <a:prstGeom prst="rect">
            <a:avLst/>
          </a:prstGeom>
          <a:noFill/>
        </p:spPr>
        <p:txBody>
          <a:bodyPr wrap="square">
            <a:spAutoFit/>
          </a:bodyPr>
          <a:lstStyle/>
          <a:p>
            <a:r>
              <a:rPr lang="zh-CN" altLang="zh-CN" dirty="0"/>
              <a:t>两个源接收机训练四层CNN，并在未见目标接收机上测试。</a:t>
            </a:r>
            <a:endParaRPr lang="en-US" altLang="zh-CN" dirty="0"/>
          </a:p>
          <a:p>
            <a:r>
              <a:rPr lang="zh-CN" altLang="zh-CN" dirty="0"/>
              <a:t>统计各层特征均值与方差相对源域参考统计量的差异，数值越大</a:t>
            </a:r>
            <a:r>
              <a:rPr lang="zh-CN" altLang="en-US" dirty="0"/>
              <a:t>说明</a:t>
            </a:r>
            <a:r>
              <a:rPr lang="zh-CN" altLang="zh-CN" dirty="0"/>
              <a:t>接收机</a:t>
            </a:r>
            <a:r>
              <a:rPr lang="zh-CN" altLang="en-US" dirty="0"/>
              <a:t>统计量</a:t>
            </a:r>
            <a:r>
              <a:rPr lang="zh-CN" altLang="zh-CN" dirty="0"/>
              <a:t>偏移越明显。</a:t>
            </a:r>
            <a:endParaRPr lang="zh-CN" altLang="en-US" dirty="0"/>
          </a:p>
        </p:txBody>
      </p:sp>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0DD28061-636D-7788-EEE7-AC2BC94ADE79}"/>
                  </a:ext>
                </a:extLst>
              </p:cNvPr>
              <p:cNvSpPr txBox="1"/>
              <p:nvPr/>
            </p:nvSpPr>
            <p:spPr>
              <a:xfrm>
                <a:off x="5876191" y="2194880"/>
                <a:ext cx="6095158" cy="1234120"/>
              </a:xfrm>
              <a:prstGeom prst="rect">
                <a:avLst/>
              </a:prstGeom>
              <a:noFill/>
            </p:spPr>
            <p:txBody>
              <a:bodyPr wrap="square">
                <a:spAutoFit/>
              </a:bodyPr>
              <a:lstStyle/>
              <a:p>
                <a:r>
                  <a:rPr lang="zh-CN" altLang="en-US" dirty="0"/>
                  <a:t>若</a:t>
                </a:r>
                <a:r>
                  <a:rPr lang="zh-CN" altLang="zh-CN" dirty="0"/>
                  <a:t>目标域</a:t>
                </a:r>
                <a:endParaRPr lang="en-US" altLang="zh-CN" dirty="0"/>
              </a:p>
              <a:p>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m:rPr>
                              <m:sty m:val="p"/>
                            </m:rPr>
                            <a:rPr lang="zh-CN" altLang="en-US" i="1" smtClean="0">
                              <a:latin typeface="Cambria Math" panose="02040503050406030204" pitchFamily="18" charset="0"/>
                            </a:rPr>
                            <m:t>src</m:t>
                          </m:r>
                        </m:sub>
                      </m:sSub>
                      <m:r>
                        <a:rPr lang="zh-CN" altLang="en-US" i="1" smtClean="0">
                          <a:latin typeface="Cambria Math" panose="02040503050406030204" pitchFamily="18" charset="0"/>
                        </a:rPr>
                        <m:t>,  </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𝜎</m:t>
                          </m:r>
                        </m:e>
                        <m:sub>
                          <m:r>
                            <a:rPr lang="zh-CN" altLang="en-US" i="1" smtClean="0">
                              <a:latin typeface="Cambria Math" panose="02040503050406030204" pitchFamily="18" charset="0"/>
                            </a:rPr>
                            <m:t>𝑡</m:t>
                          </m:r>
                        </m:sub>
                        <m:sup>
                          <m:r>
                            <a:rPr lang="zh-CN" altLang="en-US" i="1" smtClean="0">
                              <a:latin typeface="Cambria Math" panose="02040503050406030204" pitchFamily="18" charset="0"/>
                            </a:rPr>
                            <m:t>2</m:t>
                          </m:r>
                        </m:sup>
                      </m:sSubSup>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𝜎</m:t>
                          </m:r>
                        </m:e>
                        <m:sub>
                          <m:r>
                            <m:rPr>
                              <m:sty m:val="p"/>
                            </m:rPr>
                            <a:rPr lang="zh-CN" altLang="en-US" i="1" smtClean="0">
                              <a:latin typeface="Cambria Math" panose="02040503050406030204" pitchFamily="18" charset="0"/>
                            </a:rPr>
                            <m:t>src</m:t>
                          </m:r>
                        </m:sub>
                        <m:sup>
                          <m:r>
                            <a:rPr lang="zh-CN" altLang="en-US" i="1" smtClean="0">
                              <a:latin typeface="Cambria Math" panose="02040503050406030204" pitchFamily="18" charset="0"/>
                            </a:rPr>
                            <m:t>2</m:t>
                          </m:r>
                        </m:sup>
                      </m:sSubSup>
                    </m:oMath>
                  </m:oMathPara>
                </a14:m>
                <a:endParaRPr lang="en-US" altLang="zh-CN" dirty="0"/>
              </a:p>
              <a:p>
                <a:endParaRPr lang="en-US" altLang="zh-CN" dirty="0"/>
              </a:p>
              <a:p>
                <a:r>
                  <a:rPr lang="zh-CN" altLang="en-US" dirty="0"/>
                  <a:t>将导致特征被错误的归一化，引起特征分布的偏差</a:t>
                </a:r>
              </a:p>
            </p:txBody>
          </p:sp>
        </mc:Choice>
        <mc:Fallback>
          <p:sp>
            <p:nvSpPr>
              <p:cNvPr id="10" name="文本框 9">
                <a:extLst>
                  <a:ext uri="{FF2B5EF4-FFF2-40B4-BE49-F238E27FC236}">
                    <a16:creationId xmlns:a16="http://schemas.microsoft.com/office/drawing/2014/main" id="{0DD28061-636D-7788-EEE7-AC2BC94ADE79}"/>
                  </a:ext>
                </a:extLst>
              </p:cNvPr>
              <p:cNvSpPr txBox="1">
                <a:spLocks noRot="1" noChangeAspect="1" noMove="1" noResize="1" noEditPoints="1" noAdjustHandles="1" noChangeArrowheads="1" noChangeShapeType="1" noTextEdit="1"/>
              </p:cNvSpPr>
              <p:nvPr/>
            </p:nvSpPr>
            <p:spPr>
              <a:xfrm>
                <a:off x="5876191" y="2194880"/>
                <a:ext cx="6095158" cy="1234120"/>
              </a:xfrm>
              <a:prstGeom prst="rect">
                <a:avLst/>
              </a:prstGeom>
              <a:blipFill>
                <a:blip r:embed="rId9"/>
                <a:stretch>
                  <a:fillRect l="-900" t="-2463" b="-640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19211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图片 3"/>
          <p:cNvPicPr>
            <a:picLocks noChangeAspect="1"/>
          </p:cNvPicPr>
          <p:nvPr/>
        </p:nvPicPr>
        <p:blipFill>
          <a:blip r:embed="rId3"/>
          <a:stretch>
            <a:fillRect/>
          </a:stretch>
        </p:blipFill>
        <p:spPr>
          <a:xfrm>
            <a:off x="10800000" y="216000"/>
            <a:ext cx="1168402" cy="312900"/>
          </a:xfrm>
          <a:prstGeom prst="rect">
            <a:avLst/>
          </a:prstGeom>
        </p:spPr>
      </p:pic>
      <p:sp>
        <p:nvSpPr>
          <p:cNvPr id="15" name="灯片编号占位符 14">
            <a:extLst>
              <a:ext uri="{FF2B5EF4-FFF2-40B4-BE49-F238E27FC236}">
                <a16:creationId xmlns:a16="http://schemas.microsoft.com/office/drawing/2014/main" id="{2954C5AB-1B7F-3CA8-70B8-9D3926ED2A90}"/>
              </a:ext>
            </a:extLst>
          </p:cNvPr>
          <p:cNvSpPr>
            <a:spLocks noGrp="1"/>
          </p:cNvSpPr>
          <p:nvPr>
            <p:ph type="sldNum" idx="12"/>
          </p:nvPr>
        </p:nvSpPr>
        <p:spPr>
          <a:xfrm>
            <a:off x="11143385" y="6328379"/>
            <a:ext cx="825017" cy="365125"/>
          </a:xfrm>
        </p:spPr>
        <p:txBody>
          <a:bodyPr/>
          <a:lstStyle/>
          <a:p>
            <a:r>
              <a:rPr dirty="0"/>
              <a:t>12</a:t>
            </a:r>
          </a:p>
        </p:txBody>
      </p:sp>
      <p:sp>
        <p:nvSpPr>
          <p:cNvPr id="62" name="文本框 61">
            <a:extLst>
              <a:ext uri="{FF2B5EF4-FFF2-40B4-BE49-F238E27FC236}">
                <a16:creationId xmlns:a16="http://schemas.microsoft.com/office/drawing/2014/main" id="{261C5A57-3441-444F-DE93-F1F7093FF5C0}"/>
              </a:ext>
            </a:extLst>
          </p:cNvPr>
          <p:cNvSpPr>
            <a:spLocks noGrp="1"/>
          </p:cNvSpPr>
          <p:nvPr/>
        </p:nvSpPr>
        <p:spPr>
          <a:xfrm>
            <a:off x="199090" y="863717"/>
            <a:ext cx="5461141" cy="369332"/>
          </a:xfrm>
          <a:prstGeom prst="rect">
            <a:avLst/>
          </a:prstGeom>
          <a:noFill/>
        </p:spPr>
        <p:txBody>
          <a:bodyPr wrap="square">
            <a:spAutoFit/>
          </a:bodyPr>
          <a:lstStyle/>
          <a:p>
            <a:r>
              <a:rPr lang="zh-CN" altLang="en-US" b="1" dirty="0">
                <a:solidFill>
                  <a:srgbClr val="911F22"/>
                </a:solidFill>
                <a:latin typeface="微软雅黑"/>
                <a:ea typeface="微软雅黑"/>
                <a:cs typeface="微软雅黑"/>
              </a:rPr>
              <a:t>输入梯度掩码：削弱模型对接收机主导采样点的依赖</a:t>
            </a:r>
          </a:p>
        </p:txBody>
      </p:sp>
      <p:sp>
        <p:nvSpPr>
          <p:cNvPr id="2" name="文本框 1">
            <a:extLst>
              <a:ext uri="{FF2B5EF4-FFF2-40B4-BE49-F238E27FC236}">
                <a16:creationId xmlns:a16="http://schemas.microsoft.com/office/drawing/2014/main" id="{1BC4D06F-CA32-E724-3226-FD455F338537}"/>
              </a:ext>
            </a:extLst>
          </p:cNvPr>
          <p:cNvSpPr>
            <a:spLocks noGrp="1"/>
          </p:cNvSpPr>
          <p:nvPr/>
        </p:nvSpPr>
        <p:spPr>
          <a:xfrm>
            <a:off x="230082" y="1311303"/>
            <a:ext cx="5578417" cy="646331"/>
          </a:xfrm>
          <a:prstGeom prst="rect">
            <a:avLst/>
          </a:prstGeom>
          <a:noFill/>
        </p:spPr>
        <p:txBody>
          <a:bodyPr wrap="square">
            <a:spAutoFit/>
          </a:bodyPr>
          <a:lstStyle/>
          <a:p>
            <a:r>
              <a:rPr lang="zh-CN" altLang="zh-CN" dirty="0"/>
              <a:t>对</a:t>
            </a:r>
            <a:r>
              <a:rPr lang="zh-CN" altLang="en-US" dirty="0"/>
              <a:t>同一</a:t>
            </a:r>
            <a:r>
              <a:rPr lang="zh-CN" altLang="zh-CN" dirty="0"/>
              <a:t>IQ信号计算输入梯度显著性，比较不同模型</a:t>
            </a:r>
            <a:r>
              <a:rPr lang="zh-CN" altLang="en-US" dirty="0"/>
              <a:t>对接收机数据</a:t>
            </a:r>
            <a:r>
              <a:rPr lang="zh-CN" altLang="zh-CN" dirty="0"/>
              <a:t>所关注采样位置的一致程度。</a:t>
            </a:r>
            <a:endParaRPr lang="zh-CN" altLang="en-US" dirty="0">
              <a:latin typeface="Times New Roman"/>
              <a:ea typeface="Times New Roman"/>
              <a:cs typeface="Times New Roman"/>
            </a:endParaRPr>
          </a:p>
        </p:txBody>
      </p:sp>
      <p:sp>
        <p:nvSpPr>
          <p:cNvPr id="3" name="箭头: 下 2">
            <a:extLst>
              <a:ext uri="{FF2B5EF4-FFF2-40B4-BE49-F238E27FC236}">
                <a16:creationId xmlns:a16="http://schemas.microsoft.com/office/drawing/2014/main" id="{A9AEEFE1-0517-3C49-669F-D72835F97FAC}"/>
              </a:ext>
            </a:extLst>
          </p:cNvPr>
          <p:cNvSpPr>
            <a:spLocks noGrp="1"/>
          </p:cNvSpPr>
          <p:nvPr/>
        </p:nvSpPr>
        <p:spPr>
          <a:xfrm>
            <a:off x="2542663" y="1992237"/>
            <a:ext cx="559224" cy="457951"/>
          </a:xfrm>
          <a:prstGeom prst="downArrow">
            <a:avLst/>
          </a:prstGeom>
          <a:solidFill>
            <a:schemeClr val="accent2">
              <a:lumMod val="60000"/>
              <a:lumOff val="4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文本框 4">
            <a:extLst>
              <a:ext uri="{FF2B5EF4-FFF2-40B4-BE49-F238E27FC236}">
                <a16:creationId xmlns:a16="http://schemas.microsoft.com/office/drawing/2014/main" id="{A66D169E-3220-F96C-3E08-43CD1656B426}"/>
              </a:ext>
            </a:extLst>
          </p:cNvPr>
          <p:cNvSpPr>
            <a:spLocks noGrp="1"/>
          </p:cNvSpPr>
          <p:nvPr/>
        </p:nvSpPr>
        <p:spPr>
          <a:xfrm>
            <a:off x="1440927" y="2450188"/>
            <a:ext cx="3226281" cy="369332"/>
          </a:xfrm>
          <a:prstGeom prst="rect">
            <a:avLst/>
          </a:prstGeom>
          <a:noFill/>
        </p:spPr>
        <p:txBody>
          <a:bodyPr wrap="square">
            <a:spAutoFit/>
          </a:bodyPr>
          <a:lstStyle/>
          <a:p>
            <a:r>
              <a:rPr lang="zh-CN" altLang="en-US" b="1" dirty="0">
                <a:latin typeface="Times New Roman"/>
                <a:ea typeface="Times New Roman"/>
                <a:cs typeface="Times New Roman"/>
              </a:rPr>
              <a:t>梯度响应揭示跨接收机差异</a:t>
            </a:r>
          </a:p>
        </p:txBody>
      </p:sp>
      <p:pic>
        <p:nvPicPr>
          <p:cNvPr id="73" name="图片 7"/>
          <p:cNvPicPr>
            <a:picLocks noChangeAspect="1"/>
          </p:cNvPicPr>
          <p:nvPr/>
        </p:nvPicPr>
        <p:blipFill>
          <a:blip r:embed="rId4"/>
          <a:stretch>
            <a:fillRect/>
          </a:stretch>
        </p:blipFill>
        <p:spPr>
          <a:xfrm>
            <a:off x="199090" y="2763949"/>
            <a:ext cx="5461141" cy="3303532"/>
          </a:xfrm>
          <a:prstGeom prst="rect">
            <a:avLst/>
          </a:prstGeom>
        </p:spPr>
      </p:pic>
      <p:sp>
        <p:nvSpPr>
          <p:cNvPr id="4" name="任意多边形: 形状 3">
            <a:extLst>
              <a:ext uri="{FF2B5EF4-FFF2-40B4-BE49-F238E27FC236}">
                <a16:creationId xmlns:a16="http://schemas.microsoft.com/office/drawing/2014/main" id="{EBAC6012-20BB-E735-447F-FABA0312451E}"/>
              </a:ext>
            </a:extLst>
          </p:cNvPr>
          <p:cNvSpPr>
            <a:spLocks noGrp="1"/>
          </p:cNvSpPr>
          <p:nvPr/>
        </p:nvSpPr>
        <p:spPr>
          <a:xfrm>
            <a:off x="129539" y="225889"/>
            <a:ext cx="3487645" cy="508923"/>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911F22"/>
          </a:solidFill>
          <a:ln w="38100">
            <a:solidFill>
              <a:srgbClr val="911F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6" name="矩形 5">
            <a:extLst>
              <a:ext uri="{FF2B5EF4-FFF2-40B4-BE49-F238E27FC236}">
                <a16:creationId xmlns:a16="http://schemas.microsoft.com/office/drawing/2014/main" id="{98F76CCF-0CE8-F4F5-6A0D-71ECDE731244}"/>
              </a:ext>
            </a:extLst>
          </p:cNvPr>
          <p:cNvSpPr>
            <a:spLocks noGrp="1"/>
          </p:cNvSpPr>
          <p:nvPr/>
        </p:nvSpPr>
        <p:spPr>
          <a:xfrm>
            <a:off x="373031" y="256095"/>
            <a:ext cx="2874505" cy="461665"/>
          </a:xfrm>
          <a:prstGeom prst="rect">
            <a:avLst/>
          </a:prstGeom>
        </p:spPr>
        <p:txBody>
          <a:bodyPr wrap="none">
            <a:spAutoFit/>
          </a:bodyPr>
          <a:lstStyle/>
          <a:p>
            <a:r>
              <a:rPr lang="zh-CN" altLang="en-US" sz="2400" b="1" dirty="0">
                <a:solidFill>
                  <a:schemeClr val="bg1"/>
                </a:solidFill>
                <a:latin typeface="字魂105号-简雅黑"/>
                <a:ea typeface="字魂105号-简雅黑"/>
                <a:cs typeface="字魂105号-简雅黑"/>
              </a:rPr>
              <a:t>跨接收机 </a:t>
            </a:r>
            <a:r>
              <a:rPr lang="en-US" altLang="zh-CN" sz="2400" b="1" dirty="0">
                <a:solidFill>
                  <a:schemeClr val="bg1"/>
                </a:solidFill>
                <a:latin typeface="字魂105号-简雅黑"/>
                <a:ea typeface="字魂105号-简雅黑"/>
                <a:cs typeface="字魂105号-简雅黑"/>
              </a:rPr>
              <a:t>RFFI </a:t>
            </a:r>
            <a:r>
              <a:rPr lang="zh-CN" altLang="en-US" sz="2400" b="1" dirty="0">
                <a:solidFill>
                  <a:schemeClr val="bg1"/>
                </a:solidFill>
                <a:latin typeface="字魂105号-简雅黑"/>
                <a:ea typeface="字魂105号-简雅黑"/>
                <a:cs typeface="字魂105号-简雅黑"/>
              </a:rPr>
              <a:t>框架</a:t>
            </a:r>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4A23FFD5-F0DC-30D9-DDD1-A143B42C443A}"/>
                  </a:ext>
                </a:extLst>
              </p:cNvPr>
              <p:cNvSpPr txBox="1"/>
              <p:nvPr/>
            </p:nvSpPr>
            <p:spPr>
              <a:xfrm>
                <a:off x="69915" y="6067481"/>
                <a:ext cx="9311526" cy="646331"/>
              </a:xfrm>
              <a:prstGeom prst="rect">
                <a:avLst/>
              </a:prstGeom>
              <a:noFill/>
            </p:spPr>
            <p:txBody>
              <a:bodyPr wrap="square" rtlCol="0">
                <a:spAutoFit/>
              </a:bodyPr>
              <a:lstStyle/>
              <a:p>
                <a:r>
                  <a:rPr lang="zh-CN" altLang="zh-CN" dirty="0"/>
                  <a:t>同接收机</a:t>
                </a:r>
                <a:r>
                  <a:rPr lang="zh-CN" altLang="en-US" dirty="0"/>
                  <a:t>模型</a:t>
                </a:r>
                <a:r>
                  <a:rPr lang="zh-CN" altLang="zh-CN" dirty="0"/>
                  <a:t>：梯度响应高度一致，Pearson相关系数为 </a:t>
                </a:r>
                <a14:m>
                  <m:oMath xmlns:m="http://schemas.openxmlformats.org/officeDocument/2006/math">
                    <m:r>
                      <a:rPr lang="zh-CN" altLang="zh-CN" i="1" dirty="0">
                        <a:latin typeface="Cambria Math" panose="02040503050406030204" pitchFamily="18" charset="0"/>
                      </a:rPr>
                      <m:t>0.88</m:t>
                    </m:r>
                  </m:oMath>
                </a14:m>
                <a:r>
                  <a:rPr lang="zh-CN" altLang="zh-CN" dirty="0"/>
                  <a:t>。</a:t>
                </a:r>
                <a:br>
                  <a:rPr lang="zh-CN" altLang="zh-CN" dirty="0"/>
                </a:br>
                <a:r>
                  <a:rPr lang="zh-CN" altLang="zh-CN" dirty="0"/>
                  <a:t>跨接收机</a:t>
                </a:r>
                <a:r>
                  <a:rPr lang="zh-CN" altLang="en-US" dirty="0"/>
                  <a:t>模型</a:t>
                </a:r>
                <a:r>
                  <a:rPr lang="zh-CN" altLang="zh-CN" dirty="0"/>
                  <a:t>：梯度响应相关系数下降至 </a:t>
                </a:r>
                <a14:m>
                  <m:oMath xmlns:m="http://schemas.openxmlformats.org/officeDocument/2006/math">
                    <m:r>
                      <a:rPr lang="zh-CN" altLang="zh-CN" i="1" dirty="0">
                        <a:latin typeface="Cambria Math" panose="02040503050406030204" pitchFamily="18" charset="0"/>
                      </a:rPr>
                      <m:t>0.33</m:t>
                    </m:r>
                  </m:oMath>
                </a14:m>
                <a:r>
                  <a:rPr lang="zh-CN" altLang="zh-CN" dirty="0"/>
                  <a:t>，高梯度位置随接收机发生明显变化。</a:t>
                </a:r>
                <a:endParaRPr lang="zh-CN" altLang="en-US" dirty="0"/>
              </a:p>
            </p:txBody>
          </p:sp>
        </mc:Choice>
        <mc:Fallback>
          <p:sp>
            <p:nvSpPr>
              <p:cNvPr id="8" name="文本框 7">
                <a:extLst>
                  <a:ext uri="{FF2B5EF4-FFF2-40B4-BE49-F238E27FC236}">
                    <a16:creationId xmlns:a16="http://schemas.microsoft.com/office/drawing/2014/main" id="{4A23FFD5-F0DC-30D9-DDD1-A143B42C443A}"/>
                  </a:ext>
                </a:extLst>
              </p:cNvPr>
              <p:cNvSpPr txBox="1">
                <a:spLocks noRot="1" noChangeAspect="1" noMove="1" noResize="1" noEditPoints="1" noAdjustHandles="1" noChangeArrowheads="1" noChangeShapeType="1" noTextEdit="1"/>
              </p:cNvSpPr>
              <p:nvPr/>
            </p:nvSpPr>
            <p:spPr>
              <a:xfrm>
                <a:off x="69915" y="6067481"/>
                <a:ext cx="9311526" cy="646331"/>
              </a:xfrm>
              <a:prstGeom prst="rect">
                <a:avLst/>
              </a:prstGeom>
              <a:blipFill>
                <a:blip r:embed="rId5"/>
                <a:stretch>
                  <a:fillRect l="-524" t="-4717" b="-1415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44BE8224-090E-7404-C5E0-3CCF2776C647}"/>
                  </a:ext>
                </a:extLst>
              </p:cNvPr>
              <p:cNvSpPr txBox="1"/>
              <p:nvPr/>
            </p:nvSpPr>
            <p:spPr>
              <a:xfrm>
                <a:off x="6560905" y="693358"/>
                <a:ext cx="5501556" cy="5481437"/>
              </a:xfrm>
              <a:prstGeom prst="rect">
                <a:avLst/>
              </a:prstGeom>
              <a:noFill/>
            </p:spPr>
            <p:txBody>
              <a:bodyPr wrap="square">
                <a:spAutoFit/>
              </a:bodyPr>
              <a:lstStyle/>
              <a:p>
                <a:r>
                  <a:rPr lang="zh-CN" altLang="zh-CN" b="1" dirty="0"/>
                  <a:t>说明模型关注的显著性采样点包含较强的接收机相关信息。</a:t>
                </a:r>
                <a:endParaRPr lang="en-US" altLang="zh-CN" b="1" dirty="0"/>
              </a:p>
              <a:p>
                <a:endParaRPr lang="en-US" altLang="zh-CN" b="1" dirty="0"/>
              </a:p>
              <a:p>
                <a:r>
                  <a:rPr lang="zh-CN" altLang="zh-CN" b="1" dirty="0"/>
                  <a:t>训练时根据当前模型的输入梯度，自适应选择显著性最高的采样位置并置零</a:t>
                </a:r>
                <a:r>
                  <a:rPr lang="zh-CN" altLang="en-US" b="1" dirty="0"/>
                  <a:t>：</a:t>
                </a:r>
                <a:endParaRPr lang="en-US" altLang="zh-CN" b="1" dirty="0"/>
              </a:p>
              <a:p>
                <a:endParaRPr lang="en-US" altLang="zh-CN" b="1" dirty="0"/>
              </a:p>
              <a:p>
                <a:r>
                  <a:rPr lang="zh-CN" altLang="zh-CN" dirty="0"/>
                  <a:t>对于输入IQ信号</a:t>
                </a:r>
                <a14:m>
                  <m:oMath xmlns:m="http://schemas.openxmlformats.org/officeDocument/2006/math">
                    <m:r>
                      <a:rPr lang="zh-CN" altLang="en-US" b="1" i="1">
                        <a:latin typeface="Cambria Math" panose="02040503050406030204" pitchFamily="18" charset="0"/>
                      </a:rPr>
                      <m:t>𝑥</m:t>
                    </m:r>
                  </m:oMath>
                </a14:m>
                <a:r>
                  <a:rPr lang="zh-CN" altLang="zh-CN" dirty="0"/>
                  <a:t>，根据分类损失计算输入梯度</a:t>
                </a:r>
                <a:r>
                  <a:rPr lang="zh-CN" altLang="en-US" dirty="0"/>
                  <a:t>的绝对值</a:t>
                </a:r>
                <a:r>
                  <a:rPr lang="zh-CN" altLang="zh-CN" dirty="0"/>
                  <a:t>：</a:t>
                </a:r>
                <a:endParaRPr lang="en-US" altLang="zh-CN" dirty="0"/>
              </a:p>
              <a:p>
                <a14:m>
                  <m:oMathPara xmlns:m="http://schemas.openxmlformats.org/officeDocument/2006/math">
                    <m:oMathParaPr>
                      <m:jc m:val="centerGroup"/>
                    </m:oMathParaPr>
                    <m:oMath xmlns:m="http://schemas.openxmlformats.org/officeDocument/2006/math">
                      <m:sSub>
                        <m:sSubPr>
                          <m:ctrlPr>
                            <a:rPr lang="zh-CN" altLang="en-US" b="1" i="1" smtClean="0">
                              <a:latin typeface="Cambria Math" panose="02040503050406030204" pitchFamily="18" charset="0"/>
                            </a:rPr>
                          </m:ctrlPr>
                        </m:sSubPr>
                        <m:e>
                          <m:r>
                            <a:rPr lang="en-US" altLang="zh-CN" b="1" i="1" smtClean="0">
                              <a:latin typeface="Cambria Math" panose="02040503050406030204" pitchFamily="18" charset="0"/>
                            </a:rPr>
                            <m:t>𝑺</m:t>
                          </m:r>
                        </m:e>
                        <m:sub>
                          <m:r>
                            <a:rPr lang="zh-CN" altLang="en-US" b="1" i="1" smtClean="0">
                              <a:latin typeface="Cambria Math" panose="02040503050406030204" pitchFamily="18" charset="0"/>
                            </a:rPr>
                            <m:t>𝑏</m:t>
                          </m:r>
                        </m:sub>
                      </m:sSub>
                      <m:r>
                        <a:rPr lang="zh-CN" altLang="en-US" b="1" i="1" smtClean="0">
                          <a:latin typeface="Cambria Math" panose="02040503050406030204" pitchFamily="18" charset="0"/>
                        </a:rPr>
                        <m:t>=</m:t>
                      </m:r>
                      <m:d>
                        <m:dPr>
                          <m:begChr m:val="|"/>
                          <m:endChr m:val="|"/>
                          <m:ctrlPr>
                            <a:rPr lang="zh-CN" altLang="en-US" b="1" i="1" smtClean="0">
                              <a:latin typeface="Cambria Math" panose="02040503050406030204" pitchFamily="18" charset="0"/>
                            </a:rPr>
                          </m:ctrlPr>
                        </m:dPr>
                        <m:e>
                          <m:f>
                            <m:fPr>
                              <m:ctrlPr>
                                <a:rPr lang="zh-CN" altLang="en-US" b="1" i="1" smtClean="0">
                                  <a:latin typeface="Cambria Math" panose="02040503050406030204" pitchFamily="18" charset="0"/>
                                </a:rPr>
                              </m:ctrlPr>
                            </m:fPr>
                            <m:num>
                              <m:r>
                                <a:rPr lang="zh-CN" altLang="en-US" b="1" i="1" smtClean="0">
                                  <a:latin typeface="Cambria Math" panose="02040503050406030204" pitchFamily="18" charset="0"/>
                                </a:rPr>
                                <m:t>𝜕</m:t>
                              </m:r>
                              <m:sSub>
                                <m:sSubPr>
                                  <m:ctrlPr>
                                    <a:rPr lang="zh-CN" altLang="en-US" b="1" i="1" smtClean="0">
                                      <a:latin typeface="Cambria Math" panose="02040503050406030204" pitchFamily="18" charset="0"/>
                                    </a:rPr>
                                  </m:ctrlPr>
                                </m:sSubPr>
                                <m:e>
                                  <m:r>
                                    <a:rPr lang="zh-CN" altLang="en-US" b="1" i="1" smtClean="0">
                                      <a:latin typeface="Cambria Math" panose="02040503050406030204" pitchFamily="18" charset="0"/>
                                    </a:rPr>
                                    <m:t>ℒ</m:t>
                                  </m:r>
                                </m:e>
                                <m:sub>
                                  <m:r>
                                    <m:rPr>
                                      <m:sty m:val="p"/>
                                    </m:rPr>
                                    <a:rPr lang="zh-CN" altLang="en-US" b="1" i="1" smtClean="0">
                                      <a:latin typeface="Cambria Math" panose="02040503050406030204" pitchFamily="18" charset="0"/>
                                    </a:rPr>
                                    <m:t>cls</m:t>
                                  </m:r>
                                </m:sub>
                              </m:sSub>
                              <m:d>
                                <m:dPr>
                                  <m:ctrlPr>
                                    <a:rPr lang="zh-CN" altLang="en-US" b="1" i="1" smtClean="0">
                                      <a:latin typeface="Cambria Math" panose="02040503050406030204" pitchFamily="18" charset="0"/>
                                    </a:rPr>
                                  </m:ctrlPr>
                                </m:dPr>
                                <m:e>
                                  <m:sSub>
                                    <m:sSubPr>
                                      <m:ctrlPr>
                                        <a:rPr lang="zh-CN" altLang="en-US" b="1" i="1" smtClean="0">
                                          <a:latin typeface="Cambria Math" panose="02040503050406030204" pitchFamily="18" charset="0"/>
                                        </a:rPr>
                                      </m:ctrlPr>
                                    </m:sSubPr>
                                    <m:e>
                                      <m:r>
                                        <a:rPr lang="zh-CN" altLang="en-US" b="1" i="1" smtClean="0">
                                          <a:latin typeface="Cambria Math" panose="02040503050406030204" pitchFamily="18" charset="0"/>
                                        </a:rPr>
                                        <m:t>𝑓</m:t>
                                      </m:r>
                                    </m:e>
                                    <m:sub>
                                      <m:r>
                                        <a:rPr lang="zh-CN" altLang="en-US" b="1" i="1" smtClean="0">
                                          <a:latin typeface="Cambria Math" panose="02040503050406030204" pitchFamily="18" charset="0"/>
                                        </a:rPr>
                                        <m:t>𝜃</m:t>
                                      </m:r>
                                    </m:sub>
                                  </m:sSub>
                                  <m:d>
                                    <m:dPr>
                                      <m:ctrlPr>
                                        <a:rPr lang="zh-CN" altLang="en-US" b="1" i="1" smtClean="0">
                                          <a:latin typeface="Cambria Math" panose="02040503050406030204" pitchFamily="18" charset="0"/>
                                        </a:rPr>
                                      </m:ctrlPr>
                                    </m:dPr>
                                    <m:e>
                                      <m:r>
                                        <a:rPr lang="zh-CN" altLang="en-US" b="1" i="1">
                                          <a:latin typeface="Cambria Math" panose="02040503050406030204" pitchFamily="18" charset="0"/>
                                        </a:rPr>
                                        <m:t>𝑥</m:t>
                                      </m:r>
                                    </m:e>
                                  </m:d>
                                  <m:r>
                                    <a:rPr lang="zh-CN" altLang="en-US" b="1" i="1" smtClean="0">
                                      <a:latin typeface="Cambria Math" panose="02040503050406030204" pitchFamily="18" charset="0"/>
                                    </a:rPr>
                                    <m:t>,</m:t>
                                  </m:r>
                                  <m:r>
                                    <m:rPr>
                                      <m:sty m:val="p"/>
                                    </m:rPr>
                                    <a:rPr lang="en-US" altLang="zh-CN" b="1" i="1">
                                      <a:latin typeface="Cambria Math" panose="02040503050406030204" pitchFamily="18" charset="0"/>
                                    </a:rPr>
                                    <m:t>y</m:t>
                                  </m:r>
                                </m:e>
                              </m:d>
                            </m:num>
                            <m:den>
                              <m:r>
                                <a:rPr lang="zh-CN" altLang="en-US" b="1" i="1">
                                  <a:latin typeface="Cambria Math" panose="02040503050406030204" pitchFamily="18" charset="0"/>
                                </a:rPr>
                                <m:t>𝜕</m:t>
                              </m:r>
                              <m:r>
                                <a:rPr lang="zh-CN" altLang="en-US" b="1" i="1">
                                  <a:latin typeface="Cambria Math" panose="02040503050406030204" pitchFamily="18" charset="0"/>
                                </a:rPr>
                                <m:t>𝑥</m:t>
                              </m:r>
                            </m:den>
                          </m:f>
                        </m:e>
                      </m:d>
                    </m:oMath>
                  </m:oMathPara>
                </a14:m>
                <a:endParaRPr lang="en-US" altLang="zh-CN" b="1" dirty="0"/>
              </a:p>
              <a:p>
                <a:endParaRPr lang="en-US" altLang="zh-CN" b="1" dirty="0"/>
              </a:p>
              <a:p>
                <a:r>
                  <a:rPr lang="zh-CN" altLang="zh-CN" dirty="0"/>
                  <a:t>设当前掩码比例为</a:t>
                </a:r>
                <a14:m>
                  <m:oMath xmlns:m="http://schemas.openxmlformats.org/officeDocument/2006/math">
                    <m:sSub>
                      <m:sSubPr>
                        <m:ctrlPr>
                          <a:rPr lang="zh-CN" altLang="zh-CN" i="1" smtClean="0">
                            <a:latin typeface="Cambria Math" panose="02040503050406030204" pitchFamily="18" charset="0"/>
                          </a:rPr>
                        </m:ctrlPr>
                      </m:sSubPr>
                      <m:e>
                        <m:r>
                          <a:rPr lang="zh-CN" altLang="zh-CN" i="1" smtClean="0">
                            <a:latin typeface="Cambria Math" panose="02040503050406030204" pitchFamily="18" charset="0"/>
                          </a:rPr>
                          <m:t>𝜌</m:t>
                        </m:r>
                      </m:e>
                      <m:sub>
                        <m:r>
                          <a:rPr lang="zh-CN" altLang="zh-CN" i="1" smtClean="0">
                            <a:latin typeface="Cambria Math" panose="02040503050406030204" pitchFamily="18" charset="0"/>
                          </a:rPr>
                          <m:t>𝑡</m:t>
                        </m:r>
                      </m:sub>
                    </m:sSub>
                  </m:oMath>
                </a14:m>
                <a:r>
                  <a:rPr lang="zh-CN" altLang="en-US" dirty="0"/>
                  <a:t>，显著性最高的前</a:t>
                </a:r>
                <a:r>
                  <a:rPr lang="en-US" altLang="zh-CN" dirty="0"/>
                  <a:t>K</a:t>
                </a:r>
                <a:r>
                  <a:rPr lang="zh-CN" altLang="en-US" dirty="0"/>
                  <a:t>个位置集合</a:t>
                </a:r>
                <a:r>
                  <a:rPr lang="zh-CN" altLang="en-US" b="1" dirty="0"/>
                  <a:t>：</a:t>
                </a:r>
                <a:endParaRPr lang="en-US" altLang="zh-CN" b="1" dirty="0"/>
              </a:p>
              <a:p>
                <a14:m>
                  <m:oMathPara xmlns:m="http://schemas.openxmlformats.org/officeDocument/2006/math">
                    <m:oMathParaPr>
                      <m:jc m:val="centerGroup"/>
                    </m:oMathParaPr>
                    <m:oMath xmlns:m="http://schemas.openxmlformats.org/officeDocument/2006/math">
                      <m:sSub>
                        <m:sSubPr>
                          <m:ctrlPr>
                            <a:rPr lang="zh-CN" altLang="en-US" b="1" i="1" smtClean="0">
                              <a:latin typeface="Cambria Math" panose="02040503050406030204" pitchFamily="18" charset="0"/>
                            </a:rPr>
                          </m:ctrlPr>
                        </m:sSubPr>
                        <m:e>
                          <m:r>
                            <m:rPr>
                              <m:sty m:val="p"/>
                            </m:rPr>
                            <a:rPr lang="zh-CN" altLang="en-US" b="1" i="1" smtClean="0">
                              <a:latin typeface="Cambria Math" panose="02040503050406030204" pitchFamily="18" charset="0"/>
                            </a:rPr>
                            <m:t>Ω</m:t>
                          </m:r>
                        </m:e>
                        <m:sub>
                          <m:r>
                            <a:rPr lang="zh-CN" altLang="en-US" b="1" i="1" smtClean="0">
                              <a:latin typeface="Cambria Math" panose="02040503050406030204" pitchFamily="18" charset="0"/>
                            </a:rPr>
                            <m:t>𝑏</m:t>
                          </m:r>
                        </m:sub>
                      </m:sSub>
                      <m:r>
                        <a:rPr lang="zh-CN" altLang="en-US" b="1" i="1" smtClean="0">
                          <a:latin typeface="Cambria Math" panose="02040503050406030204" pitchFamily="18" charset="0"/>
                        </a:rPr>
                        <m:t>=</m:t>
                      </m:r>
                      <m:func>
                        <m:funcPr>
                          <m:ctrlPr>
                            <a:rPr lang="zh-CN" altLang="en-US" b="1" i="1" smtClean="0">
                              <a:latin typeface="Cambria Math" panose="02040503050406030204" pitchFamily="18" charset="0"/>
                            </a:rPr>
                          </m:ctrlPr>
                        </m:funcPr>
                        <m:fName>
                          <m:r>
                            <m:rPr>
                              <m:sty m:val="p"/>
                            </m:rPr>
                            <a:rPr lang="zh-CN" altLang="en-US" b="1" i="1" smtClean="0">
                              <a:latin typeface="Cambria Math" panose="02040503050406030204" pitchFamily="18" charset="0"/>
                            </a:rPr>
                            <m:t>TopK</m:t>
                          </m:r>
                        </m:fName>
                        <m:e>
                          <m:d>
                            <m:dPr>
                              <m:ctrlPr>
                                <a:rPr lang="zh-CN" altLang="en-US" b="1" i="1" smtClean="0">
                                  <a:latin typeface="Cambria Math" panose="02040503050406030204" pitchFamily="18" charset="0"/>
                                </a:rPr>
                              </m:ctrlPr>
                            </m:dPr>
                            <m:e>
                              <m:sSub>
                                <m:sSubPr>
                                  <m:ctrlPr>
                                    <a:rPr lang="zh-CN" altLang="en-US" b="1" i="1" smtClean="0">
                                      <a:latin typeface="Cambria Math" panose="02040503050406030204" pitchFamily="18" charset="0"/>
                                    </a:rPr>
                                  </m:ctrlPr>
                                </m:sSubPr>
                                <m:e>
                                  <m:r>
                                    <a:rPr lang="zh-CN" altLang="en-US" b="1" i="1" smtClean="0">
                                      <a:latin typeface="Cambria Math" panose="02040503050406030204" pitchFamily="18" charset="0"/>
                                    </a:rPr>
                                    <m:t>𝑆</m:t>
                                  </m:r>
                                </m:e>
                                <m:sub>
                                  <m:r>
                                    <a:rPr lang="zh-CN" altLang="en-US" b="1" i="1" smtClean="0">
                                      <a:latin typeface="Cambria Math" panose="02040503050406030204" pitchFamily="18" charset="0"/>
                                    </a:rPr>
                                    <m:t>𝑏</m:t>
                                  </m:r>
                                </m:sub>
                              </m:sSub>
                              <m:r>
                                <a:rPr lang="zh-CN" altLang="en-US" b="1" i="1" smtClean="0">
                                  <a:latin typeface="Cambria Math" panose="02040503050406030204" pitchFamily="18" charset="0"/>
                                </a:rPr>
                                <m:t>,</m:t>
                              </m:r>
                              <m:r>
                                <a:rPr lang="zh-CN" altLang="en-US" b="1" i="1" smtClean="0">
                                  <a:latin typeface="Cambria Math" panose="02040503050406030204" pitchFamily="18" charset="0"/>
                                </a:rPr>
                                <m:t>𝐾</m:t>
                              </m:r>
                            </m:e>
                          </m:d>
                        </m:e>
                      </m:func>
                    </m:oMath>
                  </m:oMathPara>
                </a14:m>
                <a:endParaRPr lang="en-US" altLang="zh-CN" b="1" dirty="0"/>
              </a:p>
              <a:p>
                <a:endParaRPr lang="en-US" altLang="zh-CN" b="1" dirty="0"/>
              </a:p>
              <a:p>
                <a:r>
                  <a:rPr lang="zh-CN" altLang="en-US" dirty="0"/>
                  <a:t>生成掩码矩阵：</a:t>
                </a:r>
                <a:endParaRPr lang="en-US" altLang="zh-CN" dirty="0"/>
              </a:p>
              <a:p>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𝑀</m:t>
                          </m:r>
                        </m:e>
                        <m:sub>
                          <m:r>
                            <a:rPr lang="zh-CN" altLang="en-US" i="1" smtClean="0">
                              <a:latin typeface="Cambria Math" panose="02040503050406030204" pitchFamily="18" charset="0"/>
                            </a:rPr>
                            <m:t>𝑏</m:t>
                          </m:r>
                          <m:r>
                            <a:rPr lang="zh-CN" altLang="en-US" i="1" smtClean="0">
                              <a:latin typeface="Cambria Math" panose="02040503050406030204" pitchFamily="18" charset="0"/>
                            </a:rPr>
                            <m:t>,</m:t>
                          </m:r>
                          <m:r>
                            <a:rPr lang="zh-CN" altLang="en-US" i="1" smtClean="0">
                              <a:latin typeface="Cambria Math" panose="02040503050406030204" pitchFamily="18" charset="0"/>
                            </a:rPr>
                            <m:t>h</m:t>
                          </m:r>
                          <m:r>
                            <a:rPr lang="zh-CN" altLang="en-US" i="1" smtClean="0">
                              <a:latin typeface="Cambria Math" panose="02040503050406030204" pitchFamily="18" charset="0"/>
                            </a:rPr>
                            <m:t>,</m:t>
                          </m:r>
                          <m:r>
                            <a:rPr lang="zh-CN" altLang="en-US" i="1" smtClean="0">
                              <a:latin typeface="Cambria Math" panose="02040503050406030204" pitchFamily="18" charset="0"/>
                            </a:rPr>
                            <m:t>𝑤</m:t>
                          </m:r>
                        </m:sub>
                      </m:sSub>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m>
                            <m:mPr>
                              <m:mcs>
                                <m:mc>
                                  <m:mcPr>
                                    <m:count m:val="2"/>
                                    <m:mcJc m:val="center"/>
                                  </m:mcPr>
                                </m:mc>
                              </m:mcs>
                              <m:ctrlPr>
                                <a:rPr lang="zh-CN" altLang="en-US" i="1" smtClean="0">
                                  <a:latin typeface="Cambria Math" panose="02040503050406030204" pitchFamily="18" charset="0"/>
                                </a:rPr>
                              </m:ctrlPr>
                            </m:mPr>
                            <m:mr>
                              <m:e>
                                <m:r>
                                  <a:rPr lang="zh-CN" altLang="en-US" i="1" smtClean="0">
                                    <a:latin typeface="Cambria Math" panose="02040503050406030204" pitchFamily="18" charset="0"/>
                                  </a:rPr>
                                  <m:t>0,</m:t>
                                </m:r>
                              </m:e>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h</m:t>
                                    </m:r>
                                    <m:r>
                                      <a:rPr lang="zh-CN" altLang="en-US" i="1" smtClean="0">
                                        <a:latin typeface="Cambria Math" panose="02040503050406030204" pitchFamily="18" charset="0"/>
                                      </a:rPr>
                                      <m:t>,</m:t>
                                    </m:r>
                                    <m:r>
                                      <a:rPr lang="zh-CN" altLang="en-US" i="1" smtClean="0">
                                        <a:latin typeface="Cambria Math" panose="02040503050406030204" pitchFamily="18" charset="0"/>
                                      </a:rPr>
                                      <m:t>𝑤</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m:rPr>
                                        <m:sty m:val="p"/>
                                      </m:rPr>
                                      <a:rPr lang="zh-CN" altLang="en-US" i="1" smtClean="0">
                                        <a:latin typeface="Cambria Math" panose="02040503050406030204" pitchFamily="18" charset="0"/>
                                      </a:rPr>
                                      <m:t>Ω</m:t>
                                    </m:r>
                                  </m:e>
                                  <m:sub>
                                    <m:r>
                                      <a:rPr lang="zh-CN" altLang="en-US" i="1" smtClean="0">
                                        <a:latin typeface="Cambria Math" panose="02040503050406030204" pitchFamily="18" charset="0"/>
                                      </a:rPr>
                                      <m:t>𝑏</m:t>
                                    </m:r>
                                  </m:sub>
                                </m:sSub>
                                <m:r>
                                  <a:rPr lang="zh-CN" altLang="en-US" i="1" smtClean="0">
                                    <a:latin typeface="Cambria Math" panose="02040503050406030204" pitchFamily="18" charset="0"/>
                                  </a:rPr>
                                  <m:t>,</m:t>
                                </m:r>
                              </m:e>
                            </m:mr>
                            <m:mr>
                              <m:e>
                                <m:r>
                                  <a:rPr lang="zh-CN" altLang="en-US" i="1" smtClean="0">
                                    <a:latin typeface="Cambria Math" panose="02040503050406030204" pitchFamily="18" charset="0"/>
                                  </a:rPr>
                                  <m:t>1,</m:t>
                                </m:r>
                              </m:e>
                              <m:e>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h</m:t>
                                    </m:r>
                                    <m:r>
                                      <a:rPr lang="zh-CN" altLang="en-US" i="1" smtClean="0">
                                        <a:latin typeface="Cambria Math" panose="02040503050406030204" pitchFamily="18" charset="0"/>
                                      </a:rPr>
                                      <m:t>,</m:t>
                                    </m:r>
                                    <m:r>
                                      <a:rPr lang="zh-CN" altLang="en-US" i="1" smtClean="0">
                                        <a:latin typeface="Cambria Math" panose="02040503050406030204" pitchFamily="18" charset="0"/>
                                      </a:rPr>
                                      <m:t>𝑤</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m:rPr>
                                        <m:sty m:val="p"/>
                                      </m:rPr>
                                      <a:rPr lang="zh-CN" altLang="en-US" i="1" smtClean="0">
                                        <a:latin typeface="Cambria Math" panose="02040503050406030204" pitchFamily="18" charset="0"/>
                                      </a:rPr>
                                      <m:t>Ω</m:t>
                                    </m:r>
                                  </m:e>
                                  <m:sub>
                                    <m:r>
                                      <a:rPr lang="zh-CN" altLang="en-US" i="1" smtClean="0">
                                        <a:latin typeface="Cambria Math" panose="02040503050406030204" pitchFamily="18" charset="0"/>
                                      </a:rPr>
                                      <m:t>𝑏</m:t>
                                    </m:r>
                                  </m:sub>
                                </m:sSub>
                              </m:e>
                            </m:mr>
                          </m:m>
                        </m:e>
                      </m:d>
                    </m:oMath>
                  </m:oMathPara>
                </a14:m>
                <a:endParaRPr lang="en-US" altLang="zh-CN" dirty="0"/>
              </a:p>
              <a:p>
                <a:r>
                  <a:rPr lang="zh-CN" altLang="en-US" dirty="0"/>
                  <a:t>对输入增强：</a:t>
                </a:r>
                <a:endParaRPr lang="en-US" altLang="zh-CN" dirty="0"/>
              </a:p>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acc>
                            <m:accPr>
                              <m:chr m:val="̃"/>
                              <m:ctrlPr>
                                <a:rPr lang="en-US" altLang="zh-CN" i="1" smtClean="0">
                                  <a:latin typeface="Cambria Math" panose="02040503050406030204" pitchFamily="18" charset="0"/>
                                </a:rPr>
                              </m:ctrlPr>
                            </m:accPr>
                            <m:e>
                              <m:r>
                                <a:rPr lang="en-US" altLang="zh-CN" i="1" smtClean="0">
                                  <a:latin typeface="Cambria Math" panose="02040503050406030204" pitchFamily="18" charset="0"/>
                                </a:rPr>
                                <m:t>𝑥</m:t>
                              </m:r>
                            </m:e>
                          </m:acc>
                        </m:e>
                        <m:sub>
                          <m:r>
                            <a:rPr lang="en-US" altLang="zh-CN" i="1" smtClean="0">
                              <a:latin typeface="Cambria Math" panose="02040503050406030204" pitchFamily="18" charset="0"/>
                            </a:rPr>
                            <m:t>𝑏</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𝑥</m:t>
                          </m:r>
                        </m:e>
                        <m:sub>
                          <m:r>
                            <a:rPr lang="en-US" altLang="zh-CN" i="1" smtClean="0">
                              <a:latin typeface="Cambria Math" panose="02040503050406030204" pitchFamily="18" charset="0"/>
                            </a:rPr>
                            <m:t>𝑏</m:t>
                          </m:r>
                        </m:sub>
                      </m:sSub>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𝑀</m:t>
                          </m:r>
                        </m:e>
                        <m:sub>
                          <m:r>
                            <a:rPr lang="en-US" altLang="zh-CN" i="1" smtClean="0">
                              <a:latin typeface="Cambria Math" panose="02040503050406030204" pitchFamily="18" charset="0"/>
                            </a:rPr>
                            <m:t>𝑏</m:t>
                          </m:r>
                        </m:sub>
                      </m:sSub>
                    </m:oMath>
                  </m:oMathPara>
                </a14:m>
                <a:endParaRPr lang="en-US" altLang="zh-CN" dirty="0"/>
              </a:p>
            </p:txBody>
          </p:sp>
        </mc:Choice>
        <mc:Fallback>
          <p:sp>
            <p:nvSpPr>
              <p:cNvPr id="12" name="文本框 11">
                <a:extLst>
                  <a:ext uri="{FF2B5EF4-FFF2-40B4-BE49-F238E27FC236}">
                    <a16:creationId xmlns:a16="http://schemas.microsoft.com/office/drawing/2014/main" id="{44BE8224-090E-7404-C5E0-3CCF2776C647}"/>
                  </a:ext>
                </a:extLst>
              </p:cNvPr>
              <p:cNvSpPr txBox="1">
                <a:spLocks noRot="1" noChangeAspect="1" noMove="1" noResize="1" noEditPoints="1" noAdjustHandles="1" noChangeArrowheads="1" noChangeShapeType="1" noTextEdit="1"/>
              </p:cNvSpPr>
              <p:nvPr/>
            </p:nvSpPr>
            <p:spPr>
              <a:xfrm>
                <a:off x="6560905" y="693358"/>
                <a:ext cx="5501556" cy="5481437"/>
              </a:xfrm>
              <a:prstGeom prst="rect">
                <a:avLst/>
              </a:prstGeom>
              <a:blipFill>
                <a:blip r:embed="rId6"/>
                <a:stretch>
                  <a:fillRect l="-886" t="-667" r="-4983"/>
                </a:stretch>
              </a:blipFill>
            </p:spPr>
            <p:txBody>
              <a:bodyPr/>
              <a:lstStyle/>
              <a:p>
                <a:r>
                  <a:rPr lang="zh-CN" altLang="en-US">
                    <a:noFill/>
                  </a:rPr>
                  <a:t> </a:t>
                </a:r>
              </a:p>
            </p:txBody>
          </p:sp>
        </mc:Fallback>
      </mc:AlternateContent>
      <p:sp>
        <p:nvSpPr>
          <p:cNvPr id="13" name="箭头: 下 12">
            <a:extLst>
              <a:ext uri="{FF2B5EF4-FFF2-40B4-BE49-F238E27FC236}">
                <a16:creationId xmlns:a16="http://schemas.microsoft.com/office/drawing/2014/main" id="{3D603221-B530-3D06-6088-32AEBAF61AF9}"/>
              </a:ext>
            </a:extLst>
          </p:cNvPr>
          <p:cNvSpPr>
            <a:spLocks noGrp="1"/>
          </p:cNvSpPr>
          <p:nvPr/>
        </p:nvSpPr>
        <p:spPr>
          <a:xfrm rot="16200000">
            <a:off x="5740949" y="3154182"/>
            <a:ext cx="559224" cy="598302"/>
          </a:xfrm>
          <a:prstGeom prst="downArrow">
            <a:avLst/>
          </a:prstGeom>
          <a:solidFill>
            <a:schemeClr val="accent2">
              <a:lumMod val="60000"/>
              <a:lumOff val="4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058828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C32CE-9400-4EB0-875E-9CB57CAA307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07DCB459-395B-B1AF-0D70-F48C0ABC31F0}"/>
              </a:ext>
            </a:extLst>
          </p:cNvPr>
          <p:cNvSpPr>
            <a:spLocks noGrp="1"/>
          </p:cNvSpPr>
          <p:nvPr/>
        </p:nvSpPr>
        <p:spPr>
          <a:xfrm>
            <a:off x="-22934" y="0"/>
            <a:ext cx="4680659" cy="6858000"/>
          </a:xfrm>
          <a:prstGeom prst="rect">
            <a:avLst/>
          </a:prstGeom>
          <a:solidFill>
            <a:srgbClr val="911F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文本框 6">
            <a:extLst>
              <a:ext uri="{FF2B5EF4-FFF2-40B4-BE49-F238E27FC236}">
                <a16:creationId xmlns:a16="http://schemas.microsoft.com/office/drawing/2014/main" id="{8171EF08-2A3B-A886-43E9-41589E73A47F}"/>
              </a:ext>
            </a:extLst>
          </p:cNvPr>
          <p:cNvSpPr>
            <a:spLocks noGrp="1"/>
          </p:cNvSpPr>
          <p:nvPr/>
        </p:nvSpPr>
        <p:spPr>
          <a:xfrm>
            <a:off x="6290327" y="720843"/>
            <a:ext cx="3062023" cy="646331"/>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600" b="1">
                <a:solidFill>
                  <a:srgbClr val="911F22"/>
                </a:solidFill>
                <a:latin typeface="字魂105号-简雅黑"/>
                <a:ea typeface="字魂105号-简雅黑"/>
                <a:cs typeface="字魂105号-简雅黑"/>
              </a:rPr>
              <a:t>CONTENTS</a:t>
            </a:r>
          </a:p>
        </p:txBody>
      </p:sp>
      <p:sp>
        <p:nvSpPr>
          <p:cNvPr id="8" name="文本框 7">
            <a:extLst>
              <a:ext uri="{FF2B5EF4-FFF2-40B4-BE49-F238E27FC236}">
                <a16:creationId xmlns:a16="http://schemas.microsoft.com/office/drawing/2014/main" id="{DDB8FFBA-9359-5671-92F4-6ACE5390B4B4}"/>
              </a:ext>
            </a:extLst>
          </p:cNvPr>
          <p:cNvSpPr>
            <a:spLocks noGrp="1"/>
          </p:cNvSpPr>
          <p:nvPr/>
        </p:nvSpPr>
        <p:spPr>
          <a:xfrm>
            <a:off x="6290327" y="1763603"/>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a:ln>
                  <a:noFill/>
                </a:ln>
                <a:solidFill>
                  <a:srgbClr val="911F22"/>
                </a:solidFill>
                <a:latin typeface="字魂105号-简雅黑"/>
                <a:ea typeface="字魂105号-简雅黑"/>
                <a:cs typeface="字魂105号-简雅黑"/>
              </a:rPr>
              <a:t>01</a:t>
            </a:r>
          </a:p>
        </p:txBody>
      </p:sp>
      <p:sp>
        <p:nvSpPr>
          <p:cNvPr id="9" name="矩形 8">
            <a:extLst>
              <a:ext uri="{FF2B5EF4-FFF2-40B4-BE49-F238E27FC236}">
                <a16:creationId xmlns:a16="http://schemas.microsoft.com/office/drawing/2014/main" id="{5A6D716C-D3CE-1839-40EF-66029F1577F7}"/>
              </a:ext>
            </a:extLst>
          </p:cNvPr>
          <p:cNvSpPr>
            <a:spLocks noGrp="1"/>
          </p:cNvSpPr>
          <p:nvPr/>
        </p:nvSpPr>
        <p:spPr>
          <a:xfrm>
            <a:off x="7148631" y="1813592"/>
            <a:ext cx="2710146" cy="461665"/>
          </a:xfrm>
          <a:prstGeom prst="rect">
            <a:avLst/>
          </a:prstGeom>
        </p:spPr>
        <p:txBody>
          <a:bodyPr wrap="square">
            <a:spAutoFit/>
          </a:bodyPr>
          <a:lstStyle/>
          <a:p>
            <a:r>
              <a:rPr lang="zh-CN" altLang="en-US" sz="2400" b="1" dirty="0">
                <a:solidFill>
                  <a:schemeClr val="bg1">
                    <a:lumMod val="65000"/>
                  </a:schemeClr>
                </a:solidFill>
                <a:latin typeface="微软雅黑"/>
                <a:ea typeface="微软雅黑"/>
                <a:cs typeface="微软雅黑"/>
              </a:rPr>
              <a:t>选题背景与意义</a:t>
            </a:r>
          </a:p>
        </p:txBody>
      </p:sp>
      <p:sp>
        <p:nvSpPr>
          <p:cNvPr id="18" name="直接连接符 17">
            <a:extLst>
              <a:ext uri="{FF2B5EF4-FFF2-40B4-BE49-F238E27FC236}">
                <a16:creationId xmlns:a16="http://schemas.microsoft.com/office/drawing/2014/main" id="{6574C552-08EA-EDE9-E7E1-C4BEC82926ED}"/>
              </a:ext>
            </a:extLst>
          </p:cNvPr>
          <p:cNvSpPr>
            <a:spLocks noGrp="1"/>
          </p:cNvSpPr>
          <p:nvPr/>
        </p:nvSpPr>
        <p:spPr>
          <a:xfrm>
            <a:off x="7148631" y="1846425"/>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F917C21D-934D-BF9C-348B-E2E9CBA0E5CB}"/>
              </a:ext>
            </a:extLst>
          </p:cNvPr>
          <p:cNvSpPr>
            <a:spLocks noGrp="1"/>
          </p:cNvSpPr>
          <p:nvPr/>
        </p:nvSpPr>
        <p:spPr>
          <a:xfrm>
            <a:off x="6290327" y="3273320"/>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a:t>
            </a:r>
            <a:r>
              <a:rPr lang="en-US" sz="3200" b="1" i="0" u="none" cap="none" dirty="0">
                <a:ln>
                  <a:noFill/>
                </a:ln>
                <a:solidFill>
                  <a:srgbClr val="911F22"/>
                </a:solidFill>
                <a:latin typeface="字魂105号-简雅黑"/>
                <a:ea typeface="字魂105号-简雅黑"/>
                <a:cs typeface="字魂105号-简雅黑"/>
              </a:rPr>
              <a:t>3</a:t>
            </a:r>
            <a:endParaRPr sz="3200" b="1" i="0" u="none" cap="none" dirty="0">
              <a:ln>
                <a:noFill/>
              </a:ln>
              <a:solidFill>
                <a:srgbClr val="911F22"/>
              </a:solidFill>
              <a:latin typeface="字魂105号-简雅黑"/>
              <a:ea typeface="字魂105号-简雅黑"/>
              <a:cs typeface="字魂105号-简雅黑"/>
            </a:endParaRPr>
          </a:p>
        </p:txBody>
      </p:sp>
      <p:sp>
        <p:nvSpPr>
          <p:cNvPr id="25" name="矩形 24">
            <a:extLst>
              <a:ext uri="{FF2B5EF4-FFF2-40B4-BE49-F238E27FC236}">
                <a16:creationId xmlns:a16="http://schemas.microsoft.com/office/drawing/2014/main" id="{A73437BA-D287-B67C-2597-BAE7A188F33A}"/>
              </a:ext>
            </a:extLst>
          </p:cNvPr>
          <p:cNvSpPr>
            <a:spLocks noGrp="1"/>
          </p:cNvSpPr>
          <p:nvPr/>
        </p:nvSpPr>
        <p:spPr>
          <a:xfrm>
            <a:off x="7148631" y="3315460"/>
            <a:ext cx="3877985" cy="461665"/>
          </a:xfrm>
          <a:prstGeom prst="rect">
            <a:avLst/>
          </a:prstGeom>
        </p:spPr>
        <p:txBody>
          <a:bodyPr wrap="none">
            <a:spAutoFit/>
          </a:bodyPr>
          <a:lstStyle/>
          <a:p>
            <a:r>
              <a:rPr lang="zh-CN" altLang="en-US" sz="2400" b="1" dirty="0">
                <a:solidFill>
                  <a:schemeClr val="bg1">
                    <a:lumMod val="65000"/>
                  </a:schemeClr>
                </a:solidFill>
                <a:latin typeface="微软雅黑"/>
                <a:ea typeface="微软雅黑"/>
                <a:cs typeface="微软雅黑"/>
              </a:rPr>
              <a:t>跨接收机射频指纹识别方法</a:t>
            </a:r>
          </a:p>
        </p:txBody>
      </p:sp>
      <p:sp>
        <p:nvSpPr>
          <p:cNvPr id="23" name="直接连接符 22">
            <a:extLst>
              <a:ext uri="{FF2B5EF4-FFF2-40B4-BE49-F238E27FC236}">
                <a16:creationId xmlns:a16="http://schemas.microsoft.com/office/drawing/2014/main" id="{1D3433B6-212D-F043-DE85-6BA68E2649D6}"/>
              </a:ext>
            </a:extLst>
          </p:cNvPr>
          <p:cNvSpPr>
            <a:spLocks noGrp="1"/>
          </p:cNvSpPr>
          <p:nvPr/>
        </p:nvSpPr>
        <p:spPr>
          <a:xfrm>
            <a:off x="7148631" y="33561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9" name="文本框 28">
            <a:extLst>
              <a:ext uri="{FF2B5EF4-FFF2-40B4-BE49-F238E27FC236}">
                <a16:creationId xmlns:a16="http://schemas.microsoft.com/office/drawing/2014/main" id="{6DD26D1A-92B8-F1E1-27E5-4E944A3CC3B6}"/>
              </a:ext>
            </a:extLst>
          </p:cNvPr>
          <p:cNvSpPr>
            <a:spLocks noGrp="1"/>
          </p:cNvSpPr>
          <p:nvPr/>
        </p:nvSpPr>
        <p:spPr>
          <a:xfrm>
            <a:off x="6290327" y="4032170"/>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a:t>
            </a:r>
            <a:r>
              <a:rPr lang="en-US" sz="3200" b="1" i="0" u="none" cap="none" dirty="0">
                <a:ln>
                  <a:noFill/>
                </a:ln>
                <a:solidFill>
                  <a:srgbClr val="911F22"/>
                </a:solidFill>
                <a:latin typeface="字魂105号-简雅黑"/>
                <a:ea typeface="字魂105号-简雅黑"/>
                <a:cs typeface="字魂105号-简雅黑"/>
              </a:rPr>
              <a:t>4</a:t>
            </a:r>
            <a:endParaRPr sz="3200" b="1" i="0" u="none" cap="none" dirty="0">
              <a:ln>
                <a:noFill/>
              </a:ln>
              <a:solidFill>
                <a:srgbClr val="911F22"/>
              </a:solidFill>
              <a:latin typeface="字魂105号-简雅黑"/>
              <a:ea typeface="字魂105号-简雅黑"/>
              <a:cs typeface="字魂105号-简雅黑"/>
            </a:endParaRPr>
          </a:p>
        </p:txBody>
      </p:sp>
      <p:sp>
        <p:nvSpPr>
          <p:cNvPr id="30" name="矩形 29">
            <a:extLst>
              <a:ext uri="{FF2B5EF4-FFF2-40B4-BE49-F238E27FC236}">
                <a16:creationId xmlns:a16="http://schemas.microsoft.com/office/drawing/2014/main" id="{5E9ED8FF-4425-EC29-9243-9EDDD45355F4}"/>
              </a:ext>
            </a:extLst>
          </p:cNvPr>
          <p:cNvSpPr>
            <a:spLocks noGrp="1"/>
          </p:cNvSpPr>
          <p:nvPr/>
        </p:nvSpPr>
        <p:spPr>
          <a:xfrm>
            <a:off x="7169896" y="4067698"/>
            <a:ext cx="2339102" cy="461665"/>
          </a:xfrm>
          <a:prstGeom prst="rect">
            <a:avLst/>
          </a:prstGeom>
        </p:spPr>
        <p:txBody>
          <a:bodyPr wrap="none">
            <a:spAutoFit/>
          </a:bodyPr>
          <a:lstStyle/>
          <a:p>
            <a:r>
              <a:rPr lang="zh-CN" altLang="en-US" sz="2400" b="1" dirty="0">
                <a:latin typeface="微软雅黑"/>
                <a:ea typeface="微软雅黑"/>
                <a:cs typeface="微软雅黑"/>
              </a:rPr>
              <a:t>实验结果与分析</a:t>
            </a:r>
          </a:p>
        </p:txBody>
      </p:sp>
      <p:sp>
        <p:nvSpPr>
          <p:cNvPr id="28" name="直接连接符 27">
            <a:extLst>
              <a:ext uri="{FF2B5EF4-FFF2-40B4-BE49-F238E27FC236}">
                <a16:creationId xmlns:a16="http://schemas.microsoft.com/office/drawing/2014/main" id="{6C97A5EF-DD71-C96C-9E00-7DB989753208}"/>
              </a:ext>
            </a:extLst>
          </p:cNvPr>
          <p:cNvSpPr>
            <a:spLocks noGrp="1"/>
          </p:cNvSpPr>
          <p:nvPr/>
        </p:nvSpPr>
        <p:spPr>
          <a:xfrm>
            <a:off x="7148631" y="411499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7" name="文本框 46">
            <a:extLst>
              <a:ext uri="{FF2B5EF4-FFF2-40B4-BE49-F238E27FC236}">
                <a16:creationId xmlns:a16="http://schemas.microsoft.com/office/drawing/2014/main" id="{E77EF0C7-5903-D999-8484-E5DED38FA388}"/>
              </a:ext>
            </a:extLst>
          </p:cNvPr>
          <p:cNvSpPr>
            <a:spLocks noGrp="1"/>
          </p:cNvSpPr>
          <p:nvPr/>
        </p:nvSpPr>
        <p:spPr>
          <a:xfrm>
            <a:off x="6290327" y="4826548"/>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a:t>
            </a:r>
            <a:r>
              <a:rPr lang="en-US" sz="3200" b="1" i="0" u="none" cap="none" dirty="0">
                <a:ln>
                  <a:noFill/>
                </a:ln>
                <a:solidFill>
                  <a:srgbClr val="911F22"/>
                </a:solidFill>
                <a:latin typeface="字魂105号-简雅黑"/>
                <a:ea typeface="字魂105号-简雅黑"/>
                <a:cs typeface="字魂105号-简雅黑"/>
              </a:rPr>
              <a:t>5</a:t>
            </a:r>
            <a:endParaRPr sz="3200" b="1" i="0" u="none" cap="none" dirty="0">
              <a:ln>
                <a:noFill/>
              </a:ln>
              <a:solidFill>
                <a:srgbClr val="911F22"/>
              </a:solidFill>
              <a:latin typeface="字魂105号-简雅黑"/>
              <a:ea typeface="字魂105号-简雅黑"/>
              <a:cs typeface="字魂105号-简雅黑"/>
            </a:endParaRPr>
          </a:p>
        </p:txBody>
      </p:sp>
      <p:sp>
        <p:nvSpPr>
          <p:cNvPr id="48" name="矩形 47">
            <a:extLst>
              <a:ext uri="{FF2B5EF4-FFF2-40B4-BE49-F238E27FC236}">
                <a16:creationId xmlns:a16="http://schemas.microsoft.com/office/drawing/2014/main" id="{6A9DEF87-07B1-4E31-EF46-F47361A0BF7C}"/>
              </a:ext>
            </a:extLst>
          </p:cNvPr>
          <p:cNvSpPr>
            <a:spLocks noGrp="1"/>
          </p:cNvSpPr>
          <p:nvPr/>
        </p:nvSpPr>
        <p:spPr>
          <a:xfrm>
            <a:off x="7169896" y="4859728"/>
            <a:ext cx="2646878" cy="461665"/>
          </a:xfrm>
          <a:prstGeom prst="rect">
            <a:avLst/>
          </a:prstGeom>
        </p:spPr>
        <p:txBody>
          <a:bodyPr wrap="none">
            <a:spAutoFit/>
          </a:bodyPr>
          <a:lstStyle/>
          <a:p>
            <a:r>
              <a:rPr lang="zh-CN" altLang="en-US" sz="2400" b="1" dirty="0">
                <a:solidFill>
                  <a:schemeClr val="bg1">
                    <a:lumMod val="65000"/>
                  </a:schemeClr>
                </a:solidFill>
                <a:latin typeface="微软雅黑"/>
                <a:ea typeface="微软雅黑"/>
                <a:cs typeface="微软雅黑"/>
              </a:rPr>
              <a:t>下一阶段工作计划</a:t>
            </a:r>
          </a:p>
        </p:txBody>
      </p:sp>
      <p:sp>
        <p:nvSpPr>
          <p:cNvPr id="46" name="直接连接符 45">
            <a:extLst>
              <a:ext uri="{FF2B5EF4-FFF2-40B4-BE49-F238E27FC236}">
                <a16:creationId xmlns:a16="http://schemas.microsoft.com/office/drawing/2014/main" id="{415E149E-D413-9F64-F1C0-6F1831EA4D0B}"/>
              </a:ext>
            </a:extLst>
          </p:cNvPr>
          <p:cNvSpPr>
            <a:spLocks noGrp="1"/>
          </p:cNvSpPr>
          <p:nvPr/>
        </p:nvSpPr>
        <p:spPr>
          <a:xfrm>
            <a:off x="7148631" y="4909370"/>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65" name="图片 3">
            <a:extLst>
              <a:ext uri="{FF2B5EF4-FFF2-40B4-BE49-F238E27FC236}">
                <a16:creationId xmlns:a16="http://schemas.microsoft.com/office/drawing/2014/main" id="{E0485E55-CFB3-45DE-9475-8D14A724C32C}"/>
              </a:ext>
            </a:extLst>
          </p:cNvPr>
          <p:cNvPicPr>
            <a:picLocks noChangeAspect="1"/>
          </p:cNvPicPr>
          <p:nvPr/>
        </p:nvPicPr>
        <p:blipFill>
          <a:blip r:embed="rId3"/>
          <a:stretch>
            <a:fillRect/>
          </a:stretch>
        </p:blipFill>
        <p:spPr>
          <a:xfrm>
            <a:off x="1364895" y="2928431"/>
            <a:ext cx="1905000" cy="1905000"/>
          </a:xfrm>
          <a:prstGeom prst="rect">
            <a:avLst/>
          </a:prstGeom>
        </p:spPr>
      </p:pic>
      <p:pic>
        <p:nvPicPr>
          <p:cNvPr id="66" name="图片 4">
            <a:extLst>
              <a:ext uri="{FF2B5EF4-FFF2-40B4-BE49-F238E27FC236}">
                <a16:creationId xmlns:a16="http://schemas.microsoft.com/office/drawing/2014/main" id="{1D109124-81D7-0F59-8052-756C740545FF}"/>
              </a:ext>
            </a:extLst>
          </p:cNvPr>
          <p:cNvPicPr>
            <a:picLocks noChangeAspect="1"/>
          </p:cNvPicPr>
          <p:nvPr/>
        </p:nvPicPr>
        <p:blipFill>
          <a:blip r:embed="rId4">
            <a:biLevel thresh="25000"/>
          </a:blip>
          <a:stretch>
            <a:fillRect/>
          </a:stretch>
        </p:blipFill>
        <p:spPr>
          <a:xfrm>
            <a:off x="1322797" y="703717"/>
            <a:ext cx="1989196" cy="1914672"/>
          </a:xfrm>
          <a:prstGeom prst="rect">
            <a:avLst/>
          </a:prstGeom>
        </p:spPr>
      </p:pic>
      <p:sp>
        <p:nvSpPr>
          <p:cNvPr id="3" name="文本框 23">
            <a:extLst>
              <a:ext uri="{FF2B5EF4-FFF2-40B4-BE49-F238E27FC236}">
                <a16:creationId xmlns:a16="http://schemas.microsoft.com/office/drawing/2014/main" id="{2A9715F3-EF21-FBE4-3A4F-8EF9D5FBC2B9}"/>
              </a:ext>
            </a:extLst>
          </p:cNvPr>
          <p:cNvSpPr>
            <a:spLocks noGrp="1"/>
          </p:cNvSpPr>
          <p:nvPr/>
        </p:nvSpPr>
        <p:spPr>
          <a:xfrm>
            <a:off x="6290327" y="2514470"/>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02</a:t>
            </a:r>
          </a:p>
        </p:txBody>
      </p:sp>
      <p:sp>
        <p:nvSpPr>
          <p:cNvPr id="4" name="矩形 3">
            <a:extLst>
              <a:ext uri="{FF2B5EF4-FFF2-40B4-BE49-F238E27FC236}">
                <a16:creationId xmlns:a16="http://schemas.microsoft.com/office/drawing/2014/main" id="{E77BFDF2-4F31-69CE-8687-7C6A06C2F872}"/>
              </a:ext>
            </a:extLst>
          </p:cNvPr>
          <p:cNvSpPr>
            <a:spLocks noGrp="1"/>
          </p:cNvSpPr>
          <p:nvPr/>
        </p:nvSpPr>
        <p:spPr>
          <a:xfrm>
            <a:off x="7148631" y="2556610"/>
            <a:ext cx="3570208" cy="461665"/>
          </a:xfrm>
          <a:prstGeom prst="rect">
            <a:avLst/>
          </a:prstGeom>
        </p:spPr>
        <p:txBody>
          <a:bodyPr wrap="none">
            <a:spAutoFit/>
          </a:bodyPr>
          <a:lstStyle/>
          <a:p>
            <a:r>
              <a:rPr lang="zh-CN" altLang="en-US" sz="2400" b="1" dirty="0">
                <a:solidFill>
                  <a:schemeClr val="bg1">
                    <a:lumMod val="65000"/>
                  </a:schemeClr>
                </a:solidFill>
                <a:latin typeface="微软雅黑"/>
                <a:ea typeface="微软雅黑"/>
                <a:cs typeface="微软雅黑"/>
              </a:rPr>
              <a:t>主要研究内容与工作进展</a:t>
            </a:r>
          </a:p>
        </p:txBody>
      </p:sp>
      <p:sp>
        <p:nvSpPr>
          <p:cNvPr id="5" name="直接连接符 4">
            <a:extLst>
              <a:ext uri="{FF2B5EF4-FFF2-40B4-BE49-F238E27FC236}">
                <a16:creationId xmlns:a16="http://schemas.microsoft.com/office/drawing/2014/main" id="{48E4A952-87C1-154A-BDA6-3BCCACB321A8}"/>
              </a:ext>
            </a:extLst>
          </p:cNvPr>
          <p:cNvSpPr>
            <a:spLocks noGrp="1"/>
          </p:cNvSpPr>
          <p:nvPr/>
        </p:nvSpPr>
        <p:spPr>
          <a:xfrm>
            <a:off x="7148631" y="259729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Tree>
    <p:extLst>
      <p:ext uri="{BB962C8B-B14F-4D97-AF65-F5344CB8AC3E}">
        <p14:creationId xmlns:p14="http://schemas.microsoft.com/office/powerpoint/2010/main" val="1877977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AB5D8A73-6D00-96C2-C129-5D2B19228468}"/>
              </a:ext>
            </a:extLst>
          </p:cNvPr>
          <p:cNvSpPr>
            <a:spLocks noGrp="1"/>
          </p:cNvSpPr>
          <p:nvPr/>
        </p:nvSpPr>
        <p:spPr>
          <a:xfrm>
            <a:off x="54634" y="166134"/>
            <a:ext cx="3077565" cy="508923"/>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911F22"/>
          </a:solidFill>
          <a:ln w="38100">
            <a:solidFill>
              <a:srgbClr val="911F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16" name="矩形 15">
            <a:extLst>
              <a:ext uri="{FF2B5EF4-FFF2-40B4-BE49-F238E27FC236}">
                <a16:creationId xmlns:a16="http://schemas.microsoft.com/office/drawing/2014/main" id="{06AA2D42-720A-46B3-A376-DEBE68195A5B}"/>
              </a:ext>
            </a:extLst>
          </p:cNvPr>
          <p:cNvSpPr>
            <a:spLocks noGrp="1"/>
          </p:cNvSpPr>
          <p:nvPr/>
        </p:nvSpPr>
        <p:spPr>
          <a:xfrm>
            <a:off x="1260978" y="472648"/>
            <a:ext cx="1513556" cy="461665"/>
          </a:xfrm>
          <a:prstGeom prst="rect">
            <a:avLst/>
          </a:prstGeom>
        </p:spPr>
        <p:txBody>
          <a:bodyPr wrap="none">
            <a:spAutoFit/>
          </a:bodyPr>
          <a:lstStyle/>
          <a:p>
            <a:endParaRPr/>
          </a:p>
        </p:txBody>
      </p:sp>
      <p:pic>
        <p:nvPicPr>
          <p:cNvPr id="35" name="图片 3"/>
          <p:cNvPicPr>
            <a:picLocks noChangeAspect="1"/>
          </p:cNvPicPr>
          <p:nvPr/>
        </p:nvPicPr>
        <p:blipFill>
          <a:blip r:embed="rId3"/>
          <a:stretch>
            <a:fillRect/>
          </a:stretch>
        </p:blipFill>
        <p:spPr>
          <a:xfrm>
            <a:off x="10800000" y="216000"/>
            <a:ext cx="1168402" cy="312900"/>
          </a:xfrm>
          <a:prstGeom prst="rect">
            <a:avLst/>
          </a:prstGeom>
        </p:spPr>
      </p:pic>
      <p:sp>
        <p:nvSpPr>
          <p:cNvPr id="15" name="灯片编号占位符 14">
            <a:extLst>
              <a:ext uri="{FF2B5EF4-FFF2-40B4-BE49-F238E27FC236}">
                <a16:creationId xmlns:a16="http://schemas.microsoft.com/office/drawing/2014/main" id="{2954C5AB-1B7F-3CA8-70B8-9D3926ED2A90}"/>
              </a:ext>
            </a:extLst>
          </p:cNvPr>
          <p:cNvSpPr>
            <a:spLocks noGrp="1"/>
          </p:cNvSpPr>
          <p:nvPr>
            <p:ph type="sldNum" idx="12"/>
          </p:nvPr>
        </p:nvSpPr>
        <p:spPr>
          <a:xfrm>
            <a:off x="11384201" y="6316168"/>
            <a:ext cx="471513" cy="365125"/>
          </a:xfrm>
        </p:spPr>
        <p:txBody>
          <a:bodyPr/>
          <a:lstStyle/>
          <a:p>
            <a:r>
              <a:rPr dirty="0"/>
              <a:t>13</a:t>
            </a:r>
          </a:p>
        </p:txBody>
      </p:sp>
      <p:sp>
        <p:nvSpPr>
          <p:cNvPr id="3" name="文本框 2">
            <a:extLst>
              <a:ext uri="{FF2B5EF4-FFF2-40B4-BE49-F238E27FC236}">
                <a16:creationId xmlns:a16="http://schemas.microsoft.com/office/drawing/2014/main" id="{3BDD95DA-DDDD-4BFE-7DF3-496FE7C45A34}"/>
              </a:ext>
            </a:extLst>
          </p:cNvPr>
          <p:cNvSpPr>
            <a:spLocks noGrp="1"/>
          </p:cNvSpPr>
          <p:nvPr/>
        </p:nvSpPr>
        <p:spPr>
          <a:xfrm>
            <a:off x="493233" y="224553"/>
            <a:ext cx="2203152" cy="400110"/>
          </a:xfrm>
          <a:prstGeom prst="rect">
            <a:avLst/>
          </a:prstGeom>
          <a:noFill/>
        </p:spPr>
        <p:txBody>
          <a:bodyPr wrap="square">
            <a:spAutoFit/>
          </a:bodyPr>
          <a:lstStyle/>
          <a:p>
            <a:r>
              <a:rPr lang="zh-CN" altLang="en-US" sz="2000" b="1" dirty="0">
                <a:solidFill>
                  <a:schemeClr val="bg1"/>
                </a:solidFill>
                <a:latin typeface="微软雅黑"/>
                <a:ea typeface="微软雅黑"/>
                <a:cs typeface="微软雅黑"/>
              </a:rPr>
              <a:t>实验结果与分析</a:t>
            </a:r>
          </a:p>
        </p:txBody>
      </p:sp>
      <p:sp>
        <p:nvSpPr>
          <p:cNvPr id="9" name="文本框 8">
            <a:extLst>
              <a:ext uri="{FF2B5EF4-FFF2-40B4-BE49-F238E27FC236}">
                <a16:creationId xmlns:a16="http://schemas.microsoft.com/office/drawing/2014/main" id="{2B66E342-6525-AEC3-5B09-AA920FA981C2}"/>
              </a:ext>
            </a:extLst>
          </p:cNvPr>
          <p:cNvSpPr txBox="1"/>
          <p:nvPr/>
        </p:nvSpPr>
        <p:spPr>
          <a:xfrm>
            <a:off x="442714" y="4067496"/>
            <a:ext cx="1345671" cy="369332"/>
          </a:xfrm>
          <a:prstGeom prst="rect">
            <a:avLst/>
          </a:prstGeom>
          <a:noFill/>
        </p:spPr>
        <p:txBody>
          <a:bodyPr wrap="square">
            <a:spAutoFit/>
          </a:bodyPr>
          <a:lstStyle/>
          <a:p>
            <a:r>
              <a:rPr lang="zh-CN" altLang="en-US" b="1" dirty="0"/>
              <a:t>网络模型：</a:t>
            </a:r>
          </a:p>
        </p:txBody>
      </p:sp>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A05264E1-2824-98CC-57A6-8B20B7D0F5AE}"/>
                  </a:ext>
                </a:extLst>
              </p:cNvPr>
              <p:cNvSpPr txBox="1"/>
              <p:nvPr/>
            </p:nvSpPr>
            <p:spPr>
              <a:xfrm>
                <a:off x="493233" y="1622858"/>
                <a:ext cx="5693529" cy="2585323"/>
              </a:xfrm>
              <a:prstGeom prst="rect">
                <a:avLst/>
              </a:prstGeom>
              <a:noFill/>
            </p:spPr>
            <p:txBody>
              <a:bodyPr wrap="square" rtlCol="0">
                <a:spAutoFit/>
              </a:bodyPr>
              <a:lstStyle/>
              <a:p>
                <a:r>
                  <a:rPr lang="zh-CN" altLang="zh-CN" b="1" dirty="0">
                    <a:latin typeface="Times New Roman" panose="02020603050405020304" pitchFamily="18" charset="0"/>
                    <a:cs typeface="Times New Roman" panose="02020603050405020304" pitchFamily="18" charset="0"/>
                  </a:rPr>
                  <a:t>WiSig</a:t>
                </a:r>
                <a:r>
                  <a:rPr lang="zh-CN" altLang="en-US" b="1" dirty="0">
                    <a:latin typeface="Times New Roman" panose="02020603050405020304" pitchFamily="18" charset="0"/>
                    <a:cs typeface="Times New Roman" panose="02020603050405020304" pitchFamily="18" charset="0"/>
                  </a:rPr>
                  <a:t>数据集</a:t>
                </a:r>
                <a:r>
                  <a:rPr lang="zh-CN" altLang="zh-CN"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endParaRPr lang="zh-CN" altLang="zh-CN" dirty="0">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6个WiFi发射机，12个USRP接收机</a:t>
                </a:r>
              </a:p>
              <a:p>
                <a:pPr marL="285750" indent="-285750">
                  <a:lnSpc>
                    <a:spcPct val="12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每个“发射机-接收机”组合1000个样本</a:t>
                </a:r>
              </a:p>
              <a:p>
                <a:pPr marL="285750" indent="-285750">
                  <a:lnSpc>
                    <a:spcPct val="12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每个样本包含256个IQ采样点</a:t>
                </a:r>
              </a:p>
              <a:p>
                <a:pPr marL="285750" indent="-285750">
                  <a:lnSpc>
                    <a:spcPct val="12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输入为</a:t>
                </a:r>
                <a14:m>
                  <m:oMath xmlns:m="http://schemas.openxmlformats.org/officeDocument/2006/math">
                    <m:r>
                      <a:rPr lang="zh-CN" altLang="zh-CN" dirty="0" smtClean="0">
                        <a:latin typeface="Cambria Math" panose="02040503050406030204" pitchFamily="18" charset="0"/>
                      </a:rPr>
                      <m:t>2</m:t>
                    </m:r>
                    <m:r>
                      <a:rPr lang="zh-CN" altLang="zh-CN" i="0" dirty="0" smtClean="0">
                        <a:latin typeface="Cambria Math" panose="02040503050406030204" pitchFamily="18" charset="0"/>
                      </a:rPr>
                      <m:t>×16×16</m:t>
                    </m:r>
                  </m:oMath>
                </a14:m>
                <a:r>
                  <a:rPr lang="zh-CN" altLang="en-US" dirty="0">
                    <a:latin typeface="Times New Roman" panose="02020603050405020304" pitchFamily="18" charset="0"/>
                    <a:cs typeface="Times New Roman" panose="02020603050405020304" pitchFamily="18" charset="0"/>
                  </a:rPr>
                  <a:t>大小</a:t>
                </a:r>
                <a:endParaRPr lang="en-US" altLang="zh-CN" dirty="0">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选择2个接收机作为源域训练，在未见接收机上测试</a:t>
                </a:r>
              </a:p>
              <a:p>
                <a:endParaRPr lang="zh-CN" altLang="en-US" dirty="0"/>
              </a:p>
            </p:txBody>
          </p:sp>
        </mc:Choice>
        <mc:Fallback>
          <p:sp>
            <p:nvSpPr>
              <p:cNvPr id="10" name="文本框 9">
                <a:extLst>
                  <a:ext uri="{FF2B5EF4-FFF2-40B4-BE49-F238E27FC236}">
                    <a16:creationId xmlns:a16="http://schemas.microsoft.com/office/drawing/2014/main" id="{A05264E1-2824-98CC-57A6-8B20B7D0F5AE}"/>
                  </a:ext>
                </a:extLst>
              </p:cNvPr>
              <p:cNvSpPr txBox="1">
                <a:spLocks noRot="1" noChangeAspect="1" noMove="1" noResize="1" noEditPoints="1" noAdjustHandles="1" noChangeArrowheads="1" noChangeShapeType="1" noTextEdit="1"/>
              </p:cNvSpPr>
              <p:nvPr/>
            </p:nvSpPr>
            <p:spPr>
              <a:xfrm>
                <a:off x="493233" y="1622858"/>
                <a:ext cx="5693529" cy="2585323"/>
              </a:xfrm>
              <a:prstGeom prst="rect">
                <a:avLst/>
              </a:prstGeom>
              <a:blipFill>
                <a:blip r:embed="rId4"/>
                <a:stretch>
                  <a:fillRect l="-964" t="-14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7BCC703B-4417-1277-8005-8E70DA7DEA34}"/>
                  </a:ext>
                </a:extLst>
              </p:cNvPr>
              <p:cNvSpPr txBox="1"/>
              <p:nvPr/>
            </p:nvSpPr>
            <p:spPr>
              <a:xfrm>
                <a:off x="6350652" y="1444884"/>
                <a:ext cx="5693529" cy="2617640"/>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仿真数据集</a:t>
                </a:r>
                <a:r>
                  <a:rPr lang="zh-CN" altLang="zh-CN"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endParaRPr lang="zh-CN" altLang="zh-CN" dirty="0">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10</a:t>
                </a:r>
                <a:r>
                  <a:rPr lang="zh-CN" altLang="zh-CN" dirty="0">
                    <a:latin typeface="Times New Roman" panose="02020603050405020304" pitchFamily="18" charset="0"/>
                    <a:cs typeface="Times New Roman" panose="02020603050405020304" pitchFamily="18" charset="0"/>
                  </a:rPr>
                  <a:t>个发射机，</a:t>
                </a:r>
                <a:r>
                  <a:rPr lang="en-US" altLang="zh-CN" dirty="0">
                    <a:latin typeface="Times New Roman" panose="02020603050405020304" pitchFamily="18" charset="0"/>
                    <a:cs typeface="Times New Roman" panose="02020603050405020304" pitchFamily="18" charset="0"/>
                  </a:rPr>
                  <a:t>3</a:t>
                </a:r>
                <a:r>
                  <a:rPr lang="zh-CN" altLang="zh-CN" dirty="0">
                    <a:latin typeface="Times New Roman" panose="02020603050405020304" pitchFamily="18" charset="0"/>
                    <a:cs typeface="Times New Roman" panose="02020603050405020304" pitchFamily="18" charset="0"/>
                  </a:rPr>
                  <a:t>个接收机</a:t>
                </a:r>
              </a:p>
              <a:p>
                <a:pPr marL="285750" indent="-285750">
                  <a:lnSpc>
                    <a:spcPct val="12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包含PA非线性、IQ不平衡、频偏、相位噪声等硬件损伤</a:t>
                </a:r>
                <a:endParaRPr lang="en-US" altLang="zh-CN" dirty="0">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每个“发射机-接收机”组合</a:t>
                </a:r>
                <a:r>
                  <a:rPr lang="zh-CN" altLang="en-US" dirty="0">
                    <a:latin typeface="Times New Roman" panose="02020603050405020304" pitchFamily="18" charset="0"/>
                    <a:cs typeface="Times New Roman" panose="02020603050405020304" pitchFamily="18" charset="0"/>
                  </a:rPr>
                  <a:t>有</a:t>
                </a:r>
                <a:r>
                  <a:rPr lang="zh-CN" altLang="zh-CN" dirty="0">
                    <a:latin typeface="Times New Roman" panose="02020603050405020304" pitchFamily="18" charset="0"/>
                    <a:cs typeface="Times New Roman" panose="02020603050405020304" pitchFamily="18" charset="0"/>
                  </a:rPr>
                  <a:t>1000个样本</a:t>
                </a:r>
                <a:endParaRPr lang="en-US" altLang="zh-CN" dirty="0">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输入重排为</a:t>
                </a:r>
                <a14:m>
                  <m:oMath xmlns:m="http://schemas.openxmlformats.org/officeDocument/2006/math">
                    <m:r>
                      <a:rPr lang="zh-CN" altLang="zh-CN" dirty="0" smtClean="0">
                        <a:latin typeface="Cambria Math" panose="02040503050406030204" pitchFamily="18" charset="0"/>
                      </a:rPr>
                      <m:t>2</m:t>
                    </m:r>
                    <m:r>
                      <a:rPr lang="zh-CN" altLang="zh-CN" i="0" dirty="0" smtClean="0">
                        <a:latin typeface="Cambria Math" panose="02040503050406030204" pitchFamily="18" charset="0"/>
                      </a:rPr>
                      <m:t>×</m:t>
                    </m:r>
                    <m:r>
                      <a:rPr lang="en-US" altLang="zh-CN" b="0" i="0" dirty="0" smtClean="0">
                        <a:latin typeface="Cambria Math" panose="02040503050406030204" pitchFamily="18" charset="0"/>
                      </a:rPr>
                      <m:t>32</m:t>
                    </m:r>
                    <m:r>
                      <a:rPr lang="zh-CN" altLang="zh-CN" i="0" dirty="0" smtClean="0">
                        <a:latin typeface="Cambria Math" panose="02040503050406030204" pitchFamily="18" charset="0"/>
                      </a:rPr>
                      <m:t>×</m:t>
                    </m:r>
                    <m:r>
                      <a:rPr lang="en-US" altLang="zh-CN" b="0" i="0" dirty="0" smtClean="0">
                        <a:latin typeface="Cambria Math" panose="02040503050406030204" pitchFamily="18" charset="0"/>
                      </a:rPr>
                      <m:t>32</m:t>
                    </m:r>
                  </m:oMath>
                </a14:m>
                <a:r>
                  <a:rPr lang="zh-CN" altLang="en-US" dirty="0">
                    <a:latin typeface="Times New Roman" panose="02020603050405020304" pitchFamily="18" charset="0"/>
                    <a:cs typeface="Times New Roman" panose="02020603050405020304" pitchFamily="18" charset="0"/>
                  </a:rPr>
                  <a:t>大小</a:t>
                </a:r>
                <a:endParaRPr lang="en-US" altLang="zh-CN" dirty="0">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2个源接收机训练，1个未见接收机测试</a:t>
                </a:r>
              </a:p>
            </p:txBody>
          </p:sp>
        </mc:Choice>
        <mc:Fallback>
          <p:sp>
            <p:nvSpPr>
              <p:cNvPr id="11" name="文本框 10">
                <a:extLst>
                  <a:ext uri="{FF2B5EF4-FFF2-40B4-BE49-F238E27FC236}">
                    <a16:creationId xmlns:a16="http://schemas.microsoft.com/office/drawing/2014/main" id="{7BCC703B-4417-1277-8005-8E70DA7DEA34}"/>
                  </a:ext>
                </a:extLst>
              </p:cNvPr>
              <p:cNvSpPr txBox="1">
                <a:spLocks noRot="1" noChangeAspect="1" noMove="1" noResize="1" noEditPoints="1" noAdjustHandles="1" noChangeArrowheads="1" noChangeShapeType="1" noTextEdit="1"/>
              </p:cNvSpPr>
              <p:nvPr/>
            </p:nvSpPr>
            <p:spPr>
              <a:xfrm>
                <a:off x="6350652" y="1444884"/>
                <a:ext cx="5693529" cy="2617640"/>
              </a:xfrm>
              <a:prstGeom prst="rect">
                <a:avLst/>
              </a:prstGeom>
              <a:blipFill>
                <a:blip r:embed="rId5"/>
                <a:stretch>
                  <a:fillRect l="-964" t="-1166" b="-3030"/>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E659FB1F-8B44-4E1C-5A7A-0B0F7492B5AC}"/>
              </a:ext>
            </a:extLst>
          </p:cNvPr>
          <p:cNvSpPr txBox="1"/>
          <p:nvPr/>
        </p:nvSpPr>
        <p:spPr>
          <a:xfrm>
            <a:off x="645633" y="1075552"/>
            <a:ext cx="1345671" cy="369332"/>
          </a:xfrm>
          <a:prstGeom prst="rect">
            <a:avLst/>
          </a:prstGeom>
          <a:noFill/>
        </p:spPr>
        <p:txBody>
          <a:bodyPr wrap="square">
            <a:spAutoFit/>
          </a:bodyPr>
          <a:lstStyle/>
          <a:p>
            <a:r>
              <a:rPr lang="zh-CN" altLang="zh-CN" b="1" dirty="0"/>
              <a:t>实验设置</a:t>
            </a:r>
            <a:r>
              <a:rPr lang="en-US" altLang="zh-CN" b="1" dirty="0"/>
              <a:t>: </a:t>
            </a:r>
            <a:endParaRPr lang="zh-CN" altLang="en-US" b="1" dirty="0"/>
          </a:p>
        </p:txBody>
      </p:sp>
      <p:graphicFrame>
        <p:nvGraphicFramePr>
          <p:cNvPr id="17" name="表格 16">
            <a:extLst>
              <a:ext uri="{FF2B5EF4-FFF2-40B4-BE49-F238E27FC236}">
                <a16:creationId xmlns:a16="http://schemas.microsoft.com/office/drawing/2014/main" id="{19C9E96E-7722-8F05-F4BC-D2CC98146264}"/>
              </a:ext>
            </a:extLst>
          </p:cNvPr>
          <p:cNvGraphicFramePr>
            <a:graphicFrameLocks noGrp="1"/>
          </p:cNvGraphicFramePr>
          <p:nvPr>
            <p:extLst>
              <p:ext uri="{D42A27DB-BD31-4B8C-83A1-F6EECF244321}">
                <p14:modId xmlns:p14="http://schemas.microsoft.com/office/powerpoint/2010/main" val="2146502324"/>
              </p:ext>
            </p:extLst>
          </p:nvPr>
        </p:nvGraphicFramePr>
        <p:xfrm>
          <a:off x="493233" y="4531017"/>
          <a:ext cx="5602767" cy="2160849"/>
        </p:xfrm>
        <a:graphic>
          <a:graphicData uri="http://schemas.openxmlformats.org/drawingml/2006/table">
            <a:tbl>
              <a:tblPr firstRow="1" firstCol="1" bandRow="1">
                <a:tableStyleId>{F5AB1C69-6EDB-4FF4-983F-18BD219EF322}</a:tableStyleId>
              </a:tblPr>
              <a:tblGrid>
                <a:gridCol w="1492450">
                  <a:extLst>
                    <a:ext uri="{9D8B030D-6E8A-4147-A177-3AD203B41FA5}">
                      <a16:colId xmlns:a16="http://schemas.microsoft.com/office/drawing/2014/main" val="1997497341"/>
                    </a:ext>
                  </a:extLst>
                </a:gridCol>
                <a:gridCol w="4110317">
                  <a:extLst>
                    <a:ext uri="{9D8B030D-6E8A-4147-A177-3AD203B41FA5}">
                      <a16:colId xmlns:a16="http://schemas.microsoft.com/office/drawing/2014/main" val="2976516676"/>
                    </a:ext>
                  </a:extLst>
                </a:gridCol>
              </a:tblGrid>
              <a:tr h="406803">
                <a:tc>
                  <a:txBody>
                    <a:bodyPr/>
                    <a:lstStyle/>
                    <a:p>
                      <a:pPr marL="0" marR="0" lvl="0" indent="0" algn="ctr" defTabSz="914400" eaLnBrk="1" fontAlgn="auto" latinLnBrk="0" hangingPunct="1">
                        <a:lnSpc>
                          <a:spcPct val="150000"/>
                        </a:lnSpc>
                        <a:spcBef>
                          <a:spcPts val="0"/>
                        </a:spcBef>
                        <a:spcAft>
                          <a:spcPts val="0"/>
                        </a:spcAft>
                        <a:buClrTx/>
                        <a:buSzTx/>
                        <a:buFontTx/>
                        <a:buNone/>
                        <a:tabLst>
                          <a:tab pos="2768600" algn="ctr"/>
                          <a:tab pos="5537200" algn="r"/>
                        </a:tabLst>
                        <a:defRPr/>
                      </a:pPr>
                      <a:r>
                        <a:rPr lang="zh-CN" altLang="zh-CN" sz="1600" u="none" kern="100" dirty="0">
                          <a:effectLst/>
                        </a:rPr>
                        <a:t>模块</a:t>
                      </a:r>
                      <a:endParaRPr lang="zh-CN" altLang="zh-CN" sz="1050" u="none" kern="100" dirty="0">
                        <a:effectLst/>
                        <a:latin typeface="Times New Roman" panose="02020603050405020304" pitchFamily="18" charset="0"/>
                        <a:ea typeface="宋体" panose="02010600030101010101" pitchFamily="2" charset="-122"/>
                      </a:endParaRPr>
                    </a:p>
                  </a:txBody>
                  <a:tcPr marL="68580" marR="68580" marT="0" marB="0">
                    <a:solidFill>
                      <a:schemeClr val="accent3">
                        <a:lumMod val="75000"/>
                      </a:schemeClr>
                    </a:solidFill>
                  </a:tcPr>
                </a:tc>
                <a:tc>
                  <a:txBody>
                    <a:bodyPr/>
                    <a:lstStyle/>
                    <a:p>
                      <a:pPr marL="457200" indent="304800" algn="ctr">
                        <a:buNone/>
                        <a:tabLst>
                          <a:tab pos="2768600" algn="ctr"/>
                          <a:tab pos="5537200" algn="r"/>
                        </a:tabLst>
                      </a:pPr>
                      <a:r>
                        <a:rPr lang="zh-CN" sz="1600" u="none" kern="100" dirty="0">
                          <a:effectLst/>
                        </a:rPr>
                        <a:t>网络层参数</a:t>
                      </a:r>
                      <a:endParaRPr lang="zh-CN" sz="1200" u="none" kern="100" dirty="0">
                        <a:effectLst/>
                        <a:latin typeface="Times New Roman" panose="02020603050405020304" pitchFamily="18" charset="0"/>
                        <a:ea typeface="宋体" panose="02010600030101010101" pitchFamily="2" charset="-122"/>
                      </a:endParaRPr>
                    </a:p>
                  </a:txBody>
                  <a:tcPr marL="68580" marR="68580" marT="0" marB="0">
                    <a:solidFill>
                      <a:schemeClr val="accent3">
                        <a:lumMod val="75000"/>
                      </a:schemeClr>
                    </a:solidFill>
                  </a:tcPr>
                </a:tc>
                <a:extLst>
                  <a:ext uri="{0D108BD9-81ED-4DB2-BD59-A6C34878D82A}">
                    <a16:rowId xmlns:a16="http://schemas.microsoft.com/office/drawing/2014/main" val="2330093084"/>
                  </a:ext>
                </a:extLst>
              </a:tr>
              <a:tr h="292341">
                <a:tc rowSpan="4">
                  <a:txBody>
                    <a:bodyPr/>
                    <a:lstStyle/>
                    <a:p>
                      <a:pPr marL="0" indent="0" algn="ctr">
                        <a:lnSpc>
                          <a:spcPct val="150000"/>
                        </a:lnSpc>
                        <a:buNone/>
                        <a:tabLst>
                          <a:tab pos="2768600" algn="ctr"/>
                          <a:tab pos="5537200" algn="r"/>
                        </a:tabLst>
                      </a:pPr>
                      <a:r>
                        <a:rPr lang="zh-CN" sz="1600" u="none" kern="100" dirty="0">
                          <a:effectLst/>
                        </a:rPr>
                        <a:t>特征提取器</a:t>
                      </a:r>
                      <a:endParaRPr lang="zh-CN" sz="1200" u="none" kern="100" dirty="0">
                        <a:effectLst/>
                        <a:latin typeface="Times New Roman" panose="02020603050405020304" pitchFamily="18" charset="0"/>
                        <a:ea typeface="宋体" panose="02010600030101010101" pitchFamily="2" charset="-122"/>
                      </a:endParaRPr>
                    </a:p>
                  </a:txBody>
                  <a:tcPr marL="68580" marR="68580" marT="0" marB="0" anchor="ctr">
                    <a:solidFill>
                      <a:schemeClr val="accent3">
                        <a:lumMod val="75000"/>
                      </a:schemeClr>
                    </a:solidFill>
                  </a:tcPr>
                </a:tc>
                <a:tc>
                  <a:txBody>
                    <a:bodyPr/>
                    <a:lstStyle/>
                    <a:p>
                      <a:pPr marL="457200" indent="304800" algn="ctr">
                        <a:buNone/>
                        <a:tabLst>
                          <a:tab pos="2768600" algn="ctr"/>
                          <a:tab pos="5537200" algn="r"/>
                        </a:tabLst>
                      </a:pPr>
                      <a:r>
                        <a:rPr lang="zh-CN" sz="1600" u="none" kern="100" dirty="0">
                          <a:effectLst/>
                          <a:latin typeface="Times New Roman" panose="02020603050405020304" pitchFamily="18" charset="0"/>
                          <a:cs typeface="Times New Roman" panose="02020603050405020304" pitchFamily="18" charset="0"/>
                        </a:rPr>
                        <a:t>层</a:t>
                      </a:r>
                      <a:r>
                        <a:rPr lang="en-US" sz="1600" u="none" kern="100" dirty="0">
                          <a:effectLst/>
                          <a:latin typeface="Times New Roman" panose="02020603050405020304" pitchFamily="18" charset="0"/>
                          <a:cs typeface="Times New Roman" panose="02020603050405020304" pitchFamily="18" charset="0"/>
                        </a:rPr>
                        <a:t>1</a:t>
                      </a:r>
                      <a:r>
                        <a:rPr lang="zh-CN" sz="1600" u="none" kern="100" dirty="0">
                          <a:effectLst/>
                          <a:latin typeface="Times New Roman" panose="02020603050405020304" pitchFamily="18" charset="0"/>
                          <a:cs typeface="Times New Roman" panose="02020603050405020304" pitchFamily="18" charset="0"/>
                        </a:rPr>
                        <a:t>：</a:t>
                      </a:r>
                      <a:r>
                        <a:rPr lang="en-US" sz="1600" u="none" kern="100" dirty="0">
                          <a:effectLst/>
                          <a:latin typeface="Times New Roman" panose="02020603050405020304" pitchFamily="18" charset="0"/>
                          <a:cs typeface="Times New Roman" panose="02020603050405020304" pitchFamily="18" charset="0"/>
                        </a:rPr>
                        <a:t>Conv2d+GN+ReLU</a:t>
                      </a:r>
                      <a:endParaRPr lang="zh-CN" sz="1200" u="none"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35188848"/>
                  </a:ext>
                </a:extLst>
              </a:tr>
              <a:tr h="292341">
                <a:tc vMerge="1">
                  <a:txBody>
                    <a:bodyPr/>
                    <a:lstStyle/>
                    <a:p>
                      <a:endParaRPr lang="zh-CN" altLang="en-US"/>
                    </a:p>
                  </a:txBody>
                  <a:tcPr/>
                </a:tc>
                <a:tc>
                  <a:txBody>
                    <a:bodyPr/>
                    <a:lstStyle/>
                    <a:p>
                      <a:pPr marL="457200" indent="304800" algn="ctr">
                        <a:buNone/>
                        <a:tabLst>
                          <a:tab pos="2768600" algn="ctr"/>
                          <a:tab pos="5537200" algn="r"/>
                        </a:tabLst>
                      </a:pPr>
                      <a:r>
                        <a:rPr lang="zh-CN" sz="1600" u="none" kern="100" dirty="0">
                          <a:effectLst/>
                          <a:latin typeface="Times New Roman" panose="02020603050405020304" pitchFamily="18" charset="0"/>
                          <a:cs typeface="Times New Roman" panose="02020603050405020304" pitchFamily="18" charset="0"/>
                        </a:rPr>
                        <a:t>层</a:t>
                      </a:r>
                      <a:r>
                        <a:rPr lang="en-US" sz="1600" u="none" kern="100" dirty="0">
                          <a:effectLst/>
                          <a:latin typeface="Times New Roman" panose="02020603050405020304" pitchFamily="18" charset="0"/>
                          <a:cs typeface="Times New Roman" panose="02020603050405020304" pitchFamily="18" charset="0"/>
                        </a:rPr>
                        <a:t>2</a:t>
                      </a:r>
                      <a:r>
                        <a:rPr lang="zh-CN" sz="1600" u="none" kern="100" dirty="0">
                          <a:effectLst/>
                          <a:latin typeface="Times New Roman" panose="02020603050405020304" pitchFamily="18" charset="0"/>
                          <a:cs typeface="Times New Roman" panose="02020603050405020304" pitchFamily="18" charset="0"/>
                        </a:rPr>
                        <a:t>：</a:t>
                      </a:r>
                      <a:r>
                        <a:rPr lang="en-US" sz="1600" u="none" kern="100" dirty="0">
                          <a:effectLst/>
                          <a:latin typeface="Times New Roman" panose="02020603050405020304" pitchFamily="18" charset="0"/>
                          <a:cs typeface="Times New Roman" panose="02020603050405020304" pitchFamily="18" charset="0"/>
                        </a:rPr>
                        <a:t>Conv2d+GN+ReLU</a:t>
                      </a:r>
                      <a:endParaRPr lang="zh-CN" sz="1200" u="none"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99529236"/>
                  </a:ext>
                </a:extLst>
              </a:tr>
              <a:tr h="292341">
                <a:tc vMerge="1">
                  <a:txBody>
                    <a:bodyPr/>
                    <a:lstStyle/>
                    <a:p>
                      <a:endParaRPr lang="zh-CN" altLang="en-US"/>
                    </a:p>
                  </a:txBody>
                  <a:tcPr/>
                </a:tc>
                <a:tc>
                  <a:txBody>
                    <a:bodyPr/>
                    <a:lstStyle/>
                    <a:p>
                      <a:pPr marL="457200" indent="304800" algn="ctr">
                        <a:buNone/>
                        <a:tabLst>
                          <a:tab pos="2768600" algn="ctr"/>
                          <a:tab pos="5537200" algn="r"/>
                        </a:tabLst>
                      </a:pPr>
                      <a:r>
                        <a:rPr lang="zh-CN" sz="1600" u="none" kern="100" dirty="0">
                          <a:effectLst/>
                          <a:latin typeface="Times New Roman" panose="02020603050405020304" pitchFamily="18" charset="0"/>
                          <a:cs typeface="Times New Roman" panose="02020603050405020304" pitchFamily="18" charset="0"/>
                        </a:rPr>
                        <a:t>层</a:t>
                      </a:r>
                      <a:r>
                        <a:rPr lang="en-US" sz="1600" u="none" kern="100" dirty="0">
                          <a:effectLst/>
                          <a:latin typeface="Times New Roman" panose="02020603050405020304" pitchFamily="18" charset="0"/>
                          <a:cs typeface="Times New Roman" panose="02020603050405020304" pitchFamily="18" charset="0"/>
                        </a:rPr>
                        <a:t>3</a:t>
                      </a:r>
                      <a:r>
                        <a:rPr lang="zh-CN" sz="1600" u="none" kern="100" dirty="0">
                          <a:effectLst/>
                          <a:latin typeface="Times New Roman" panose="02020603050405020304" pitchFamily="18" charset="0"/>
                          <a:cs typeface="Times New Roman" panose="02020603050405020304" pitchFamily="18" charset="0"/>
                        </a:rPr>
                        <a:t>：</a:t>
                      </a:r>
                      <a:r>
                        <a:rPr lang="en-US" sz="1600" u="none" kern="100" dirty="0">
                          <a:effectLst/>
                          <a:latin typeface="Times New Roman" panose="02020603050405020304" pitchFamily="18" charset="0"/>
                          <a:cs typeface="Times New Roman" panose="02020603050405020304" pitchFamily="18" charset="0"/>
                        </a:rPr>
                        <a:t>Conv2d+GN+ReLU</a:t>
                      </a:r>
                      <a:endParaRPr lang="zh-CN" sz="1200" u="none"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02506877"/>
                  </a:ext>
                </a:extLst>
              </a:tr>
              <a:tr h="292341">
                <a:tc vMerge="1">
                  <a:txBody>
                    <a:bodyPr/>
                    <a:lstStyle/>
                    <a:p>
                      <a:endParaRPr lang="zh-CN" altLang="en-US"/>
                    </a:p>
                  </a:txBody>
                  <a:tcPr/>
                </a:tc>
                <a:tc>
                  <a:txBody>
                    <a:bodyPr/>
                    <a:lstStyle/>
                    <a:p>
                      <a:pPr marL="457200" indent="304800" algn="ctr">
                        <a:buNone/>
                        <a:tabLst>
                          <a:tab pos="2768600" algn="ctr"/>
                          <a:tab pos="5537200" algn="r"/>
                        </a:tabLst>
                      </a:pPr>
                      <a:r>
                        <a:rPr lang="zh-CN" sz="1600" u="none" kern="100" dirty="0">
                          <a:effectLst/>
                          <a:latin typeface="Times New Roman" panose="02020603050405020304" pitchFamily="18" charset="0"/>
                          <a:cs typeface="Times New Roman" panose="02020603050405020304" pitchFamily="18" charset="0"/>
                        </a:rPr>
                        <a:t>层</a:t>
                      </a:r>
                      <a:r>
                        <a:rPr lang="en-US" sz="1600" u="none" kern="100" dirty="0">
                          <a:effectLst/>
                          <a:latin typeface="Times New Roman" panose="02020603050405020304" pitchFamily="18" charset="0"/>
                          <a:cs typeface="Times New Roman" panose="02020603050405020304" pitchFamily="18" charset="0"/>
                        </a:rPr>
                        <a:t>4</a:t>
                      </a:r>
                      <a:r>
                        <a:rPr lang="zh-CN" sz="1600" u="none" kern="100" dirty="0">
                          <a:effectLst/>
                          <a:latin typeface="Times New Roman" panose="02020603050405020304" pitchFamily="18" charset="0"/>
                          <a:cs typeface="Times New Roman" panose="02020603050405020304" pitchFamily="18" charset="0"/>
                        </a:rPr>
                        <a:t>：</a:t>
                      </a:r>
                      <a:r>
                        <a:rPr lang="en-US" sz="1600" u="none" kern="100" dirty="0">
                          <a:effectLst/>
                          <a:latin typeface="Times New Roman" panose="02020603050405020304" pitchFamily="18" charset="0"/>
                          <a:cs typeface="Times New Roman" panose="02020603050405020304" pitchFamily="18" charset="0"/>
                        </a:rPr>
                        <a:t>Conv2d+GN+ReLU+</a:t>
                      </a:r>
                      <a:r>
                        <a:rPr lang="zh-CN" sz="1600" u="none" kern="100" dirty="0">
                          <a:effectLst/>
                          <a:latin typeface="Times New Roman" panose="02020603050405020304" pitchFamily="18" charset="0"/>
                          <a:cs typeface="Times New Roman" panose="02020603050405020304" pitchFamily="18" charset="0"/>
                        </a:rPr>
                        <a:t>平均池化</a:t>
                      </a:r>
                      <a:endParaRPr lang="zh-CN" sz="1200" u="none"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14172229"/>
                  </a:ext>
                </a:extLst>
              </a:tr>
              <a:tr h="292341">
                <a:tc rowSpan="2">
                  <a:txBody>
                    <a:bodyPr/>
                    <a:lstStyle/>
                    <a:p>
                      <a:pPr marL="0" indent="0" algn="ctr">
                        <a:buNone/>
                        <a:tabLst>
                          <a:tab pos="2768600" algn="ctr"/>
                          <a:tab pos="5537200" algn="r"/>
                        </a:tabLst>
                      </a:pPr>
                      <a:r>
                        <a:rPr lang="zh-CN" sz="1600" u="none" kern="100" dirty="0">
                          <a:effectLst/>
                        </a:rPr>
                        <a:t>分类头</a:t>
                      </a:r>
                      <a:endParaRPr lang="zh-CN" sz="1200" u="none" kern="100" dirty="0">
                        <a:effectLst/>
                        <a:latin typeface="Times New Roman" panose="02020603050405020304" pitchFamily="18" charset="0"/>
                        <a:ea typeface="宋体" panose="02010600030101010101" pitchFamily="2" charset="-122"/>
                      </a:endParaRPr>
                    </a:p>
                  </a:txBody>
                  <a:tcPr marL="68580" marR="68580" marT="0" marB="0" anchor="ctr">
                    <a:solidFill>
                      <a:schemeClr val="accent3">
                        <a:lumMod val="75000"/>
                      </a:schemeClr>
                    </a:solidFill>
                  </a:tcPr>
                </a:tc>
                <a:tc>
                  <a:txBody>
                    <a:bodyPr/>
                    <a:lstStyle/>
                    <a:p>
                      <a:pPr marL="457200" indent="304800" algn="ctr">
                        <a:buNone/>
                        <a:tabLst>
                          <a:tab pos="2768600" algn="ctr"/>
                          <a:tab pos="5537200" algn="r"/>
                        </a:tabLst>
                      </a:pPr>
                      <a:r>
                        <a:rPr lang="zh-CN" sz="1600" u="none" kern="100" dirty="0">
                          <a:effectLst/>
                          <a:latin typeface="Times New Roman" panose="02020603050405020304" pitchFamily="18" charset="0"/>
                          <a:cs typeface="Times New Roman" panose="02020603050405020304" pitchFamily="18" charset="0"/>
                        </a:rPr>
                        <a:t>层</a:t>
                      </a:r>
                      <a:r>
                        <a:rPr lang="en-US" sz="1600" u="none" kern="100" dirty="0">
                          <a:effectLst/>
                          <a:latin typeface="Times New Roman" panose="02020603050405020304" pitchFamily="18" charset="0"/>
                          <a:cs typeface="Times New Roman" panose="02020603050405020304" pitchFamily="18" charset="0"/>
                        </a:rPr>
                        <a:t>5</a:t>
                      </a:r>
                      <a:r>
                        <a:rPr lang="zh-CN" sz="1600" u="none" kern="100" dirty="0">
                          <a:effectLst/>
                          <a:latin typeface="Times New Roman" panose="02020603050405020304" pitchFamily="18" charset="0"/>
                          <a:cs typeface="Times New Roman" panose="02020603050405020304" pitchFamily="18" charset="0"/>
                        </a:rPr>
                        <a:t>：线性层（</a:t>
                      </a:r>
                      <a:r>
                        <a:rPr lang="en-US" sz="1600" u="none" kern="100" dirty="0">
                          <a:effectLst/>
                          <a:latin typeface="Times New Roman" panose="02020603050405020304" pitchFamily="18" charset="0"/>
                          <a:cs typeface="Times New Roman" panose="02020603050405020304" pitchFamily="18" charset="0"/>
                        </a:rPr>
                        <a:t>128</a:t>
                      </a:r>
                      <a:r>
                        <a:rPr lang="zh-CN" sz="1600" u="none" kern="100" dirty="0">
                          <a:effectLst/>
                          <a:latin typeface="Times New Roman" panose="02020603050405020304" pitchFamily="18" charset="0"/>
                          <a:cs typeface="Times New Roman" panose="02020603050405020304" pitchFamily="18" charset="0"/>
                        </a:rPr>
                        <a:t>，</a:t>
                      </a:r>
                      <a:r>
                        <a:rPr lang="en-US" sz="1600" u="none" kern="100" dirty="0">
                          <a:effectLst/>
                          <a:latin typeface="Times New Roman" panose="02020603050405020304" pitchFamily="18" charset="0"/>
                          <a:cs typeface="Times New Roman" panose="02020603050405020304" pitchFamily="18" charset="0"/>
                        </a:rPr>
                        <a:t> </a:t>
                      </a:r>
                      <a:r>
                        <a:rPr lang="zh-CN" sz="1600" u="none" kern="100" dirty="0">
                          <a:effectLst/>
                          <a:latin typeface="Times New Roman" panose="02020603050405020304" pitchFamily="18" charset="0"/>
                          <a:cs typeface="Times New Roman" panose="02020603050405020304" pitchFamily="18" charset="0"/>
                        </a:rPr>
                        <a:t>）</a:t>
                      </a:r>
                      <a:endParaRPr lang="zh-CN" sz="1200" u="none"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82677116"/>
                  </a:ext>
                </a:extLst>
              </a:tr>
              <a:tr h="292341">
                <a:tc vMerge="1">
                  <a:txBody>
                    <a:bodyPr/>
                    <a:lstStyle/>
                    <a:p>
                      <a:endParaRPr lang="zh-CN" altLang="en-US"/>
                    </a:p>
                  </a:txBody>
                  <a:tcPr/>
                </a:tc>
                <a:tc>
                  <a:txBody>
                    <a:bodyPr/>
                    <a:lstStyle/>
                    <a:p>
                      <a:pPr marL="457200" indent="304800" algn="ctr">
                        <a:buNone/>
                        <a:tabLst>
                          <a:tab pos="2768600" algn="ctr"/>
                          <a:tab pos="5537200" algn="r"/>
                        </a:tabLst>
                      </a:pPr>
                      <a:r>
                        <a:rPr lang="zh-CN" sz="1600" u="none" kern="100" dirty="0">
                          <a:effectLst/>
                          <a:latin typeface="Times New Roman" panose="02020603050405020304" pitchFamily="18" charset="0"/>
                          <a:cs typeface="Times New Roman" panose="02020603050405020304" pitchFamily="18" charset="0"/>
                        </a:rPr>
                        <a:t>输出</a:t>
                      </a:r>
                      <a:r>
                        <a:rPr lang="en-US" sz="1600" u="none" kern="100" dirty="0">
                          <a:effectLst/>
                          <a:latin typeface="Times New Roman" panose="02020603050405020304" pitchFamily="18" charset="0"/>
                          <a:cs typeface="Times New Roman" panose="02020603050405020304" pitchFamily="18" charset="0"/>
                        </a:rPr>
                        <a:t>logit</a:t>
                      </a:r>
                      <a:r>
                        <a:rPr lang="zh-CN" sz="1600" u="none" kern="100" dirty="0">
                          <a:effectLst/>
                          <a:latin typeface="Times New Roman" panose="02020603050405020304" pitchFamily="18" charset="0"/>
                          <a:cs typeface="Times New Roman" panose="02020603050405020304" pitchFamily="18" charset="0"/>
                        </a:rPr>
                        <a:t>值</a:t>
                      </a:r>
                      <a:endParaRPr lang="zh-CN" sz="1200" u="none"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76423930"/>
                  </a:ext>
                </a:extLst>
              </a:tr>
            </a:tbl>
          </a:graphicData>
        </a:graphic>
      </p:graphicFrame>
    </p:spTree>
    <p:extLst>
      <p:ext uri="{BB962C8B-B14F-4D97-AF65-F5344CB8AC3E}">
        <p14:creationId xmlns:p14="http://schemas.microsoft.com/office/powerpoint/2010/main" val="727895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9F1D4-4FCA-7F0D-BC7E-59050E62785B}"/>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9598A147-8BD8-C4EF-FF15-6794E85EDF51}"/>
              </a:ext>
            </a:extLst>
          </p:cNvPr>
          <p:cNvSpPr>
            <a:spLocks noGrp="1"/>
          </p:cNvSpPr>
          <p:nvPr/>
        </p:nvSpPr>
        <p:spPr>
          <a:xfrm>
            <a:off x="54634" y="166134"/>
            <a:ext cx="3077565" cy="508923"/>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911F22"/>
          </a:solidFill>
          <a:ln w="38100">
            <a:solidFill>
              <a:srgbClr val="911F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16" name="矩形 15">
            <a:extLst>
              <a:ext uri="{FF2B5EF4-FFF2-40B4-BE49-F238E27FC236}">
                <a16:creationId xmlns:a16="http://schemas.microsoft.com/office/drawing/2014/main" id="{A9B3612D-F160-E059-8B18-AD0B0DA7FFBB}"/>
              </a:ext>
            </a:extLst>
          </p:cNvPr>
          <p:cNvSpPr>
            <a:spLocks noGrp="1"/>
          </p:cNvSpPr>
          <p:nvPr/>
        </p:nvSpPr>
        <p:spPr>
          <a:xfrm>
            <a:off x="1260978" y="472648"/>
            <a:ext cx="1513556" cy="461665"/>
          </a:xfrm>
          <a:prstGeom prst="rect">
            <a:avLst/>
          </a:prstGeom>
        </p:spPr>
        <p:txBody>
          <a:bodyPr wrap="none">
            <a:spAutoFit/>
          </a:bodyPr>
          <a:lstStyle/>
          <a:p>
            <a:endParaRPr/>
          </a:p>
        </p:txBody>
      </p:sp>
      <p:pic>
        <p:nvPicPr>
          <p:cNvPr id="35" name="图片 3">
            <a:extLst>
              <a:ext uri="{FF2B5EF4-FFF2-40B4-BE49-F238E27FC236}">
                <a16:creationId xmlns:a16="http://schemas.microsoft.com/office/drawing/2014/main" id="{B8DCE9D3-1169-1F0C-D817-2162D77184C2}"/>
              </a:ext>
            </a:extLst>
          </p:cNvPr>
          <p:cNvPicPr>
            <a:picLocks noChangeAspect="1"/>
          </p:cNvPicPr>
          <p:nvPr/>
        </p:nvPicPr>
        <p:blipFill>
          <a:blip r:embed="rId3"/>
          <a:stretch>
            <a:fillRect/>
          </a:stretch>
        </p:blipFill>
        <p:spPr>
          <a:xfrm>
            <a:off x="10800000" y="216000"/>
            <a:ext cx="1168402" cy="312900"/>
          </a:xfrm>
          <a:prstGeom prst="rect">
            <a:avLst/>
          </a:prstGeom>
        </p:spPr>
      </p:pic>
      <p:sp>
        <p:nvSpPr>
          <p:cNvPr id="15" name="灯片编号占位符 14">
            <a:extLst>
              <a:ext uri="{FF2B5EF4-FFF2-40B4-BE49-F238E27FC236}">
                <a16:creationId xmlns:a16="http://schemas.microsoft.com/office/drawing/2014/main" id="{BC299597-5DFE-8A2C-4E7E-13BF0A196FDE}"/>
              </a:ext>
            </a:extLst>
          </p:cNvPr>
          <p:cNvSpPr>
            <a:spLocks noGrp="1"/>
          </p:cNvSpPr>
          <p:nvPr>
            <p:ph type="sldNum" idx="12"/>
          </p:nvPr>
        </p:nvSpPr>
        <p:spPr>
          <a:xfrm>
            <a:off x="11079346" y="6179244"/>
            <a:ext cx="471513" cy="365125"/>
          </a:xfrm>
        </p:spPr>
        <p:txBody>
          <a:bodyPr/>
          <a:lstStyle/>
          <a:p>
            <a:r>
              <a:rPr dirty="0"/>
              <a:t>13</a:t>
            </a:r>
          </a:p>
        </p:txBody>
      </p:sp>
      <p:sp>
        <p:nvSpPr>
          <p:cNvPr id="3" name="文本框 2">
            <a:extLst>
              <a:ext uri="{FF2B5EF4-FFF2-40B4-BE49-F238E27FC236}">
                <a16:creationId xmlns:a16="http://schemas.microsoft.com/office/drawing/2014/main" id="{56DD6C85-E93D-3260-BAD8-9A8E046CE3C0}"/>
              </a:ext>
            </a:extLst>
          </p:cNvPr>
          <p:cNvSpPr>
            <a:spLocks noGrp="1"/>
          </p:cNvSpPr>
          <p:nvPr/>
        </p:nvSpPr>
        <p:spPr>
          <a:xfrm>
            <a:off x="493233" y="224553"/>
            <a:ext cx="2203152" cy="400110"/>
          </a:xfrm>
          <a:prstGeom prst="rect">
            <a:avLst/>
          </a:prstGeom>
          <a:noFill/>
        </p:spPr>
        <p:txBody>
          <a:bodyPr wrap="square">
            <a:spAutoFit/>
          </a:bodyPr>
          <a:lstStyle/>
          <a:p>
            <a:r>
              <a:rPr lang="zh-CN" altLang="en-US" sz="2000" b="1" dirty="0">
                <a:solidFill>
                  <a:schemeClr val="bg1"/>
                </a:solidFill>
                <a:latin typeface="微软雅黑"/>
                <a:ea typeface="微软雅黑"/>
                <a:cs typeface="微软雅黑"/>
              </a:rPr>
              <a:t>实验结果与分析</a:t>
            </a:r>
          </a:p>
        </p:txBody>
      </p:sp>
      <p:sp>
        <p:nvSpPr>
          <p:cNvPr id="25" name="文本框 24">
            <a:extLst>
              <a:ext uri="{FF2B5EF4-FFF2-40B4-BE49-F238E27FC236}">
                <a16:creationId xmlns:a16="http://schemas.microsoft.com/office/drawing/2014/main" id="{25F1D9C5-2797-2121-C7F1-423452CB355C}"/>
              </a:ext>
            </a:extLst>
          </p:cNvPr>
          <p:cNvSpPr>
            <a:spLocks noGrp="1"/>
          </p:cNvSpPr>
          <p:nvPr/>
        </p:nvSpPr>
        <p:spPr>
          <a:xfrm>
            <a:off x="1100848" y="5739021"/>
            <a:ext cx="3448409" cy="646331"/>
          </a:xfrm>
          <a:prstGeom prst="rect">
            <a:avLst/>
          </a:prstGeom>
          <a:noFill/>
        </p:spPr>
        <p:txBody>
          <a:bodyPr wrap="square">
            <a:spAutoFit/>
          </a:bodyPr>
          <a:lstStyle/>
          <a:p>
            <a:r>
              <a:rPr lang="en-US" altLang="zh-CN" b="1" dirty="0" err="1">
                <a:latin typeface="Times New Roman" panose="02020603050405020304" pitchFamily="18" charset="0"/>
                <a:cs typeface="Times New Roman" panose="02020603050405020304" pitchFamily="18" charset="0"/>
              </a:rPr>
              <a:t>WiSig</a:t>
            </a:r>
            <a:r>
              <a:rPr lang="zh-CN" altLang="en-US" b="1" dirty="0">
                <a:latin typeface="Times New Roman" panose="02020603050405020304" pitchFamily="18" charset="0"/>
                <a:cs typeface="Times New Roman" panose="02020603050405020304" pitchFamily="18" charset="0"/>
              </a:rPr>
              <a:t>：六个未见接收机平均准确率 </a:t>
            </a:r>
            <a:r>
              <a:rPr lang="en-US" altLang="zh-CN" b="1" dirty="0">
                <a:latin typeface="Times New Roman" panose="02020603050405020304" pitchFamily="18" charset="0"/>
                <a:cs typeface="Times New Roman" panose="02020603050405020304" pitchFamily="18" charset="0"/>
              </a:rPr>
              <a:t>81.40%</a:t>
            </a:r>
          </a:p>
        </p:txBody>
      </p:sp>
      <p:sp>
        <p:nvSpPr>
          <p:cNvPr id="7" name="文本框 24">
            <a:extLst>
              <a:ext uri="{FF2B5EF4-FFF2-40B4-BE49-F238E27FC236}">
                <a16:creationId xmlns:a16="http://schemas.microsoft.com/office/drawing/2014/main" id="{88271160-2369-489D-2F16-4070D43F1ED4}"/>
              </a:ext>
            </a:extLst>
          </p:cNvPr>
          <p:cNvSpPr>
            <a:spLocks noGrp="1"/>
          </p:cNvSpPr>
          <p:nvPr/>
        </p:nvSpPr>
        <p:spPr>
          <a:xfrm>
            <a:off x="6612981" y="5690160"/>
            <a:ext cx="3448409" cy="646331"/>
          </a:xfrm>
          <a:prstGeom prst="rect">
            <a:avLst/>
          </a:prstGeom>
          <a:noFill/>
        </p:spPr>
        <p:txBody>
          <a:bodyPr wrap="square">
            <a:spAutoFit/>
          </a:bodyPr>
          <a:lstStyle/>
          <a:p>
            <a:r>
              <a:rPr lang="zh-CN" altLang="zh-CN" b="1" dirty="0">
                <a:latin typeface="Times New Roman" panose="02020603050405020304" pitchFamily="18" charset="0"/>
                <a:cs typeface="Times New Roman" panose="02020603050405020304" pitchFamily="18" charset="0"/>
              </a:rPr>
              <a:t>仿真数据集</a:t>
            </a:r>
            <a:r>
              <a:rPr lang="zh-CN" altLang="en-US" b="1" dirty="0">
                <a:latin typeface="Times New Roman" panose="02020603050405020304" pitchFamily="18" charset="0"/>
                <a:cs typeface="Times New Roman" panose="02020603050405020304" pitchFamily="18" charset="0"/>
              </a:rPr>
              <a:t>：未见接收机平均准确率 </a:t>
            </a:r>
            <a:r>
              <a:rPr lang="en-US" altLang="zh-CN" b="1" dirty="0">
                <a:latin typeface="Times New Roman" panose="02020603050405020304" pitchFamily="18" charset="0"/>
                <a:cs typeface="Times New Roman" panose="02020603050405020304" pitchFamily="18" charset="0"/>
              </a:rPr>
              <a:t>79.39%</a:t>
            </a:r>
            <a:endParaRPr lang="zh-CN" altLang="en-US" b="1" dirty="0">
              <a:latin typeface="Times New Roman" panose="020206030504050203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C8D6C3AD-62CD-F63D-4FEF-84E4555F97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980" y="981571"/>
            <a:ext cx="10745366" cy="4421299"/>
          </a:xfrm>
          <a:prstGeom prst="rect">
            <a:avLst/>
          </a:prstGeom>
        </p:spPr>
      </p:pic>
    </p:spTree>
    <p:extLst>
      <p:ext uri="{BB962C8B-B14F-4D97-AF65-F5344CB8AC3E}">
        <p14:creationId xmlns:p14="http://schemas.microsoft.com/office/powerpoint/2010/main" val="2527985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1B853-F828-90DC-D4E6-218E58E6AC4B}"/>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CC44860B-59DC-57AD-21F5-1809530E4393}"/>
              </a:ext>
            </a:extLst>
          </p:cNvPr>
          <p:cNvSpPr>
            <a:spLocks noGrp="1"/>
          </p:cNvSpPr>
          <p:nvPr/>
        </p:nvSpPr>
        <p:spPr>
          <a:xfrm>
            <a:off x="54634" y="166134"/>
            <a:ext cx="3077565" cy="508923"/>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911F22"/>
          </a:solidFill>
          <a:ln w="38100">
            <a:solidFill>
              <a:srgbClr val="911F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16" name="矩形 15">
            <a:extLst>
              <a:ext uri="{FF2B5EF4-FFF2-40B4-BE49-F238E27FC236}">
                <a16:creationId xmlns:a16="http://schemas.microsoft.com/office/drawing/2014/main" id="{36156CD5-DF55-93BF-DE20-5374EEEA76E7}"/>
              </a:ext>
            </a:extLst>
          </p:cNvPr>
          <p:cNvSpPr>
            <a:spLocks noGrp="1"/>
          </p:cNvSpPr>
          <p:nvPr/>
        </p:nvSpPr>
        <p:spPr>
          <a:xfrm>
            <a:off x="1260978" y="472648"/>
            <a:ext cx="1513556" cy="461665"/>
          </a:xfrm>
          <a:prstGeom prst="rect">
            <a:avLst/>
          </a:prstGeom>
        </p:spPr>
        <p:txBody>
          <a:bodyPr wrap="none">
            <a:spAutoFit/>
          </a:bodyPr>
          <a:lstStyle/>
          <a:p>
            <a:endParaRPr/>
          </a:p>
        </p:txBody>
      </p:sp>
      <p:pic>
        <p:nvPicPr>
          <p:cNvPr id="35" name="图片 3">
            <a:extLst>
              <a:ext uri="{FF2B5EF4-FFF2-40B4-BE49-F238E27FC236}">
                <a16:creationId xmlns:a16="http://schemas.microsoft.com/office/drawing/2014/main" id="{BB6A14D6-B652-C510-B289-354389D818DA}"/>
              </a:ext>
            </a:extLst>
          </p:cNvPr>
          <p:cNvPicPr>
            <a:picLocks noChangeAspect="1"/>
          </p:cNvPicPr>
          <p:nvPr/>
        </p:nvPicPr>
        <p:blipFill>
          <a:blip r:embed="rId3"/>
          <a:stretch>
            <a:fillRect/>
          </a:stretch>
        </p:blipFill>
        <p:spPr>
          <a:xfrm>
            <a:off x="10800000" y="216000"/>
            <a:ext cx="1168402" cy="312900"/>
          </a:xfrm>
          <a:prstGeom prst="rect">
            <a:avLst/>
          </a:prstGeom>
        </p:spPr>
      </p:pic>
      <p:sp>
        <p:nvSpPr>
          <p:cNvPr id="15" name="灯片编号占位符 14">
            <a:extLst>
              <a:ext uri="{FF2B5EF4-FFF2-40B4-BE49-F238E27FC236}">
                <a16:creationId xmlns:a16="http://schemas.microsoft.com/office/drawing/2014/main" id="{BEB78345-F777-F92A-9DAB-B29312623C33}"/>
              </a:ext>
            </a:extLst>
          </p:cNvPr>
          <p:cNvSpPr>
            <a:spLocks noGrp="1"/>
          </p:cNvSpPr>
          <p:nvPr>
            <p:ph type="sldNum" idx="12"/>
          </p:nvPr>
        </p:nvSpPr>
        <p:spPr>
          <a:xfrm>
            <a:off x="11079346" y="6179244"/>
            <a:ext cx="471513" cy="365125"/>
          </a:xfrm>
        </p:spPr>
        <p:txBody>
          <a:bodyPr/>
          <a:lstStyle/>
          <a:p>
            <a:r>
              <a:rPr dirty="0"/>
              <a:t>13</a:t>
            </a:r>
          </a:p>
        </p:txBody>
      </p:sp>
      <p:sp>
        <p:nvSpPr>
          <p:cNvPr id="3" name="文本框 2">
            <a:extLst>
              <a:ext uri="{FF2B5EF4-FFF2-40B4-BE49-F238E27FC236}">
                <a16:creationId xmlns:a16="http://schemas.microsoft.com/office/drawing/2014/main" id="{AE7F481A-8820-B0A3-5023-41C7DB4D7549}"/>
              </a:ext>
            </a:extLst>
          </p:cNvPr>
          <p:cNvSpPr>
            <a:spLocks noGrp="1"/>
          </p:cNvSpPr>
          <p:nvPr/>
        </p:nvSpPr>
        <p:spPr>
          <a:xfrm>
            <a:off x="493233" y="224553"/>
            <a:ext cx="2203152" cy="400110"/>
          </a:xfrm>
          <a:prstGeom prst="rect">
            <a:avLst/>
          </a:prstGeom>
          <a:noFill/>
        </p:spPr>
        <p:txBody>
          <a:bodyPr wrap="square">
            <a:spAutoFit/>
          </a:bodyPr>
          <a:lstStyle/>
          <a:p>
            <a:r>
              <a:rPr lang="zh-CN" altLang="en-US" sz="2000" b="1" dirty="0">
                <a:solidFill>
                  <a:schemeClr val="bg1"/>
                </a:solidFill>
                <a:latin typeface="微软雅黑"/>
                <a:ea typeface="微软雅黑"/>
                <a:cs typeface="微软雅黑"/>
              </a:rPr>
              <a:t>实验结果与分析</a:t>
            </a:r>
          </a:p>
        </p:txBody>
      </p:sp>
      <p:sp>
        <p:nvSpPr>
          <p:cNvPr id="5" name="文本框 4">
            <a:extLst>
              <a:ext uri="{FF2B5EF4-FFF2-40B4-BE49-F238E27FC236}">
                <a16:creationId xmlns:a16="http://schemas.microsoft.com/office/drawing/2014/main" id="{DCBF335C-0C36-3B87-F749-2250CBCBB88A}"/>
              </a:ext>
            </a:extLst>
          </p:cNvPr>
          <p:cNvSpPr txBox="1"/>
          <p:nvPr/>
        </p:nvSpPr>
        <p:spPr>
          <a:xfrm>
            <a:off x="1767304" y="1053025"/>
            <a:ext cx="2014460" cy="369332"/>
          </a:xfrm>
          <a:prstGeom prst="rect">
            <a:avLst/>
          </a:prstGeom>
          <a:noFill/>
        </p:spPr>
        <p:txBody>
          <a:bodyPr wrap="square">
            <a:spAutoFit/>
          </a:bodyPr>
          <a:lstStyle/>
          <a:p>
            <a:r>
              <a:rPr lang="zh-CN" altLang="zh-CN" b="1" dirty="0">
                <a:latin typeface="Times New Roman" panose="02020603050405020304" pitchFamily="18" charset="0"/>
                <a:cs typeface="Times New Roman" panose="02020603050405020304" pitchFamily="18" charset="0"/>
              </a:rPr>
              <a:t>Reptile与GN</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消融</a:t>
            </a:r>
          </a:p>
        </p:txBody>
      </p:sp>
      <p:sp>
        <p:nvSpPr>
          <p:cNvPr id="6" name="文本框 5">
            <a:extLst>
              <a:ext uri="{FF2B5EF4-FFF2-40B4-BE49-F238E27FC236}">
                <a16:creationId xmlns:a16="http://schemas.microsoft.com/office/drawing/2014/main" id="{A31B35F2-E6EB-CCCE-FF21-C5B15D78151B}"/>
              </a:ext>
            </a:extLst>
          </p:cNvPr>
          <p:cNvSpPr txBox="1"/>
          <p:nvPr/>
        </p:nvSpPr>
        <p:spPr>
          <a:xfrm>
            <a:off x="7221318" y="1051606"/>
            <a:ext cx="2897706" cy="36933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Gate </a:t>
            </a:r>
            <a:r>
              <a:rPr lang="zh-CN" altLang="zh-CN" b="1" dirty="0">
                <a:latin typeface="Times New Roman" panose="02020603050405020304" pitchFamily="18" charset="0"/>
                <a:cs typeface="Times New Roman" panose="02020603050405020304" pitchFamily="18" charset="0"/>
              </a:rPr>
              <a:t>Reptile</a:t>
            </a:r>
            <a:r>
              <a:rPr lang="zh-CN" altLang="en-US" b="1" dirty="0">
                <a:latin typeface="Times New Roman" panose="02020603050405020304" pitchFamily="18" charset="0"/>
                <a:cs typeface="Times New Roman" panose="02020603050405020304" pitchFamily="18" charset="0"/>
              </a:rPr>
              <a:t>抑制后期退化</a:t>
            </a:r>
          </a:p>
        </p:txBody>
      </p:sp>
      <p:pic>
        <p:nvPicPr>
          <p:cNvPr id="12" name="图片 11">
            <a:extLst>
              <a:ext uri="{FF2B5EF4-FFF2-40B4-BE49-F238E27FC236}">
                <a16:creationId xmlns:a16="http://schemas.microsoft.com/office/drawing/2014/main" id="{D0351CC5-02CF-1737-A115-F5447E0487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634" y="1547341"/>
            <a:ext cx="5195330" cy="3364556"/>
          </a:xfrm>
          <a:prstGeom prst="rect">
            <a:avLst/>
          </a:prstGeom>
        </p:spPr>
      </p:pic>
      <p:pic>
        <p:nvPicPr>
          <p:cNvPr id="1026" name="图片 1">
            <a:extLst>
              <a:ext uri="{FF2B5EF4-FFF2-40B4-BE49-F238E27FC236}">
                <a16:creationId xmlns:a16="http://schemas.microsoft.com/office/drawing/2014/main" id="{8B32986F-B99F-9EA7-4B00-E44A1A6FAD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9964" y="1943644"/>
            <a:ext cx="6860478" cy="282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文本框 16">
            <a:extLst>
              <a:ext uri="{FF2B5EF4-FFF2-40B4-BE49-F238E27FC236}">
                <a16:creationId xmlns:a16="http://schemas.microsoft.com/office/drawing/2014/main" id="{3148DC3B-A983-14B4-C57A-474D5FE0ED79}"/>
              </a:ext>
            </a:extLst>
          </p:cNvPr>
          <p:cNvSpPr txBox="1"/>
          <p:nvPr/>
        </p:nvSpPr>
        <p:spPr>
          <a:xfrm>
            <a:off x="493233" y="5310659"/>
            <a:ext cx="3974608" cy="646331"/>
          </a:xfrm>
          <a:prstGeom prst="rect">
            <a:avLst/>
          </a:prstGeom>
          <a:noFill/>
        </p:spPr>
        <p:txBody>
          <a:bodyPr wrap="square">
            <a:spAutoFit/>
          </a:bodyPr>
          <a:lstStyle/>
          <a:p>
            <a:r>
              <a:rPr lang="zh-CN" altLang="zh-CN" dirty="0">
                <a:latin typeface="Times New Roman" panose="02020603050405020304" pitchFamily="18" charset="0"/>
                <a:cs typeface="Times New Roman" panose="02020603050405020304" pitchFamily="18" charset="0"/>
              </a:rPr>
              <a:t>Reptile+GN</a:t>
            </a:r>
            <a:r>
              <a:rPr lang="zh-CN" altLang="en-US" dirty="0">
                <a:latin typeface="Times New Roman" panose="02020603050405020304" pitchFamily="18" charset="0"/>
                <a:cs typeface="Times New Roman" panose="02020603050405020304" pitchFamily="18" charset="0"/>
              </a:rPr>
              <a:t>为</a:t>
            </a:r>
            <a:r>
              <a:rPr lang="zh-CN" altLang="zh-CN" dirty="0">
                <a:latin typeface="Times New Roman" panose="02020603050405020304" pitchFamily="18" charset="0"/>
                <a:cs typeface="Times New Roman" panose="02020603050405020304" pitchFamily="18" charset="0"/>
              </a:rPr>
              <a:t>最高准确率 </a:t>
            </a:r>
            <a:r>
              <a:rPr lang="zh-CN" altLang="zh-CN" b="1" dirty="0">
                <a:latin typeface="Times New Roman" panose="02020603050405020304" pitchFamily="18" charset="0"/>
                <a:cs typeface="Times New Roman" panose="02020603050405020304" pitchFamily="18" charset="0"/>
              </a:rPr>
              <a:t>75.32%</a:t>
            </a:r>
            <a:r>
              <a:rPr lang="zh-CN" altLang="zh-CN" dirty="0">
                <a:latin typeface="Times New Roman" panose="02020603050405020304" pitchFamily="18" charset="0"/>
                <a:cs typeface="Times New Roman" panose="02020603050405020304" pitchFamily="18" charset="0"/>
              </a:rPr>
              <a:t>，两种方法均有效，但</a:t>
            </a:r>
            <a:r>
              <a:rPr lang="zh-CN" altLang="en-US" dirty="0">
                <a:latin typeface="Times New Roman" panose="02020603050405020304" pitchFamily="18" charset="0"/>
                <a:cs typeface="Times New Roman" panose="02020603050405020304" pitchFamily="18" charset="0"/>
              </a:rPr>
              <a:t>性能提升存在重合</a:t>
            </a:r>
            <a:r>
              <a:rPr lang="zh-CN"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A26B6B69-868C-CF3D-062F-1FE27F8D707B}"/>
              </a:ext>
            </a:extLst>
          </p:cNvPr>
          <p:cNvSpPr txBox="1"/>
          <p:nvPr/>
        </p:nvSpPr>
        <p:spPr>
          <a:xfrm>
            <a:off x="6512957" y="5287206"/>
            <a:ext cx="4207246" cy="646331"/>
          </a:xfrm>
          <a:prstGeom prst="rect">
            <a:avLst/>
          </a:prstGeom>
          <a:noFill/>
        </p:spPr>
        <p:txBody>
          <a:bodyPr wrap="square">
            <a:spAutoFit/>
          </a:bodyPr>
          <a:lstStyle/>
          <a:p>
            <a:r>
              <a:rPr lang="zh-CN" altLang="zh-CN" dirty="0">
                <a:latin typeface="Times New Roman" panose="02020603050405020304" pitchFamily="18" charset="0"/>
                <a:cs typeface="Times New Roman" panose="02020603050405020304" pitchFamily="18" charset="0"/>
              </a:rPr>
              <a:t>Gate抑制</a:t>
            </a:r>
            <a:r>
              <a:rPr lang="zh-CN" altLang="en-US" dirty="0">
                <a:latin typeface="Times New Roman" panose="02020603050405020304" pitchFamily="18" charset="0"/>
                <a:cs typeface="Times New Roman" panose="02020603050405020304" pitchFamily="18" charset="0"/>
              </a:rPr>
              <a:t>了</a:t>
            </a:r>
            <a:r>
              <a:rPr lang="en-US" altLang="zh-CN" dirty="0">
                <a:latin typeface="Times New Roman" panose="02020603050405020304" pitchFamily="18" charset="0"/>
                <a:cs typeface="Times New Roman" panose="02020603050405020304" pitchFamily="18" charset="0"/>
              </a:rPr>
              <a:t>reptile</a:t>
            </a:r>
            <a:r>
              <a:rPr lang="zh-CN" altLang="en-US" dirty="0">
                <a:latin typeface="Times New Roman" panose="02020603050405020304" pitchFamily="18" charset="0"/>
                <a:cs typeface="Times New Roman" panose="02020603050405020304" pitchFamily="18" charset="0"/>
              </a:rPr>
              <a:t>后期对参数的敏感性</a:t>
            </a:r>
            <a:r>
              <a:rPr lang="zh-CN" altLang="zh-CN" dirty="0">
                <a:latin typeface="Times New Roman" panose="02020603050405020304" pitchFamily="18" charset="0"/>
                <a:cs typeface="Times New Roman" panose="02020603050405020304" pitchFamily="18" charset="0"/>
              </a:rPr>
              <a:t>，减少训练后期的</a:t>
            </a:r>
            <a:r>
              <a:rPr lang="zh-CN" altLang="en-US" dirty="0">
                <a:latin typeface="Times New Roman" panose="02020603050405020304" pitchFamily="18" charset="0"/>
                <a:cs typeface="Times New Roman" panose="02020603050405020304" pitchFamily="18" charset="0"/>
              </a:rPr>
              <a:t>在过拟合上的</a:t>
            </a:r>
            <a:r>
              <a:rPr lang="zh-CN" altLang="zh-CN" dirty="0">
                <a:latin typeface="Times New Roman" panose="02020603050405020304" pitchFamily="18" charset="0"/>
                <a:cs typeface="Times New Roman" panose="02020603050405020304" pitchFamily="18" charset="0"/>
              </a:rPr>
              <a:t>性能退化。</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951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EBCA7-105D-1138-23E8-692F0D1888BF}"/>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4E21F1EC-B135-D66C-C1E1-413C42AE04C4}"/>
              </a:ext>
            </a:extLst>
          </p:cNvPr>
          <p:cNvSpPr>
            <a:spLocks noGrp="1"/>
          </p:cNvSpPr>
          <p:nvPr/>
        </p:nvSpPr>
        <p:spPr>
          <a:xfrm>
            <a:off x="54634" y="166134"/>
            <a:ext cx="3077565" cy="508923"/>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911F22"/>
          </a:solidFill>
          <a:ln w="38100">
            <a:solidFill>
              <a:srgbClr val="911F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16" name="矩形 15">
            <a:extLst>
              <a:ext uri="{FF2B5EF4-FFF2-40B4-BE49-F238E27FC236}">
                <a16:creationId xmlns:a16="http://schemas.microsoft.com/office/drawing/2014/main" id="{9BAA816F-7298-FD71-706D-C98362B57C07}"/>
              </a:ext>
            </a:extLst>
          </p:cNvPr>
          <p:cNvSpPr>
            <a:spLocks noGrp="1"/>
          </p:cNvSpPr>
          <p:nvPr/>
        </p:nvSpPr>
        <p:spPr>
          <a:xfrm>
            <a:off x="1260978" y="472648"/>
            <a:ext cx="1513556" cy="461665"/>
          </a:xfrm>
          <a:prstGeom prst="rect">
            <a:avLst/>
          </a:prstGeom>
        </p:spPr>
        <p:txBody>
          <a:bodyPr wrap="none">
            <a:spAutoFit/>
          </a:bodyPr>
          <a:lstStyle/>
          <a:p>
            <a:endParaRPr/>
          </a:p>
        </p:txBody>
      </p:sp>
      <p:pic>
        <p:nvPicPr>
          <p:cNvPr id="35" name="图片 3">
            <a:extLst>
              <a:ext uri="{FF2B5EF4-FFF2-40B4-BE49-F238E27FC236}">
                <a16:creationId xmlns:a16="http://schemas.microsoft.com/office/drawing/2014/main" id="{0CB0F602-C6DA-57F0-0B76-6C75B37C8EC0}"/>
              </a:ext>
            </a:extLst>
          </p:cNvPr>
          <p:cNvPicPr>
            <a:picLocks noChangeAspect="1"/>
          </p:cNvPicPr>
          <p:nvPr/>
        </p:nvPicPr>
        <p:blipFill>
          <a:blip r:embed="rId3"/>
          <a:stretch>
            <a:fillRect/>
          </a:stretch>
        </p:blipFill>
        <p:spPr>
          <a:xfrm>
            <a:off x="10800000" y="216000"/>
            <a:ext cx="1168402" cy="312900"/>
          </a:xfrm>
          <a:prstGeom prst="rect">
            <a:avLst/>
          </a:prstGeom>
        </p:spPr>
      </p:pic>
      <p:sp>
        <p:nvSpPr>
          <p:cNvPr id="15" name="灯片编号占位符 14">
            <a:extLst>
              <a:ext uri="{FF2B5EF4-FFF2-40B4-BE49-F238E27FC236}">
                <a16:creationId xmlns:a16="http://schemas.microsoft.com/office/drawing/2014/main" id="{2F9200BF-1E71-CD00-75B1-CFE406B3F3E2}"/>
              </a:ext>
            </a:extLst>
          </p:cNvPr>
          <p:cNvSpPr>
            <a:spLocks noGrp="1"/>
          </p:cNvSpPr>
          <p:nvPr>
            <p:ph type="sldNum" idx="12"/>
          </p:nvPr>
        </p:nvSpPr>
        <p:spPr>
          <a:xfrm>
            <a:off x="11079346" y="6179244"/>
            <a:ext cx="471513" cy="365125"/>
          </a:xfrm>
        </p:spPr>
        <p:txBody>
          <a:bodyPr/>
          <a:lstStyle/>
          <a:p>
            <a:r>
              <a:rPr dirty="0"/>
              <a:t>13</a:t>
            </a:r>
          </a:p>
        </p:txBody>
      </p:sp>
      <p:sp>
        <p:nvSpPr>
          <p:cNvPr id="3" name="文本框 2">
            <a:extLst>
              <a:ext uri="{FF2B5EF4-FFF2-40B4-BE49-F238E27FC236}">
                <a16:creationId xmlns:a16="http://schemas.microsoft.com/office/drawing/2014/main" id="{7C591E0C-B47F-CF35-F8ED-BE9A77BEC400}"/>
              </a:ext>
            </a:extLst>
          </p:cNvPr>
          <p:cNvSpPr>
            <a:spLocks noGrp="1"/>
          </p:cNvSpPr>
          <p:nvPr/>
        </p:nvSpPr>
        <p:spPr>
          <a:xfrm>
            <a:off x="493233" y="224553"/>
            <a:ext cx="2203152" cy="400110"/>
          </a:xfrm>
          <a:prstGeom prst="rect">
            <a:avLst/>
          </a:prstGeom>
          <a:noFill/>
        </p:spPr>
        <p:txBody>
          <a:bodyPr wrap="square">
            <a:spAutoFit/>
          </a:bodyPr>
          <a:lstStyle/>
          <a:p>
            <a:r>
              <a:rPr lang="zh-CN" altLang="en-US" sz="2000" b="1" dirty="0">
                <a:solidFill>
                  <a:schemeClr val="bg1"/>
                </a:solidFill>
                <a:latin typeface="微软雅黑"/>
                <a:ea typeface="微软雅黑"/>
                <a:cs typeface="微软雅黑"/>
              </a:rPr>
              <a:t>实验结果与分析</a:t>
            </a:r>
          </a:p>
        </p:txBody>
      </p:sp>
      <p:sp>
        <p:nvSpPr>
          <p:cNvPr id="4" name="文本框 3">
            <a:extLst>
              <a:ext uri="{FF2B5EF4-FFF2-40B4-BE49-F238E27FC236}">
                <a16:creationId xmlns:a16="http://schemas.microsoft.com/office/drawing/2014/main" id="{CFC8221C-3BDF-F3CD-F66D-4C401FB46880}"/>
              </a:ext>
            </a:extLst>
          </p:cNvPr>
          <p:cNvSpPr txBox="1"/>
          <p:nvPr/>
        </p:nvSpPr>
        <p:spPr>
          <a:xfrm>
            <a:off x="7766630" y="1274035"/>
            <a:ext cx="1453148" cy="369332"/>
          </a:xfrm>
          <a:prstGeom prst="rect">
            <a:avLst/>
          </a:prstGeom>
          <a:noFill/>
        </p:spPr>
        <p:txBody>
          <a:bodyPr wrap="square">
            <a:spAutoFit/>
          </a:bodyPr>
          <a:lstStyle/>
          <a:p>
            <a:r>
              <a:rPr lang="zh-CN" altLang="en-US" b="1" dirty="0">
                <a:latin typeface="Times New Roman" panose="02020603050405020304" pitchFamily="18" charset="0"/>
                <a:cs typeface="Times New Roman" panose="02020603050405020304" pitchFamily="18" charset="0"/>
              </a:rPr>
              <a:t>复杂度对比</a:t>
            </a:r>
          </a:p>
        </p:txBody>
      </p:sp>
      <p:pic>
        <p:nvPicPr>
          <p:cNvPr id="2050" name="图片 1">
            <a:extLst>
              <a:ext uri="{FF2B5EF4-FFF2-40B4-BE49-F238E27FC236}">
                <a16:creationId xmlns:a16="http://schemas.microsoft.com/office/drawing/2014/main" id="{4851A7F9-C7C7-CCFC-ED81-763ABB055F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620" y="1678289"/>
            <a:ext cx="5328428" cy="3363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B5D45F7B-0657-95F9-AA4E-ED9F9C91E25C}"/>
              </a:ext>
            </a:extLst>
          </p:cNvPr>
          <p:cNvSpPr txBox="1"/>
          <p:nvPr/>
        </p:nvSpPr>
        <p:spPr>
          <a:xfrm>
            <a:off x="653492" y="5368908"/>
            <a:ext cx="4390585" cy="646331"/>
          </a:xfrm>
          <a:prstGeom prst="rect">
            <a:avLst/>
          </a:prstGeom>
          <a:noFill/>
        </p:spPr>
        <p:txBody>
          <a:bodyPr wrap="square">
            <a:spAutoFit/>
          </a:bodyPr>
          <a:lstStyle/>
          <a:p>
            <a:r>
              <a:rPr lang="zh-CN" altLang="zh-CN" dirty="0"/>
              <a:t>掩码</a:t>
            </a:r>
            <a:r>
              <a:rPr lang="zh-CN" altLang="en-US" dirty="0"/>
              <a:t>比例需要取得</a:t>
            </a:r>
            <a:r>
              <a:rPr lang="zh-CN" altLang="zh-CN" dirty="0"/>
              <a:t>接收机相关特征和保留发射机指纹之间</a:t>
            </a:r>
            <a:r>
              <a:rPr lang="zh-CN" altLang="en-US" dirty="0"/>
              <a:t>的</a:t>
            </a:r>
            <a:r>
              <a:rPr lang="zh-CN" altLang="zh-CN" dirty="0"/>
              <a:t>平衡。</a:t>
            </a:r>
            <a:endParaRPr lang="zh-CN" altLang="en-US" dirty="0"/>
          </a:p>
        </p:txBody>
      </p:sp>
      <p:sp>
        <p:nvSpPr>
          <p:cNvPr id="10" name="文本框 9">
            <a:extLst>
              <a:ext uri="{FF2B5EF4-FFF2-40B4-BE49-F238E27FC236}">
                <a16:creationId xmlns:a16="http://schemas.microsoft.com/office/drawing/2014/main" id="{20AB9DF0-4BA5-8FB4-39BD-C83422DDFEF5}"/>
              </a:ext>
            </a:extLst>
          </p:cNvPr>
          <p:cNvSpPr txBox="1"/>
          <p:nvPr/>
        </p:nvSpPr>
        <p:spPr>
          <a:xfrm>
            <a:off x="1841555" y="1274035"/>
            <a:ext cx="2014460" cy="369332"/>
          </a:xfrm>
          <a:prstGeom prst="rect">
            <a:avLst/>
          </a:prstGeom>
          <a:noFill/>
        </p:spPr>
        <p:txBody>
          <a:bodyPr wrap="square">
            <a:spAutoFit/>
          </a:bodyPr>
          <a:lstStyle/>
          <a:p>
            <a:r>
              <a:rPr lang="zh-CN" altLang="en-US" b="1" dirty="0">
                <a:latin typeface="Times New Roman" panose="02020603050405020304" pitchFamily="18" charset="0"/>
                <a:cs typeface="Times New Roman" panose="02020603050405020304" pitchFamily="18" charset="0"/>
              </a:rPr>
              <a:t>掩码比例对比</a:t>
            </a:r>
          </a:p>
        </p:txBody>
      </p:sp>
      <p:graphicFrame>
        <p:nvGraphicFramePr>
          <p:cNvPr id="12" name="表格 11">
            <a:extLst>
              <a:ext uri="{FF2B5EF4-FFF2-40B4-BE49-F238E27FC236}">
                <a16:creationId xmlns:a16="http://schemas.microsoft.com/office/drawing/2014/main" id="{FE913D06-4339-70B2-075E-A2DE2882BFF0}"/>
              </a:ext>
            </a:extLst>
          </p:cNvPr>
          <p:cNvGraphicFramePr>
            <a:graphicFrameLocks noGrp="1"/>
          </p:cNvGraphicFramePr>
          <p:nvPr>
            <p:extLst>
              <p:ext uri="{D42A27DB-BD31-4B8C-83A1-F6EECF244321}">
                <p14:modId xmlns:p14="http://schemas.microsoft.com/office/powerpoint/2010/main" val="1056031781"/>
              </p:ext>
            </p:extLst>
          </p:nvPr>
        </p:nvGraphicFramePr>
        <p:xfrm>
          <a:off x="5787995" y="2238008"/>
          <a:ext cx="6319385" cy="1934890"/>
        </p:xfrm>
        <a:graphic>
          <a:graphicData uri="http://schemas.openxmlformats.org/drawingml/2006/table">
            <a:tbl>
              <a:tblPr firstRow="1" firstCol="1" bandRow="1">
                <a:tableStyleId>{F5AB1C69-6EDB-4FF4-983F-18BD219EF322}</a:tableStyleId>
              </a:tblPr>
              <a:tblGrid>
                <a:gridCol w="1253330">
                  <a:extLst>
                    <a:ext uri="{9D8B030D-6E8A-4147-A177-3AD203B41FA5}">
                      <a16:colId xmlns:a16="http://schemas.microsoft.com/office/drawing/2014/main" val="681678405"/>
                    </a:ext>
                  </a:extLst>
                </a:gridCol>
                <a:gridCol w="2707836">
                  <a:extLst>
                    <a:ext uri="{9D8B030D-6E8A-4147-A177-3AD203B41FA5}">
                      <a16:colId xmlns:a16="http://schemas.microsoft.com/office/drawing/2014/main" val="3452753981"/>
                    </a:ext>
                  </a:extLst>
                </a:gridCol>
                <a:gridCol w="2358219">
                  <a:extLst>
                    <a:ext uri="{9D8B030D-6E8A-4147-A177-3AD203B41FA5}">
                      <a16:colId xmlns:a16="http://schemas.microsoft.com/office/drawing/2014/main" val="3175937980"/>
                    </a:ext>
                  </a:extLst>
                </a:gridCol>
              </a:tblGrid>
              <a:tr h="500182">
                <a:tc>
                  <a:txBody>
                    <a:bodyPr/>
                    <a:lstStyle/>
                    <a:p>
                      <a:pPr marL="0" indent="0" algn="ctr">
                        <a:lnSpc>
                          <a:spcPct val="100000"/>
                        </a:lnSpc>
                        <a:buNone/>
                        <a:tabLst>
                          <a:tab pos="2768600" algn="ctr"/>
                          <a:tab pos="5537200" algn="r"/>
                        </a:tabLst>
                      </a:pPr>
                      <a:r>
                        <a:rPr lang="zh-CN" sz="1800" kern="100" dirty="0">
                          <a:effectLst/>
                        </a:rPr>
                        <a:t>方案</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solidFill>
                      <a:schemeClr val="accent3">
                        <a:lumMod val="75000"/>
                      </a:schemeClr>
                    </a:solidFill>
                  </a:tcPr>
                </a:tc>
                <a:tc>
                  <a:txBody>
                    <a:bodyPr/>
                    <a:lstStyle/>
                    <a:p>
                      <a:pPr marL="0" indent="0" algn="ctr">
                        <a:lnSpc>
                          <a:spcPct val="100000"/>
                        </a:lnSpc>
                        <a:buNone/>
                        <a:tabLst>
                          <a:tab pos="2768600" algn="ctr"/>
                          <a:tab pos="5537200" algn="r"/>
                        </a:tabLst>
                      </a:pPr>
                      <a:r>
                        <a:rPr lang="zh-CN" sz="1800" kern="100" dirty="0">
                          <a:effectLst/>
                        </a:rPr>
                        <a:t>参数量</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solidFill>
                      <a:schemeClr val="accent3">
                        <a:lumMod val="75000"/>
                      </a:schemeClr>
                    </a:solidFill>
                  </a:tcPr>
                </a:tc>
                <a:tc>
                  <a:txBody>
                    <a:bodyPr/>
                    <a:lstStyle/>
                    <a:p>
                      <a:pPr marL="0" indent="0" algn="ctr">
                        <a:lnSpc>
                          <a:spcPct val="100000"/>
                        </a:lnSpc>
                        <a:buNone/>
                        <a:tabLst>
                          <a:tab pos="2768600" algn="ctr"/>
                          <a:tab pos="5537200" algn="r"/>
                        </a:tabLst>
                      </a:pPr>
                      <a:r>
                        <a:rPr lang="en-US" sz="1800" kern="100" dirty="0">
                          <a:effectLst/>
                        </a:rPr>
                        <a:t>FLOPs</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solidFill>
                      <a:schemeClr val="accent3">
                        <a:lumMod val="75000"/>
                      </a:schemeClr>
                    </a:solidFill>
                  </a:tcPr>
                </a:tc>
                <a:extLst>
                  <a:ext uri="{0D108BD9-81ED-4DB2-BD59-A6C34878D82A}">
                    <a16:rowId xmlns:a16="http://schemas.microsoft.com/office/drawing/2014/main" val="550688243"/>
                  </a:ext>
                </a:extLst>
              </a:tr>
              <a:tr h="734174">
                <a:tc>
                  <a:txBody>
                    <a:bodyPr/>
                    <a:lstStyle/>
                    <a:p>
                      <a:pPr marL="0" indent="0" algn="ctr">
                        <a:lnSpc>
                          <a:spcPct val="100000"/>
                        </a:lnSpc>
                        <a:buNone/>
                        <a:tabLst>
                          <a:tab pos="2768600" algn="ctr"/>
                          <a:tab pos="5537200" algn="r"/>
                        </a:tabLst>
                      </a:pPr>
                      <a:r>
                        <a:rPr lang="en-US" sz="1800" kern="100" dirty="0">
                          <a:effectLst/>
                        </a:rPr>
                        <a:t>MASK</a:t>
                      </a:r>
                      <a:endParaRPr lang="zh-CN" sz="1400" kern="100" dirty="0">
                        <a:effectLst/>
                        <a:latin typeface="Times New Roman" panose="02020603050405020304" pitchFamily="18" charset="0"/>
                        <a:ea typeface="宋体" panose="02010600030101010101" pitchFamily="2" charset="-122"/>
                      </a:endParaRPr>
                    </a:p>
                  </a:txBody>
                  <a:tcPr marL="68580" marR="68580" marT="0" marB="0">
                    <a:solidFill>
                      <a:schemeClr val="accent3">
                        <a:lumMod val="75000"/>
                      </a:schemeClr>
                    </a:solidFill>
                  </a:tcPr>
                </a:tc>
                <a:tc>
                  <a:txBody>
                    <a:bodyPr/>
                    <a:lstStyle/>
                    <a:p>
                      <a:pPr marL="0" indent="0" algn="ctr">
                        <a:lnSpc>
                          <a:spcPct val="100000"/>
                        </a:lnSpc>
                        <a:buNone/>
                        <a:tabLst>
                          <a:tab pos="2768600" algn="ctr"/>
                          <a:tab pos="5537200" algn="r"/>
                        </a:tabLst>
                      </a:pPr>
                      <a:r>
                        <a:rPr lang="en-US" sz="1800" kern="100" dirty="0">
                          <a:effectLst/>
                        </a:rPr>
                        <a:t>7.35M</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marL="0" indent="0" algn="ctr">
                        <a:lnSpc>
                          <a:spcPct val="100000"/>
                        </a:lnSpc>
                        <a:buNone/>
                        <a:tabLst>
                          <a:tab pos="2768600" algn="ctr"/>
                          <a:tab pos="5537200" algn="r"/>
                        </a:tabLst>
                      </a:pPr>
                      <a:r>
                        <a:rPr lang="en-US" sz="1800" kern="100" dirty="0">
                          <a:effectLst/>
                        </a:rPr>
                        <a:t>119.81M</a:t>
                      </a:r>
                      <a:endParaRPr lang="zh-CN" sz="14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778585517"/>
                  </a:ext>
                </a:extLst>
              </a:tr>
              <a:tr h="700534">
                <a:tc>
                  <a:txBody>
                    <a:bodyPr/>
                    <a:lstStyle/>
                    <a:p>
                      <a:pPr marL="0" indent="0" algn="ctr">
                        <a:lnSpc>
                          <a:spcPct val="100000"/>
                        </a:lnSpc>
                        <a:buNone/>
                        <a:tabLst>
                          <a:tab pos="2768600" algn="ctr"/>
                          <a:tab pos="5537200" algn="r"/>
                        </a:tabLst>
                      </a:pPr>
                      <a:r>
                        <a:rPr lang="zh-CN" sz="1800" kern="100" dirty="0">
                          <a:effectLst/>
                        </a:rPr>
                        <a:t>所提方案</a:t>
                      </a:r>
                      <a:endParaRPr lang="zh-CN" sz="1400" kern="100" dirty="0">
                        <a:effectLst/>
                        <a:latin typeface="Times New Roman" panose="02020603050405020304" pitchFamily="18" charset="0"/>
                        <a:ea typeface="宋体" panose="02010600030101010101" pitchFamily="2" charset="-122"/>
                      </a:endParaRPr>
                    </a:p>
                  </a:txBody>
                  <a:tcPr marL="68580" marR="68580" marT="0" marB="0">
                    <a:solidFill>
                      <a:schemeClr val="accent3">
                        <a:lumMod val="75000"/>
                      </a:schemeClr>
                    </a:solidFill>
                  </a:tcPr>
                </a:tc>
                <a:tc>
                  <a:txBody>
                    <a:bodyPr/>
                    <a:lstStyle/>
                    <a:p>
                      <a:pPr marL="0" indent="0" algn="ctr">
                        <a:lnSpc>
                          <a:spcPct val="100000"/>
                        </a:lnSpc>
                        <a:buNone/>
                        <a:tabLst>
                          <a:tab pos="2768600" algn="ctr"/>
                          <a:tab pos="5537200" algn="r"/>
                        </a:tabLst>
                      </a:pPr>
                      <a:r>
                        <a:rPr lang="en-US" sz="1800" kern="100" dirty="0">
                          <a:effectLst/>
                        </a:rPr>
                        <a:t>0.08M</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marL="0" indent="0" algn="ctr">
                        <a:lnSpc>
                          <a:spcPct val="100000"/>
                        </a:lnSpc>
                        <a:buNone/>
                        <a:tabLst>
                          <a:tab pos="2768600" algn="ctr"/>
                          <a:tab pos="5537200" algn="r"/>
                        </a:tabLst>
                      </a:pPr>
                      <a:r>
                        <a:rPr lang="en-US" sz="1800" kern="100" dirty="0">
                          <a:effectLst/>
                        </a:rPr>
                        <a:t>39.49M</a:t>
                      </a:r>
                      <a:endParaRPr lang="zh-CN" sz="14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806234951"/>
                  </a:ext>
                </a:extLst>
              </a:tr>
            </a:tbl>
          </a:graphicData>
        </a:graphic>
      </p:graphicFrame>
      <p:sp>
        <p:nvSpPr>
          <p:cNvPr id="14" name="文本框 13">
            <a:extLst>
              <a:ext uri="{FF2B5EF4-FFF2-40B4-BE49-F238E27FC236}">
                <a16:creationId xmlns:a16="http://schemas.microsoft.com/office/drawing/2014/main" id="{407192C5-22B7-67CC-A17E-12D8E9158208}"/>
              </a:ext>
            </a:extLst>
          </p:cNvPr>
          <p:cNvSpPr txBox="1"/>
          <p:nvPr/>
        </p:nvSpPr>
        <p:spPr>
          <a:xfrm>
            <a:off x="5911284" y="4907243"/>
            <a:ext cx="6095158" cy="923330"/>
          </a:xfrm>
          <a:prstGeom prst="rect">
            <a:avLst/>
          </a:prstGeom>
          <a:noFill/>
        </p:spPr>
        <p:txBody>
          <a:bodyPr wrap="square">
            <a:spAutoFit/>
          </a:bodyPr>
          <a:lstStyle/>
          <a:p>
            <a:r>
              <a:rPr lang="zh-CN" altLang="zh-CN" dirty="0">
                <a:latin typeface="Times New Roman" panose="02020603050405020304" pitchFamily="18" charset="0"/>
                <a:cs typeface="Times New Roman" panose="02020603050405020304" pitchFamily="18" charset="0"/>
              </a:rPr>
              <a:t>所提方案的参数量</a:t>
            </a:r>
            <a:r>
              <a:rPr lang="zh-CN" altLang="en-US" dirty="0">
                <a:latin typeface="Times New Roman" panose="02020603050405020304" pitchFamily="18" charset="0"/>
                <a:cs typeface="Times New Roman" panose="02020603050405020304" pitchFamily="18" charset="0"/>
              </a:rPr>
              <a:t>和计算量均低于对比方案，</a:t>
            </a:r>
            <a:r>
              <a:rPr lang="zh-CN" altLang="zh-CN" dirty="0">
                <a:latin typeface="Times New Roman" panose="02020603050405020304" pitchFamily="18" charset="0"/>
                <a:cs typeface="Times New Roman" panose="02020603050405020304" pitchFamily="18" charset="0"/>
              </a:rPr>
              <a:t>Gate-Reptile和输入梯度掩码仅增加训练阶段的计算</a:t>
            </a:r>
            <a:r>
              <a:rPr lang="zh-CN" altLang="en-US"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不增加额外网络参数和推理</a:t>
            </a:r>
            <a:r>
              <a:rPr lang="zh-CN" altLang="en-US" dirty="0">
                <a:latin typeface="Times New Roman" panose="02020603050405020304" pitchFamily="18" charset="0"/>
                <a:cs typeface="Times New Roman" panose="02020603050405020304" pitchFamily="18" charset="0"/>
              </a:rPr>
              <a:t>复杂度</a:t>
            </a:r>
            <a:r>
              <a:rPr lang="zh-CN"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7904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A7ECA-FDAF-61B4-F25B-F1E4414DFC0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13CB6AB-C294-9D81-C8D0-73D9F637F846}"/>
              </a:ext>
            </a:extLst>
          </p:cNvPr>
          <p:cNvSpPr>
            <a:spLocks noGrp="1"/>
          </p:cNvSpPr>
          <p:nvPr/>
        </p:nvSpPr>
        <p:spPr>
          <a:xfrm>
            <a:off x="-22934" y="0"/>
            <a:ext cx="4680659" cy="6858000"/>
          </a:xfrm>
          <a:prstGeom prst="rect">
            <a:avLst/>
          </a:prstGeom>
          <a:solidFill>
            <a:srgbClr val="911F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文本框 6">
            <a:extLst>
              <a:ext uri="{FF2B5EF4-FFF2-40B4-BE49-F238E27FC236}">
                <a16:creationId xmlns:a16="http://schemas.microsoft.com/office/drawing/2014/main" id="{87F9F041-FD1F-9096-FF71-9A0B13E94A8E}"/>
              </a:ext>
            </a:extLst>
          </p:cNvPr>
          <p:cNvSpPr>
            <a:spLocks noGrp="1"/>
          </p:cNvSpPr>
          <p:nvPr/>
        </p:nvSpPr>
        <p:spPr>
          <a:xfrm>
            <a:off x="6290327" y="720843"/>
            <a:ext cx="3062023" cy="646331"/>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600" b="1">
                <a:solidFill>
                  <a:srgbClr val="911F22"/>
                </a:solidFill>
                <a:latin typeface="字魂105号-简雅黑"/>
                <a:ea typeface="字魂105号-简雅黑"/>
                <a:cs typeface="字魂105号-简雅黑"/>
              </a:rPr>
              <a:t>CONTENTS</a:t>
            </a:r>
          </a:p>
        </p:txBody>
      </p:sp>
      <p:sp>
        <p:nvSpPr>
          <p:cNvPr id="8" name="文本框 7">
            <a:extLst>
              <a:ext uri="{FF2B5EF4-FFF2-40B4-BE49-F238E27FC236}">
                <a16:creationId xmlns:a16="http://schemas.microsoft.com/office/drawing/2014/main" id="{A201A124-120C-8931-6D70-F005E4280302}"/>
              </a:ext>
            </a:extLst>
          </p:cNvPr>
          <p:cNvSpPr>
            <a:spLocks noGrp="1"/>
          </p:cNvSpPr>
          <p:nvPr/>
        </p:nvSpPr>
        <p:spPr>
          <a:xfrm>
            <a:off x="6290327" y="1763603"/>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a:ln>
                  <a:noFill/>
                </a:ln>
                <a:solidFill>
                  <a:srgbClr val="911F22"/>
                </a:solidFill>
                <a:latin typeface="字魂105号-简雅黑"/>
                <a:ea typeface="字魂105号-简雅黑"/>
                <a:cs typeface="字魂105号-简雅黑"/>
              </a:rPr>
              <a:t>01</a:t>
            </a:r>
          </a:p>
        </p:txBody>
      </p:sp>
      <p:sp>
        <p:nvSpPr>
          <p:cNvPr id="9" name="矩形 8">
            <a:extLst>
              <a:ext uri="{FF2B5EF4-FFF2-40B4-BE49-F238E27FC236}">
                <a16:creationId xmlns:a16="http://schemas.microsoft.com/office/drawing/2014/main" id="{ECE9A3C3-7E91-0631-6376-0723935789BE}"/>
              </a:ext>
            </a:extLst>
          </p:cNvPr>
          <p:cNvSpPr>
            <a:spLocks noGrp="1"/>
          </p:cNvSpPr>
          <p:nvPr/>
        </p:nvSpPr>
        <p:spPr>
          <a:xfrm>
            <a:off x="7148631" y="1813592"/>
            <a:ext cx="2710146" cy="461665"/>
          </a:xfrm>
          <a:prstGeom prst="rect">
            <a:avLst/>
          </a:prstGeom>
        </p:spPr>
        <p:txBody>
          <a:bodyPr wrap="square">
            <a:spAutoFit/>
          </a:bodyPr>
          <a:lstStyle/>
          <a:p>
            <a:r>
              <a:rPr lang="zh-CN" altLang="en-US" sz="2400" b="1" dirty="0">
                <a:solidFill>
                  <a:schemeClr val="bg1">
                    <a:lumMod val="65000"/>
                  </a:schemeClr>
                </a:solidFill>
                <a:latin typeface="微软雅黑"/>
                <a:ea typeface="微软雅黑"/>
                <a:cs typeface="微软雅黑"/>
              </a:rPr>
              <a:t>选题背景与意义</a:t>
            </a:r>
          </a:p>
        </p:txBody>
      </p:sp>
      <p:sp>
        <p:nvSpPr>
          <p:cNvPr id="18" name="直接连接符 17">
            <a:extLst>
              <a:ext uri="{FF2B5EF4-FFF2-40B4-BE49-F238E27FC236}">
                <a16:creationId xmlns:a16="http://schemas.microsoft.com/office/drawing/2014/main" id="{76104508-8A55-1F33-1216-EC9FCBCCA1E2}"/>
              </a:ext>
            </a:extLst>
          </p:cNvPr>
          <p:cNvSpPr>
            <a:spLocks noGrp="1"/>
          </p:cNvSpPr>
          <p:nvPr/>
        </p:nvSpPr>
        <p:spPr>
          <a:xfrm>
            <a:off x="7148631" y="1846425"/>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956554E8-D69D-1B13-F387-13C89D6ED1C4}"/>
              </a:ext>
            </a:extLst>
          </p:cNvPr>
          <p:cNvSpPr>
            <a:spLocks noGrp="1"/>
          </p:cNvSpPr>
          <p:nvPr/>
        </p:nvSpPr>
        <p:spPr>
          <a:xfrm>
            <a:off x="6290327" y="3273320"/>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a:t>
            </a:r>
            <a:r>
              <a:rPr lang="en-US" sz="3200" b="1" i="0" u="none" cap="none" dirty="0">
                <a:ln>
                  <a:noFill/>
                </a:ln>
                <a:solidFill>
                  <a:srgbClr val="911F22"/>
                </a:solidFill>
                <a:latin typeface="字魂105号-简雅黑"/>
                <a:ea typeface="字魂105号-简雅黑"/>
                <a:cs typeface="字魂105号-简雅黑"/>
              </a:rPr>
              <a:t>3</a:t>
            </a:r>
            <a:endParaRPr sz="3200" b="1" i="0" u="none" cap="none" dirty="0">
              <a:ln>
                <a:noFill/>
              </a:ln>
              <a:solidFill>
                <a:srgbClr val="911F22"/>
              </a:solidFill>
              <a:latin typeface="字魂105号-简雅黑"/>
              <a:ea typeface="字魂105号-简雅黑"/>
              <a:cs typeface="字魂105号-简雅黑"/>
            </a:endParaRPr>
          </a:p>
        </p:txBody>
      </p:sp>
      <p:sp>
        <p:nvSpPr>
          <p:cNvPr id="25" name="矩形 24">
            <a:extLst>
              <a:ext uri="{FF2B5EF4-FFF2-40B4-BE49-F238E27FC236}">
                <a16:creationId xmlns:a16="http://schemas.microsoft.com/office/drawing/2014/main" id="{C37023BC-1E9E-8772-AC4E-D812EAFAC1DE}"/>
              </a:ext>
            </a:extLst>
          </p:cNvPr>
          <p:cNvSpPr>
            <a:spLocks noGrp="1"/>
          </p:cNvSpPr>
          <p:nvPr/>
        </p:nvSpPr>
        <p:spPr>
          <a:xfrm>
            <a:off x="7148631" y="3315460"/>
            <a:ext cx="3877985" cy="461665"/>
          </a:xfrm>
          <a:prstGeom prst="rect">
            <a:avLst/>
          </a:prstGeom>
        </p:spPr>
        <p:txBody>
          <a:bodyPr wrap="none">
            <a:spAutoFit/>
          </a:bodyPr>
          <a:lstStyle/>
          <a:p>
            <a:r>
              <a:rPr lang="zh-CN" altLang="en-US" sz="2400" b="1" dirty="0">
                <a:solidFill>
                  <a:schemeClr val="bg1">
                    <a:lumMod val="65000"/>
                  </a:schemeClr>
                </a:solidFill>
                <a:latin typeface="微软雅黑"/>
                <a:ea typeface="微软雅黑"/>
                <a:cs typeface="微软雅黑"/>
              </a:rPr>
              <a:t>跨接收机射频指纹识别方法</a:t>
            </a:r>
          </a:p>
        </p:txBody>
      </p:sp>
      <p:sp>
        <p:nvSpPr>
          <p:cNvPr id="23" name="直接连接符 22">
            <a:extLst>
              <a:ext uri="{FF2B5EF4-FFF2-40B4-BE49-F238E27FC236}">
                <a16:creationId xmlns:a16="http://schemas.microsoft.com/office/drawing/2014/main" id="{5AC9BF35-3B00-7151-7F92-1C66CB479E43}"/>
              </a:ext>
            </a:extLst>
          </p:cNvPr>
          <p:cNvSpPr>
            <a:spLocks noGrp="1"/>
          </p:cNvSpPr>
          <p:nvPr/>
        </p:nvSpPr>
        <p:spPr>
          <a:xfrm>
            <a:off x="7148631" y="33561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9" name="文本框 28">
            <a:extLst>
              <a:ext uri="{FF2B5EF4-FFF2-40B4-BE49-F238E27FC236}">
                <a16:creationId xmlns:a16="http://schemas.microsoft.com/office/drawing/2014/main" id="{680F77AF-D0B6-D2EE-6670-61D0D8C04AC5}"/>
              </a:ext>
            </a:extLst>
          </p:cNvPr>
          <p:cNvSpPr>
            <a:spLocks noGrp="1"/>
          </p:cNvSpPr>
          <p:nvPr/>
        </p:nvSpPr>
        <p:spPr>
          <a:xfrm>
            <a:off x="6290327" y="4032170"/>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a:t>
            </a:r>
            <a:r>
              <a:rPr lang="en-US" sz="3200" b="1" i="0" u="none" cap="none" dirty="0">
                <a:ln>
                  <a:noFill/>
                </a:ln>
                <a:solidFill>
                  <a:srgbClr val="911F22"/>
                </a:solidFill>
                <a:latin typeface="字魂105号-简雅黑"/>
                <a:ea typeface="字魂105号-简雅黑"/>
                <a:cs typeface="字魂105号-简雅黑"/>
              </a:rPr>
              <a:t>4</a:t>
            </a:r>
            <a:endParaRPr sz="3200" b="1" i="0" u="none" cap="none" dirty="0">
              <a:ln>
                <a:noFill/>
              </a:ln>
              <a:solidFill>
                <a:srgbClr val="911F22"/>
              </a:solidFill>
              <a:latin typeface="字魂105号-简雅黑"/>
              <a:ea typeface="字魂105号-简雅黑"/>
              <a:cs typeface="字魂105号-简雅黑"/>
            </a:endParaRPr>
          </a:p>
        </p:txBody>
      </p:sp>
      <p:sp>
        <p:nvSpPr>
          <p:cNvPr id="30" name="矩形 29">
            <a:extLst>
              <a:ext uri="{FF2B5EF4-FFF2-40B4-BE49-F238E27FC236}">
                <a16:creationId xmlns:a16="http://schemas.microsoft.com/office/drawing/2014/main" id="{05916608-88C7-BAAF-DE6F-DC781EBAEE34}"/>
              </a:ext>
            </a:extLst>
          </p:cNvPr>
          <p:cNvSpPr>
            <a:spLocks noGrp="1"/>
          </p:cNvSpPr>
          <p:nvPr/>
        </p:nvSpPr>
        <p:spPr>
          <a:xfrm>
            <a:off x="7169896" y="4067698"/>
            <a:ext cx="2339102" cy="461665"/>
          </a:xfrm>
          <a:prstGeom prst="rect">
            <a:avLst/>
          </a:prstGeom>
        </p:spPr>
        <p:txBody>
          <a:bodyPr wrap="none">
            <a:spAutoFit/>
          </a:bodyPr>
          <a:lstStyle/>
          <a:p>
            <a:r>
              <a:rPr lang="zh-CN" altLang="en-US" sz="2400" b="1" dirty="0">
                <a:solidFill>
                  <a:schemeClr val="bg1">
                    <a:lumMod val="65000"/>
                  </a:schemeClr>
                </a:solidFill>
                <a:latin typeface="微软雅黑"/>
                <a:ea typeface="微软雅黑"/>
                <a:cs typeface="微软雅黑"/>
              </a:rPr>
              <a:t>实验结果与分析</a:t>
            </a:r>
          </a:p>
        </p:txBody>
      </p:sp>
      <p:sp>
        <p:nvSpPr>
          <p:cNvPr id="28" name="直接连接符 27">
            <a:extLst>
              <a:ext uri="{FF2B5EF4-FFF2-40B4-BE49-F238E27FC236}">
                <a16:creationId xmlns:a16="http://schemas.microsoft.com/office/drawing/2014/main" id="{9ABF8FEF-25E1-5D0E-06CB-7CBE89EE377D}"/>
              </a:ext>
            </a:extLst>
          </p:cNvPr>
          <p:cNvSpPr>
            <a:spLocks noGrp="1"/>
          </p:cNvSpPr>
          <p:nvPr/>
        </p:nvSpPr>
        <p:spPr>
          <a:xfrm>
            <a:off x="7148631" y="411499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7" name="文本框 46">
            <a:extLst>
              <a:ext uri="{FF2B5EF4-FFF2-40B4-BE49-F238E27FC236}">
                <a16:creationId xmlns:a16="http://schemas.microsoft.com/office/drawing/2014/main" id="{8373298A-38EC-CB59-7D78-5A77457606BD}"/>
              </a:ext>
            </a:extLst>
          </p:cNvPr>
          <p:cNvSpPr>
            <a:spLocks noGrp="1"/>
          </p:cNvSpPr>
          <p:nvPr/>
        </p:nvSpPr>
        <p:spPr>
          <a:xfrm>
            <a:off x="6290327" y="4826548"/>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a:t>
            </a:r>
            <a:r>
              <a:rPr lang="en-US" sz="3200" b="1" i="0" u="none" cap="none" dirty="0">
                <a:ln>
                  <a:noFill/>
                </a:ln>
                <a:solidFill>
                  <a:srgbClr val="911F22"/>
                </a:solidFill>
                <a:latin typeface="字魂105号-简雅黑"/>
                <a:ea typeface="字魂105号-简雅黑"/>
                <a:cs typeface="字魂105号-简雅黑"/>
              </a:rPr>
              <a:t>5</a:t>
            </a:r>
            <a:endParaRPr sz="3200" b="1" i="0" u="none" cap="none" dirty="0">
              <a:ln>
                <a:noFill/>
              </a:ln>
              <a:solidFill>
                <a:srgbClr val="911F22"/>
              </a:solidFill>
              <a:latin typeface="字魂105号-简雅黑"/>
              <a:ea typeface="字魂105号-简雅黑"/>
              <a:cs typeface="字魂105号-简雅黑"/>
            </a:endParaRPr>
          </a:p>
        </p:txBody>
      </p:sp>
      <p:sp>
        <p:nvSpPr>
          <p:cNvPr id="48" name="矩形 47">
            <a:extLst>
              <a:ext uri="{FF2B5EF4-FFF2-40B4-BE49-F238E27FC236}">
                <a16:creationId xmlns:a16="http://schemas.microsoft.com/office/drawing/2014/main" id="{6A1421AD-4577-E5E2-351C-CE1A8704DFE4}"/>
              </a:ext>
            </a:extLst>
          </p:cNvPr>
          <p:cNvSpPr>
            <a:spLocks noGrp="1"/>
          </p:cNvSpPr>
          <p:nvPr/>
        </p:nvSpPr>
        <p:spPr>
          <a:xfrm>
            <a:off x="7169896" y="4859728"/>
            <a:ext cx="2031325" cy="461665"/>
          </a:xfrm>
          <a:prstGeom prst="rect">
            <a:avLst/>
          </a:prstGeom>
        </p:spPr>
        <p:txBody>
          <a:bodyPr wrap="none">
            <a:spAutoFit/>
          </a:bodyPr>
          <a:lstStyle/>
          <a:p>
            <a:r>
              <a:rPr lang="zh-CN" altLang="en-US" sz="2400" b="1" dirty="0">
                <a:latin typeface="微软雅黑"/>
                <a:ea typeface="微软雅黑"/>
                <a:cs typeface="微软雅黑"/>
              </a:rPr>
              <a:t>下一阶段计划</a:t>
            </a:r>
          </a:p>
        </p:txBody>
      </p:sp>
      <p:sp>
        <p:nvSpPr>
          <p:cNvPr id="46" name="直接连接符 45">
            <a:extLst>
              <a:ext uri="{FF2B5EF4-FFF2-40B4-BE49-F238E27FC236}">
                <a16:creationId xmlns:a16="http://schemas.microsoft.com/office/drawing/2014/main" id="{64DE5774-1FA8-6132-FD63-2708A645E12F}"/>
              </a:ext>
            </a:extLst>
          </p:cNvPr>
          <p:cNvSpPr>
            <a:spLocks noGrp="1"/>
          </p:cNvSpPr>
          <p:nvPr/>
        </p:nvSpPr>
        <p:spPr>
          <a:xfrm>
            <a:off x="7148631" y="4909370"/>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65" name="图片 3">
            <a:extLst>
              <a:ext uri="{FF2B5EF4-FFF2-40B4-BE49-F238E27FC236}">
                <a16:creationId xmlns:a16="http://schemas.microsoft.com/office/drawing/2014/main" id="{B9C29DDB-0C4F-2A89-77C6-56C63BDB0C3A}"/>
              </a:ext>
            </a:extLst>
          </p:cNvPr>
          <p:cNvPicPr>
            <a:picLocks noChangeAspect="1"/>
          </p:cNvPicPr>
          <p:nvPr/>
        </p:nvPicPr>
        <p:blipFill>
          <a:blip r:embed="rId3"/>
          <a:stretch>
            <a:fillRect/>
          </a:stretch>
        </p:blipFill>
        <p:spPr>
          <a:xfrm>
            <a:off x="1364895" y="2928431"/>
            <a:ext cx="1905000" cy="1905000"/>
          </a:xfrm>
          <a:prstGeom prst="rect">
            <a:avLst/>
          </a:prstGeom>
        </p:spPr>
      </p:pic>
      <p:pic>
        <p:nvPicPr>
          <p:cNvPr id="66" name="图片 4">
            <a:extLst>
              <a:ext uri="{FF2B5EF4-FFF2-40B4-BE49-F238E27FC236}">
                <a16:creationId xmlns:a16="http://schemas.microsoft.com/office/drawing/2014/main" id="{100EDCE4-AA11-FDCE-1586-8817ACF97C90}"/>
              </a:ext>
            </a:extLst>
          </p:cNvPr>
          <p:cNvPicPr>
            <a:picLocks noChangeAspect="1"/>
          </p:cNvPicPr>
          <p:nvPr/>
        </p:nvPicPr>
        <p:blipFill>
          <a:blip r:embed="rId4">
            <a:biLevel thresh="25000"/>
          </a:blip>
          <a:stretch>
            <a:fillRect/>
          </a:stretch>
        </p:blipFill>
        <p:spPr>
          <a:xfrm>
            <a:off x="1322797" y="703717"/>
            <a:ext cx="1989196" cy="1914672"/>
          </a:xfrm>
          <a:prstGeom prst="rect">
            <a:avLst/>
          </a:prstGeom>
        </p:spPr>
      </p:pic>
      <p:sp>
        <p:nvSpPr>
          <p:cNvPr id="3" name="文本框 23">
            <a:extLst>
              <a:ext uri="{FF2B5EF4-FFF2-40B4-BE49-F238E27FC236}">
                <a16:creationId xmlns:a16="http://schemas.microsoft.com/office/drawing/2014/main" id="{E832A60E-AB4F-DEC9-03D0-C7EDE1CD73FC}"/>
              </a:ext>
            </a:extLst>
          </p:cNvPr>
          <p:cNvSpPr>
            <a:spLocks noGrp="1"/>
          </p:cNvSpPr>
          <p:nvPr/>
        </p:nvSpPr>
        <p:spPr>
          <a:xfrm>
            <a:off x="6290327" y="2514470"/>
            <a:ext cx="1020724" cy="584775"/>
          </a:xfrm>
          <a:prstGeom prst="rect">
            <a:avLst/>
          </a:prstGeom>
          <a:noFill/>
        </p:spPr>
        <p:txBody>
          <a:bodyPr wrap="square">
            <a:spAutoFit/>
          </a:bodyPr>
          <a:lstStyle/>
          <a:p>
            <a:pPr marL="0" marR="0" indent="0" algn="l" defTabSz="914400">
              <a:lnSpc>
                <a:spcPct val="100000"/>
              </a:lnSpc>
              <a:spcBef>
                <a:spcPts val="0"/>
              </a:spcBef>
              <a:spcAft>
                <a:spcPts val="0"/>
              </a:spcAft>
              <a:buClrTx/>
              <a:buSzTx/>
              <a:buFontTx/>
              <a:buNone/>
            </a:pPr>
            <a:r>
              <a:rPr sz="3200" b="1" i="0" u="none" cap="none" dirty="0">
                <a:ln>
                  <a:noFill/>
                </a:ln>
                <a:solidFill>
                  <a:srgbClr val="911F22"/>
                </a:solidFill>
                <a:latin typeface="字魂105号-简雅黑"/>
                <a:ea typeface="字魂105号-简雅黑"/>
                <a:cs typeface="字魂105号-简雅黑"/>
              </a:rPr>
              <a:t>02</a:t>
            </a:r>
          </a:p>
        </p:txBody>
      </p:sp>
      <p:sp>
        <p:nvSpPr>
          <p:cNvPr id="4" name="矩形 3">
            <a:extLst>
              <a:ext uri="{FF2B5EF4-FFF2-40B4-BE49-F238E27FC236}">
                <a16:creationId xmlns:a16="http://schemas.microsoft.com/office/drawing/2014/main" id="{2D1B851D-872D-3A55-22A6-8B56C526678A}"/>
              </a:ext>
            </a:extLst>
          </p:cNvPr>
          <p:cNvSpPr>
            <a:spLocks noGrp="1"/>
          </p:cNvSpPr>
          <p:nvPr/>
        </p:nvSpPr>
        <p:spPr>
          <a:xfrm>
            <a:off x="7148631" y="2556610"/>
            <a:ext cx="3570208" cy="461665"/>
          </a:xfrm>
          <a:prstGeom prst="rect">
            <a:avLst/>
          </a:prstGeom>
        </p:spPr>
        <p:txBody>
          <a:bodyPr wrap="none">
            <a:spAutoFit/>
          </a:bodyPr>
          <a:lstStyle/>
          <a:p>
            <a:r>
              <a:rPr lang="zh-CN" altLang="en-US" sz="2400" b="1" dirty="0">
                <a:solidFill>
                  <a:schemeClr val="bg1">
                    <a:lumMod val="65000"/>
                  </a:schemeClr>
                </a:solidFill>
                <a:latin typeface="微软雅黑"/>
                <a:ea typeface="微软雅黑"/>
                <a:cs typeface="微软雅黑"/>
              </a:rPr>
              <a:t>主要研究内容与工作进展</a:t>
            </a:r>
          </a:p>
        </p:txBody>
      </p:sp>
      <p:sp>
        <p:nvSpPr>
          <p:cNvPr id="5" name="直接连接符 4">
            <a:extLst>
              <a:ext uri="{FF2B5EF4-FFF2-40B4-BE49-F238E27FC236}">
                <a16:creationId xmlns:a16="http://schemas.microsoft.com/office/drawing/2014/main" id="{D0911298-A3D0-B752-EF5F-263A19BF2577}"/>
              </a:ext>
            </a:extLst>
          </p:cNvPr>
          <p:cNvSpPr>
            <a:spLocks noGrp="1"/>
          </p:cNvSpPr>
          <p:nvPr/>
        </p:nvSpPr>
        <p:spPr>
          <a:xfrm>
            <a:off x="7148631" y="259729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Tree>
    <p:extLst>
      <p:ext uri="{BB962C8B-B14F-4D97-AF65-F5344CB8AC3E}">
        <p14:creationId xmlns:p14="http://schemas.microsoft.com/office/powerpoint/2010/main" val="1873470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AC801D35-68A1-4184-A2A0-3E86D535D932}"/>
              </a:ext>
            </a:extLst>
          </p:cNvPr>
          <p:cNvSpPr>
            <a:spLocks noGrp="1"/>
          </p:cNvSpPr>
          <p:nvPr/>
        </p:nvSpPr>
        <p:spPr>
          <a:xfrm>
            <a:off x="617135" y="449020"/>
            <a:ext cx="2792920" cy="485293"/>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911F22"/>
          </a:solidFill>
          <a:ln w="38100">
            <a:solidFill>
              <a:srgbClr val="911F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16" name="矩形 15">
            <a:extLst>
              <a:ext uri="{FF2B5EF4-FFF2-40B4-BE49-F238E27FC236}">
                <a16:creationId xmlns:a16="http://schemas.microsoft.com/office/drawing/2014/main" id="{06AA2D42-720A-46B3-A376-DEBE68195A5B}"/>
              </a:ext>
            </a:extLst>
          </p:cNvPr>
          <p:cNvSpPr>
            <a:spLocks noGrp="1"/>
          </p:cNvSpPr>
          <p:nvPr/>
        </p:nvSpPr>
        <p:spPr>
          <a:xfrm>
            <a:off x="967067" y="472648"/>
            <a:ext cx="2031325" cy="461665"/>
          </a:xfrm>
          <a:prstGeom prst="rect">
            <a:avLst/>
          </a:prstGeom>
        </p:spPr>
        <p:txBody>
          <a:bodyPr wrap="none">
            <a:spAutoFit/>
          </a:bodyPr>
          <a:lstStyle/>
          <a:p>
            <a:r>
              <a:rPr lang="zh-CN" altLang="en-US" sz="2400" b="1" dirty="0">
                <a:solidFill>
                  <a:schemeClr val="bg1"/>
                </a:solidFill>
                <a:latin typeface="微软雅黑"/>
                <a:ea typeface="微软雅黑"/>
                <a:cs typeface="微软雅黑"/>
              </a:rPr>
              <a:t>下一阶段计划</a:t>
            </a:r>
          </a:p>
        </p:txBody>
      </p:sp>
      <p:pic>
        <p:nvPicPr>
          <p:cNvPr id="20" name="图片 3"/>
          <p:cNvPicPr>
            <a:picLocks noChangeAspect="1"/>
          </p:cNvPicPr>
          <p:nvPr/>
        </p:nvPicPr>
        <p:blipFill>
          <a:blip r:embed="rId3"/>
          <a:stretch>
            <a:fillRect/>
          </a:stretch>
        </p:blipFill>
        <p:spPr>
          <a:xfrm>
            <a:off x="10800000" y="216000"/>
            <a:ext cx="1168402" cy="312900"/>
          </a:xfrm>
          <a:prstGeom prst="rect">
            <a:avLst/>
          </a:prstGeom>
        </p:spPr>
      </p:pic>
      <p:sp>
        <p:nvSpPr>
          <p:cNvPr id="8" name="文本框 7">
            <a:extLst>
              <a:ext uri="{FF2B5EF4-FFF2-40B4-BE49-F238E27FC236}">
                <a16:creationId xmlns:a16="http://schemas.microsoft.com/office/drawing/2014/main" id="{E1C6E184-2DD8-6C7B-844D-6183350D76FD}"/>
              </a:ext>
            </a:extLst>
          </p:cNvPr>
          <p:cNvSpPr>
            <a:spLocks noGrp="1"/>
          </p:cNvSpPr>
          <p:nvPr/>
        </p:nvSpPr>
        <p:spPr>
          <a:xfrm>
            <a:off x="795561" y="1226631"/>
            <a:ext cx="7057800" cy="594360"/>
          </a:xfrm>
          <a:prstGeom prst="rect">
            <a:avLst/>
          </a:prstGeom>
          <a:noFill/>
        </p:spPr>
        <p:txBody>
          <a:bodyPr wrap="square">
            <a:spAutoFit/>
          </a:bodyPr>
          <a:lstStyle/>
          <a:p>
            <a:pPr marL="342900" indent="-342900">
              <a:lnSpc>
                <a:spcPct val="150000"/>
              </a:lnSpc>
              <a:spcAft>
                <a:spcPts val="600"/>
              </a:spcAft>
              <a:buFont typeface="Wingdings"/>
              <a:buChar char="Ø"/>
            </a:pPr>
            <a:r>
              <a:rPr sz="2200" b="1">
                <a:solidFill>
                  <a:srgbClr val="CB3737"/>
                </a:solidFill>
                <a:latin typeface="微软雅黑"/>
                <a:ea typeface="微软雅黑"/>
                <a:cs typeface="微软雅黑"/>
              </a:rPr>
              <a:t>方向一：SincConv 轻量化前端</a:t>
            </a:r>
          </a:p>
        </p:txBody>
      </p:sp>
      <p:sp>
        <p:nvSpPr>
          <p:cNvPr id="3" name="灯片编号占位符 2">
            <a:extLst>
              <a:ext uri="{FF2B5EF4-FFF2-40B4-BE49-F238E27FC236}">
                <a16:creationId xmlns:a16="http://schemas.microsoft.com/office/drawing/2014/main" id="{B73266B1-560C-7C25-4B92-D6D5EC69B3D5}"/>
              </a:ext>
            </a:extLst>
          </p:cNvPr>
          <p:cNvSpPr>
            <a:spLocks noGrp="1"/>
          </p:cNvSpPr>
          <p:nvPr>
            <p:ph type="sldNum" idx="12"/>
          </p:nvPr>
        </p:nvSpPr>
        <p:spPr>
          <a:xfrm>
            <a:off x="11204333" y="6276875"/>
            <a:ext cx="359735" cy="365125"/>
          </a:xfrm>
        </p:spPr>
        <p:txBody>
          <a:bodyPr/>
          <a:lstStyle/>
          <a:p>
            <a:r>
              <a:t>16</a:t>
            </a:r>
          </a:p>
        </p:txBody>
      </p:sp>
      <p:sp>
        <p:nvSpPr>
          <p:cNvPr id="5" name="文本框 4">
            <a:extLst>
              <a:ext uri="{FF2B5EF4-FFF2-40B4-BE49-F238E27FC236}">
                <a16:creationId xmlns:a16="http://schemas.microsoft.com/office/drawing/2014/main" id="{E7C819CA-7E6E-1835-EEEB-C672DC05B5F1}"/>
              </a:ext>
            </a:extLst>
          </p:cNvPr>
          <p:cNvSpPr>
            <a:spLocks noGrp="1"/>
          </p:cNvSpPr>
          <p:nvPr/>
        </p:nvSpPr>
        <p:spPr>
          <a:xfrm>
            <a:off x="795561" y="3429000"/>
            <a:ext cx="7057800" cy="594360"/>
          </a:xfrm>
          <a:prstGeom prst="rect">
            <a:avLst/>
          </a:prstGeom>
          <a:noFill/>
        </p:spPr>
        <p:txBody>
          <a:bodyPr wrap="square">
            <a:spAutoFit/>
          </a:bodyPr>
          <a:lstStyle/>
          <a:p>
            <a:pPr marL="342900" indent="-342900">
              <a:lnSpc>
                <a:spcPct val="150000"/>
              </a:lnSpc>
              <a:spcAft>
                <a:spcPts val="600"/>
              </a:spcAft>
              <a:buFont typeface="Wingdings"/>
              <a:buChar char="Ø"/>
            </a:pPr>
            <a:r>
              <a:rPr sz="2200" b="1">
                <a:solidFill>
                  <a:srgbClr val="CB3737"/>
                </a:solidFill>
                <a:latin typeface="微软雅黑"/>
                <a:ea typeface="微软雅黑"/>
                <a:cs typeface="微软雅黑"/>
              </a:rPr>
              <a:t>方向二：协议不变的 RFFI</a:t>
            </a:r>
          </a:p>
        </p:txBody>
      </p:sp>
      <p:sp>
        <p:nvSpPr>
          <p:cNvPr id="4" name="文本框 3">
            <a:extLst>
              <a:ext uri="{FF2B5EF4-FFF2-40B4-BE49-F238E27FC236}">
                <a16:creationId xmlns:a16="http://schemas.microsoft.com/office/drawing/2014/main" id="{AA410042-AEB7-1E87-5261-C7426A30A623}"/>
              </a:ext>
            </a:extLst>
          </p:cNvPr>
          <p:cNvSpPr txBox="1"/>
          <p:nvPr/>
        </p:nvSpPr>
        <p:spPr>
          <a:xfrm>
            <a:off x="838621" y="1886331"/>
            <a:ext cx="10245322" cy="1477328"/>
          </a:xfrm>
          <a:prstGeom prst="rect">
            <a:avLst/>
          </a:prstGeom>
          <a:noFill/>
        </p:spPr>
        <p:txBody>
          <a:bodyPr wrap="square" rtlCol="0">
            <a:spAutoFit/>
          </a:bodyPr>
          <a:lstStyle/>
          <a:p>
            <a:r>
              <a:rPr lang="zh-CN" altLang="zh-CN" b="1" dirty="0"/>
              <a:t>目标：</a:t>
            </a:r>
            <a:r>
              <a:rPr lang="zh-CN" altLang="zh-CN" dirty="0"/>
              <a:t>进一步降低RFFI模型的参数量与推理开销。</a:t>
            </a:r>
            <a:endParaRPr lang="en-US" altLang="zh-CN" dirty="0"/>
          </a:p>
          <a:p>
            <a:br>
              <a:rPr lang="zh-CN" altLang="zh-CN" dirty="0"/>
            </a:br>
            <a:r>
              <a:rPr lang="zh-CN" altLang="zh-CN" b="1" dirty="0"/>
              <a:t>方法：</a:t>
            </a:r>
            <a:r>
              <a:rPr lang="zh-CN" altLang="zh-CN" dirty="0"/>
              <a:t>使用参数化Sinc带通滤波器替代首层普通卷积，仅学习上下截止频率，增强频带选择能力与可解释性。</a:t>
            </a:r>
            <a:br>
              <a:rPr lang="zh-CN" altLang="zh-CN" dirty="0"/>
            </a:br>
            <a:endParaRPr lang="zh-CN" altLang="en-US" dirty="0"/>
          </a:p>
        </p:txBody>
      </p:sp>
      <p:sp>
        <p:nvSpPr>
          <p:cNvPr id="10" name="文本框 9">
            <a:extLst>
              <a:ext uri="{FF2B5EF4-FFF2-40B4-BE49-F238E27FC236}">
                <a16:creationId xmlns:a16="http://schemas.microsoft.com/office/drawing/2014/main" id="{82645D9D-CF9E-13CF-A386-D6513BF4AF0A}"/>
              </a:ext>
            </a:extLst>
          </p:cNvPr>
          <p:cNvSpPr txBox="1"/>
          <p:nvPr/>
        </p:nvSpPr>
        <p:spPr>
          <a:xfrm>
            <a:off x="967067" y="4088701"/>
            <a:ext cx="10237266" cy="923330"/>
          </a:xfrm>
          <a:prstGeom prst="rect">
            <a:avLst/>
          </a:prstGeom>
          <a:noFill/>
        </p:spPr>
        <p:txBody>
          <a:bodyPr wrap="square">
            <a:spAutoFit/>
          </a:bodyPr>
          <a:lstStyle/>
          <a:p>
            <a:r>
              <a:rPr lang="zh-CN" altLang="zh-CN" b="1" dirty="0"/>
              <a:t>目标：</a:t>
            </a:r>
            <a:r>
              <a:rPr lang="zh-CN" altLang="zh-CN" dirty="0"/>
              <a:t>降低模型对调制方式、帧结构和信号内容等协议特征的依赖</a:t>
            </a:r>
            <a:r>
              <a:rPr lang="zh-CN" altLang="en-US" dirty="0"/>
              <a:t>、在不同参数配置下也能够识别</a:t>
            </a:r>
            <a:r>
              <a:rPr lang="zh-CN" altLang="zh-CN" dirty="0"/>
              <a:t>。</a:t>
            </a:r>
            <a:endParaRPr lang="en-US" altLang="zh-CN" dirty="0"/>
          </a:p>
          <a:p>
            <a:br>
              <a:rPr lang="zh-CN" altLang="zh-CN" dirty="0"/>
            </a:br>
            <a:r>
              <a:rPr lang="zh-CN" altLang="zh-CN" b="1" dirty="0"/>
              <a:t>方法：</a:t>
            </a:r>
            <a:r>
              <a:rPr lang="zh-CN" altLang="zh-CN" dirty="0"/>
              <a:t>构建多协议训练场景，结合协议增强与特征约束，提取跨协议稳定的设备硬件指纹。</a:t>
            </a:r>
            <a:endParaRPr lang="zh-CN" altLang="en-US" dirty="0"/>
          </a:p>
        </p:txBody>
      </p:sp>
    </p:spTree>
    <p:extLst>
      <p:ext uri="{BB962C8B-B14F-4D97-AF65-F5344CB8AC3E}">
        <p14:creationId xmlns:p14="http://schemas.microsoft.com/office/powerpoint/2010/main" val="2378017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AC801D35-68A1-4184-A2A0-3E86D535D932}"/>
              </a:ext>
            </a:extLst>
          </p:cNvPr>
          <p:cNvSpPr>
            <a:spLocks noGrp="1"/>
          </p:cNvSpPr>
          <p:nvPr/>
        </p:nvSpPr>
        <p:spPr>
          <a:xfrm>
            <a:off x="617135" y="449020"/>
            <a:ext cx="2871738" cy="508923"/>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911F22"/>
          </a:solidFill>
          <a:ln w="38100">
            <a:solidFill>
              <a:srgbClr val="911F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16" name="矩形 15">
            <a:extLst>
              <a:ext uri="{FF2B5EF4-FFF2-40B4-BE49-F238E27FC236}">
                <a16:creationId xmlns:a16="http://schemas.microsoft.com/office/drawing/2014/main" id="{06AA2D42-720A-46B3-A376-DEBE68195A5B}"/>
              </a:ext>
            </a:extLst>
          </p:cNvPr>
          <p:cNvSpPr>
            <a:spLocks noGrp="1"/>
          </p:cNvSpPr>
          <p:nvPr/>
        </p:nvSpPr>
        <p:spPr>
          <a:xfrm>
            <a:off x="802937" y="472648"/>
            <a:ext cx="2441694" cy="461665"/>
          </a:xfrm>
          <a:prstGeom prst="rect">
            <a:avLst/>
          </a:prstGeom>
        </p:spPr>
        <p:txBody>
          <a:bodyPr wrap="none">
            <a:spAutoFit/>
          </a:bodyPr>
          <a:lstStyle/>
          <a:p>
            <a:r>
              <a:rPr sz="2400" b="1">
                <a:solidFill>
                  <a:schemeClr val="bg1"/>
                </a:solidFill>
                <a:latin typeface="字魂105号-简雅黑"/>
                <a:ea typeface="字魂105号-简雅黑"/>
                <a:cs typeface="字魂105号-简雅黑"/>
              </a:rPr>
              <a:t>下一步工作计划</a:t>
            </a:r>
          </a:p>
        </p:txBody>
      </p:sp>
      <p:pic>
        <p:nvPicPr>
          <p:cNvPr id="26" name="图片 3"/>
          <p:cNvPicPr>
            <a:picLocks noChangeAspect="1"/>
          </p:cNvPicPr>
          <p:nvPr/>
        </p:nvPicPr>
        <p:blipFill>
          <a:blip r:embed="rId3"/>
          <a:stretch>
            <a:fillRect/>
          </a:stretch>
        </p:blipFill>
        <p:spPr>
          <a:xfrm>
            <a:off x="10800000" y="216000"/>
            <a:ext cx="1168402" cy="312900"/>
          </a:xfrm>
          <a:prstGeom prst="rect">
            <a:avLst/>
          </a:prstGeom>
        </p:spPr>
      </p:pic>
      <p:sp>
        <p:nvSpPr>
          <p:cNvPr id="3" name="灯片编号占位符 2">
            <a:extLst>
              <a:ext uri="{FF2B5EF4-FFF2-40B4-BE49-F238E27FC236}">
                <a16:creationId xmlns:a16="http://schemas.microsoft.com/office/drawing/2014/main" id="{45FED477-206A-DD28-42E5-2D62452DA35E}"/>
              </a:ext>
            </a:extLst>
          </p:cNvPr>
          <p:cNvSpPr>
            <a:spLocks noGrp="1"/>
          </p:cNvSpPr>
          <p:nvPr>
            <p:ph type="sldNum" idx="12"/>
          </p:nvPr>
        </p:nvSpPr>
        <p:spPr>
          <a:xfrm>
            <a:off x="11212721" y="6380413"/>
            <a:ext cx="473149" cy="365125"/>
          </a:xfrm>
        </p:spPr>
        <p:txBody>
          <a:bodyPr/>
          <a:lstStyle/>
          <a:p>
            <a:r>
              <a:t>17</a:t>
            </a:r>
          </a:p>
        </p:txBody>
      </p:sp>
      <p:sp>
        <p:nvSpPr>
          <p:cNvPr id="6" name="燕尾形 8">
            <a:extLst>
              <a:ext uri="{FF2B5EF4-FFF2-40B4-BE49-F238E27FC236}">
                <a16:creationId xmlns:a16="http://schemas.microsoft.com/office/drawing/2014/main" id="{EA0F0F07-E2EC-475C-C6A1-A4B8C92F65A3}"/>
              </a:ext>
            </a:extLst>
          </p:cNvPr>
          <p:cNvSpPr>
            <a:spLocks noGrp="1"/>
          </p:cNvSpPr>
          <p:nvPr/>
        </p:nvSpPr>
        <p:spPr>
          <a:xfrm>
            <a:off x="1135547" y="1849866"/>
            <a:ext cx="216022" cy="250844"/>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None/>
            </a:pPr>
            <a:endParaRPr/>
          </a:p>
        </p:txBody>
      </p:sp>
      <p:sp>
        <p:nvSpPr>
          <p:cNvPr id="7" name="燕尾形 9">
            <a:extLst>
              <a:ext uri="{FF2B5EF4-FFF2-40B4-BE49-F238E27FC236}">
                <a16:creationId xmlns:a16="http://schemas.microsoft.com/office/drawing/2014/main" id="{E63602EF-33C3-0AC3-3D62-31E10F9A1350}"/>
              </a:ext>
            </a:extLst>
          </p:cNvPr>
          <p:cNvSpPr>
            <a:spLocks noGrp="1"/>
          </p:cNvSpPr>
          <p:nvPr/>
        </p:nvSpPr>
        <p:spPr>
          <a:xfrm>
            <a:off x="1154553" y="1643644"/>
            <a:ext cx="561509" cy="652022"/>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None/>
            </a:pPr>
            <a:endParaRPr/>
          </a:p>
        </p:txBody>
      </p:sp>
      <p:sp>
        <p:nvSpPr>
          <p:cNvPr id="8" name="文本框 7">
            <a:extLst>
              <a:ext uri="{FF2B5EF4-FFF2-40B4-BE49-F238E27FC236}">
                <a16:creationId xmlns:a16="http://schemas.microsoft.com/office/drawing/2014/main" id="{2EC1589A-E4A6-6019-DC20-392E14B31C3B}"/>
              </a:ext>
            </a:extLst>
          </p:cNvPr>
          <p:cNvSpPr>
            <a:spLocks noGrp="1"/>
          </p:cNvSpPr>
          <p:nvPr/>
        </p:nvSpPr>
        <p:spPr>
          <a:xfrm>
            <a:off x="2126937" y="1586389"/>
            <a:ext cx="8673063" cy="461665"/>
          </a:xfrm>
          <a:prstGeom prst="rect">
            <a:avLst/>
          </a:prstGeom>
          <a:noFill/>
        </p:spPr>
        <p:txBody>
          <a:bodyPr wrap="square">
            <a:spAutoFit/>
          </a:bodyPr>
          <a:lstStyle/>
          <a:p>
            <a:r>
              <a:rPr lang="en-US" altLang="zh-CN" sz="2400" dirty="0">
                <a:latin typeface="微软雅黑"/>
                <a:ea typeface="微软雅黑"/>
                <a:cs typeface="微软雅黑"/>
              </a:rPr>
              <a:t>2026.08-2026.10  </a:t>
            </a:r>
            <a:r>
              <a:rPr lang="zh-CN" altLang="en-US" sz="2400" dirty="0">
                <a:latin typeface="微软雅黑"/>
                <a:ea typeface="微软雅黑"/>
                <a:cs typeface="微软雅黑"/>
              </a:rPr>
              <a:t>完成 </a:t>
            </a:r>
            <a:r>
              <a:rPr lang="en-US" altLang="zh-CN" sz="2400" dirty="0" err="1">
                <a:latin typeface="微软雅黑"/>
                <a:ea typeface="微软雅黑"/>
                <a:cs typeface="微软雅黑"/>
              </a:rPr>
              <a:t>SincConv</a:t>
            </a:r>
            <a:r>
              <a:rPr lang="zh-CN" altLang="en-US" sz="2400" dirty="0">
                <a:latin typeface="微软雅黑"/>
                <a:ea typeface="微软雅黑"/>
                <a:cs typeface="微软雅黑"/>
              </a:rPr>
              <a:t>研究，进行实验分析性能</a:t>
            </a:r>
          </a:p>
        </p:txBody>
      </p:sp>
      <p:sp>
        <p:nvSpPr>
          <p:cNvPr id="11" name="燕尾形 8">
            <a:extLst>
              <a:ext uri="{FF2B5EF4-FFF2-40B4-BE49-F238E27FC236}">
                <a16:creationId xmlns:a16="http://schemas.microsoft.com/office/drawing/2014/main" id="{E0153C73-1D55-3BCF-F0D1-221ABD73E0FC}"/>
              </a:ext>
            </a:extLst>
          </p:cNvPr>
          <p:cNvSpPr>
            <a:spLocks noGrp="1"/>
          </p:cNvSpPr>
          <p:nvPr/>
        </p:nvSpPr>
        <p:spPr>
          <a:xfrm>
            <a:off x="1154553" y="3171264"/>
            <a:ext cx="216022" cy="250844"/>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None/>
            </a:pPr>
            <a:endParaRPr/>
          </a:p>
        </p:txBody>
      </p:sp>
      <p:sp>
        <p:nvSpPr>
          <p:cNvPr id="12" name="燕尾形 9">
            <a:extLst>
              <a:ext uri="{FF2B5EF4-FFF2-40B4-BE49-F238E27FC236}">
                <a16:creationId xmlns:a16="http://schemas.microsoft.com/office/drawing/2014/main" id="{737E2ECE-7B9D-6F5A-FA6D-E0D7EFFB0A08}"/>
              </a:ext>
            </a:extLst>
          </p:cNvPr>
          <p:cNvSpPr>
            <a:spLocks noGrp="1"/>
          </p:cNvSpPr>
          <p:nvPr/>
        </p:nvSpPr>
        <p:spPr>
          <a:xfrm>
            <a:off x="1173559" y="2965042"/>
            <a:ext cx="561509" cy="652022"/>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None/>
            </a:pPr>
            <a:endParaRPr/>
          </a:p>
        </p:txBody>
      </p:sp>
      <p:sp>
        <p:nvSpPr>
          <p:cNvPr id="13" name="文本框 12">
            <a:extLst>
              <a:ext uri="{FF2B5EF4-FFF2-40B4-BE49-F238E27FC236}">
                <a16:creationId xmlns:a16="http://schemas.microsoft.com/office/drawing/2014/main" id="{4E82923E-84A7-4EDC-8263-2574710B06D3}"/>
              </a:ext>
            </a:extLst>
          </p:cNvPr>
          <p:cNvSpPr>
            <a:spLocks noGrp="1"/>
          </p:cNvSpPr>
          <p:nvPr/>
        </p:nvSpPr>
        <p:spPr>
          <a:xfrm>
            <a:off x="2126937" y="2915143"/>
            <a:ext cx="7996397" cy="830997"/>
          </a:xfrm>
          <a:prstGeom prst="rect">
            <a:avLst/>
          </a:prstGeom>
          <a:noFill/>
        </p:spPr>
        <p:txBody>
          <a:bodyPr wrap="square">
            <a:spAutoFit/>
          </a:bodyPr>
          <a:lstStyle/>
          <a:p>
            <a:r>
              <a:rPr lang="en-US" altLang="zh-CN" sz="2400" dirty="0">
                <a:latin typeface="微软雅黑"/>
                <a:ea typeface="微软雅黑"/>
                <a:cs typeface="微软雅黑"/>
              </a:rPr>
              <a:t>2026.10-2026.03  </a:t>
            </a:r>
            <a:r>
              <a:rPr lang="zh-CN" altLang="en-US" sz="2400" dirty="0">
                <a:latin typeface="微软雅黑"/>
                <a:ea typeface="微软雅黑"/>
                <a:cs typeface="微软雅黑"/>
              </a:rPr>
              <a:t>构建跨协议的</a:t>
            </a:r>
            <a:r>
              <a:rPr lang="en-US" altLang="zh-CN" sz="2400" dirty="0">
                <a:latin typeface="微软雅黑"/>
                <a:ea typeface="微软雅黑"/>
                <a:cs typeface="微软雅黑"/>
              </a:rPr>
              <a:t>RFFI</a:t>
            </a:r>
            <a:r>
              <a:rPr lang="zh-CN" altLang="en-US" sz="2400" dirty="0">
                <a:latin typeface="微软雅黑"/>
                <a:ea typeface="微软雅黑"/>
                <a:cs typeface="微软雅黑"/>
              </a:rPr>
              <a:t>场景设置、提出对应方案，对其进行验证分析</a:t>
            </a:r>
          </a:p>
        </p:txBody>
      </p:sp>
      <p:sp>
        <p:nvSpPr>
          <p:cNvPr id="20" name="燕尾形 8">
            <a:extLst>
              <a:ext uri="{FF2B5EF4-FFF2-40B4-BE49-F238E27FC236}">
                <a16:creationId xmlns:a16="http://schemas.microsoft.com/office/drawing/2014/main" id="{1443A6A7-04FA-4289-8808-9F0A50551073}"/>
              </a:ext>
            </a:extLst>
          </p:cNvPr>
          <p:cNvSpPr>
            <a:spLocks noGrp="1"/>
          </p:cNvSpPr>
          <p:nvPr/>
        </p:nvSpPr>
        <p:spPr>
          <a:xfrm>
            <a:off x="1135547" y="4525123"/>
            <a:ext cx="216022" cy="250844"/>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None/>
            </a:pPr>
            <a:endParaRPr/>
          </a:p>
        </p:txBody>
      </p:sp>
      <p:sp>
        <p:nvSpPr>
          <p:cNvPr id="21" name="燕尾形 9">
            <a:extLst>
              <a:ext uri="{FF2B5EF4-FFF2-40B4-BE49-F238E27FC236}">
                <a16:creationId xmlns:a16="http://schemas.microsoft.com/office/drawing/2014/main" id="{DB7D4E60-1B42-403B-9AD4-285A8B651523}"/>
              </a:ext>
            </a:extLst>
          </p:cNvPr>
          <p:cNvSpPr>
            <a:spLocks noGrp="1"/>
          </p:cNvSpPr>
          <p:nvPr/>
        </p:nvSpPr>
        <p:spPr>
          <a:xfrm>
            <a:off x="1154553" y="4318901"/>
            <a:ext cx="561509" cy="652022"/>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None/>
            </a:pPr>
            <a:endParaRPr/>
          </a:p>
        </p:txBody>
      </p:sp>
      <p:sp>
        <p:nvSpPr>
          <p:cNvPr id="22" name="文本框 21">
            <a:extLst>
              <a:ext uri="{FF2B5EF4-FFF2-40B4-BE49-F238E27FC236}">
                <a16:creationId xmlns:a16="http://schemas.microsoft.com/office/drawing/2014/main" id="{25C92A0C-F251-492D-8220-E32675B4AD6E}"/>
              </a:ext>
            </a:extLst>
          </p:cNvPr>
          <p:cNvSpPr>
            <a:spLocks noGrp="1"/>
          </p:cNvSpPr>
          <p:nvPr/>
        </p:nvSpPr>
        <p:spPr>
          <a:xfrm>
            <a:off x="2126937" y="4382396"/>
            <a:ext cx="7427807" cy="461665"/>
          </a:xfrm>
          <a:prstGeom prst="rect">
            <a:avLst/>
          </a:prstGeom>
          <a:noFill/>
        </p:spPr>
        <p:txBody>
          <a:bodyPr wrap="square">
            <a:spAutoFit/>
          </a:bodyPr>
          <a:lstStyle/>
          <a:p>
            <a:r>
              <a:rPr lang="en-US" altLang="zh-CN" sz="2400" dirty="0">
                <a:latin typeface="微软雅黑"/>
                <a:ea typeface="微软雅黑"/>
                <a:cs typeface="微软雅黑"/>
              </a:rPr>
              <a:t>2027.03-2027.05  </a:t>
            </a:r>
            <a:r>
              <a:rPr lang="zh-CN" altLang="en-US" sz="2400" dirty="0">
                <a:latin typeface="微软雅黑"/>
                <a:ea typeface="微软雅黑"/>
                <a:cs typeface="微软雅黑"/>
              </a:rPr>
              <a:t>完成论文、补充实验与答辩准备</a:t>
            </a:r>
          </a:p>
        </p:txBody>
      </p:sp>
    </p:spTree>
    <p:extLst>
      <p:ext uri="{BB962C8B-B14F-4D97-AF65-F5344CB8AC3E}">
        <p14:creationId xmlns:p14="http://schemas.microsoft.com/office/powerpoint/2010/main" val="3976715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AC801D35-68A1-4184-A2A0-3E86D535D932}"/>
              </a:ext>
            </a:extLst>
          </p:cNvPr>
          <p:cNvSpPr>
            <a:spLocks noGrp="1"/>
          </p:cNvSpPr>
          <p:nvPr/>
        </p:nvSpPr>
        <p:spPr>
          <a:xfrm>
            <a:off x="617135" y="220419"/>
            <a:ext cx="2871738" cy="508923"/>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911F22"/>
          </a:solidFill>
          <a:ln w="38100">
            <a:solidFill>
              <a:srgbClr val="911F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16" name="矩形 15">
            <a:extLst>
              <a:ext uri="{FF2B5EF4-FFF2-40B4-BE49-F238E27FC236}">
                <a16:creationId xmlns:a16="http://schemas.microsoft.com/office/drawing/2014/main" id="{06AA2D42-720A-46B3-A376-DEBE68195A5B}"/>
              </a:ext>
            </a:extLst>
          </p:cNvPr>
          <p:cNvSpPr>
            <a:spLocks noGrp="1"/>
          </p:cNvSpPr>
          <p:nvPr/>
        </p:nvSpPr>
        <p:spPr>
          <a:xfrm>
            <a:off x="1260980" y="244047"/>
            <a:ext cx="1513556" cy="461665"/>
          </a:xfrm>
          <a:prstGeom prst="rect">
            <a:avLst/>
          </a:prstGeom>
        </p:spPr>
        <p:txBody>
          <a:bodyPr wrap="none">
            <a:spAutoFit/>
          </a:bodyPr>
          <a:lstStyle/>
          <a:p>
            <a:r>
              <a:rPr sz="2400" b="1">
                <a:solidFill>
                  <a:schemeClr val="bg1"/>
                </a:solidFill>
                <a:latin typeface="字魂105号-简雅黑"/>
                <a:ea typeface="字魂105号-简雅黑"/>
                <a:cs typeface="字魂105号-简雅黑"/>
              </a:rPr>
              <a:t>参考文献</a:t>
            </a:r>
          </a:p>
        </p:txBody>
      </p:sp>
      <p:pic>
        <p:nvPicPr>
          <p:cNvPr id="20" name="图片 3"/>
          <p:cNvPicPr>
            <a:picLocks noChangeAspect="1"/>
          </p:cNvPicPr>
          <p:nvPr/>
        </p:nvPicPr>
        <p:blipFill>
          <a:blip r:embed="rId3"/>
          <a:stretch>
            <a:fillRect/>
          </a:stretch>
        </p:blipFill>
        <p:spPr>
          <a:xfrm>
            <a:off x="10800000" y="216000"/>
            <a:ext cx="1168402" cy="312900"/>
          </a:xfrm>
          <a:prstGeom prst="rect">
            <a:avLst/>
          </a:prstGeom>
        </p:spPr>
      </p:pic>
      <p:sp>
        <p:nvSpPr>
          <p:cNvPr id="3" name="灯片编号占位符 2">
            <a:extLst>
              <a:ext uri="{FF2B5EF4-FFF2-40B4-BE49-F238E27FC236}">
                <a16:creationId xmlns:a16="http://schemas.microsoft.com/office/drawing/2014/main" id="{B9F096CA-A229-9911-3C94-3DC2A1297A16}"/>
              </a:ext>
            </a:extLst>
          </p:cNvPr>
          <p:cNvSpPr>
            <a:spLocks noGrp="1"/>
          </p:cNvSpPr>
          <p:nvPr>
            <p:ph type="sldNum" idx="12"/>
          </p:nvPr>
        </p:nvSpPr>
        <p:spPr>
          <a:xfrm>
            <a:off x="10937358" y="6448495"/>
            <a:ext cx="416442" cy="365125"/>
          </a:xfrm>
        </p:spPr>
        <p:txBody>
          <a:bodyPr/>
          <a:lstStyle/>
          <a:p>
            <a:r>
              <a:t>18</a:t>
            </a:r>
          </a:p>
        </p:txBody>
      </p:sp>
      <p:sp>
        <p:nvSpPr>
          <p:cNvPr id="6" name="文本框 5">
            <a:extLst>
              <a:ext uri="{FF2B5EF4-FFF2-40B4-BE49-F238E27FC236}">
                <a16:creationId xmlns:a16="http://schemas.microsoft.com/office/drawing/2014/main" id="{EDF859AB-64F5-FE39-6CC8-F8F275AF14D2}"/>
              </a:ext>
            </a:extLst>
          </p:cNvPr>
          <p:cNvSpPr txBox="1"/>
          <p:nvPr/>
        </p:nvSpPr>
        <p:spPr>
          <a:xfrm>
            <a:off x="617134" y="856357"/>
            <a:ext cx="11213621" cy="5558445"/>
          </a:xfrm>
          <a:prstGeom prst="rect">
            <a:avLst/>
          </a:prstGeom>
          <a:noFill/>
        </p:spPr>
        <p:txBody>
          <a:bodyPr wrap="square">
            <a:spAutoFit/>
          </a:bodyPr>
          <a:lstStyle/>
          <a:p>
            <a:pPr lvl="0" algn="just">
              <a:lnSpc>
                <a:spcPct val="120000"/>
              </a:lnSpc>
            </a:pPr>
            <a:r>
              <a:rPr lang="en-US" altLang="zh-CN" sz="1200" kern="100" dirty="0">
                <a:effectLst/>
                <a:latin typeface="Times New Roman" panose="02020603050405020304" pitchFamily="18" charset="0"/>
                <a:ea typeface="宋体" panose="02010600030101010101" pitchFamily="2" charset="-122"/>
              </a:rPr>
              <a:t>[1] State of IoT 2025: Number of connected IoT devices growing 14% to 21.1 billion globally. Accessed on 5 Jan., 2026. [Online]. Available: https://iot-analytics.com/number-connected-iot-devices/</a:t>
            </a:r>
            <a:endParaRPr lang="zh-CN" altLang="zh-CN" sz="1200" kern="100" dirty="0">
              <a:effectLst/>
              <a:latin typeface="Times New Roman" panose="02020603050405020304" pitchFamily="18" charset="0"/>
              <a:ea typeface="宋体" panose="02010600030101010101" pitchFamily="2" charset="-122"/>
            </a:endParaRPr>
          </a:p>
          <a:p>
            <a:pPr lvl="0" algn="just">
              <a:lnSpc>
                <a:spcPct val="120000"/>
              </a:lnSpc>
            </a:pPr>
            <a:r>
              <a:rPr lang="en-US" altLang="zh-CN" sz="1200" kern="100" dirty="0">
                <a:effectLst/>
                <a:latin typeface="Times New Roman" panose="02020603050405020304" pitchFamily="18" charset="0"/>
                <a:ea typeface="宋体" panose="02010600030101010101" pitchFamily="2" charset="-122"/>
              </a:rPr>
              <a:t>[2] L. Peng, J. Zhang, M. Liu and A. Hu, "Deep Learning Based RF Fingerprint Identification Using Differential Constellation Trace Figure," in IEEE Transactions on Vehicular Technology, vol. 69, no. 1, pp. 1091-1095, Jan. 2020</a:t>
            </a:r>
            <a:endParaRPr lang="zh-CN" altLang="zh-CN" sz="1200" kern="100" dirty="0">
              <a:effectLst/>
              <a:latin typeface="Times New Roman" panose="02020603050405020304" pitchFamily="18" charset="0"/>
              <a:ea typeface="宋体" panose="02010600030101010101" pitchFamily="2" charset="-122"/>
            </a:endParaRPr>
          </a:p>
          <a:p>
            <a:pPr lvl="0" algn="just">
              <a:lnSpc>
                <a:spcPct val="120000"/>
              </a:lnSpc>
            </a:pPr>
            <a:r>
              <a:rPr lang="en-US" altLang="zh-CN" sz="1200" kern="100" dirty="0">
                <a:effectLst/>
                <a:latin typeface="Times New Roman" panose="02020603050405020304" pitchFamily="18" charset="0"/>
                <a:ea typeface="宋体" panose="02010600030101010101" pitchFamily="2" charset="-122"/>
              </a:rPr>
              <a:t>[3] R. Xie et al., "A Generalizable Model-and-Data Driven Approach for Open-Set RFF Authentication," in IEEE Transactions on Information Forensics and Security, vol. 16, pp. 4435-4450, 2021</a:t>
            </a:r>
            <a:endParaRPr lang="zh-CN" altLang="zh-CN" sz="1200" kern="100" dirty="0">
              <a:effectLst/>
              <a:latin typeface="Times New Roman" panose="02020603050405020304" pitchFamily="18" charset="0"/>
              <a:ea typeface="宋体" panose="02010600030101010101" pitchFamily="2" charset="-122"/>
            </a:endParaRPr>
          </a:p>
          <a:p>
            <a:pPr lvl="0" algn="just">
              <a:lnSpc>
                <a:spcPct val="120000"/>
              </a:lnSpc>
            </a:pPr>
            <a:r>
              <a:rPr lang="en-US" altLang="zh-CN" sz="1200" kern="100" dirty="0">
                <a:effectLst/>
                <a:latin typeface="Times New Roman" panose="02020603050405020304" pitchFamily="18" charset="0"/>
                <a:ea typeface="宋体" panose="02010600030101010101" pitchFamily="2" charset="-122"/>
              </a:rPr>
              <a:t>[4] P. </a:t>
            </a:r>
            <a:r>
              <a:rPr lang="en-US" altLang="zh-CN" sz="1200" kern="100" dirty="0" err="1">
                <a:effectLst/>
                <a:latin typeface="Times New Roman" panose="02020603050405020304" pitchFamily="18" charset="0"/>
                <a:ea typeface="宋体" panose="02010600030101010101" pitchFamily="2" charset="-122"/>
              </a:rPr>
              <a:t>Robyns</a:t>
            </a:r>
            <a:r>
              <a:rPr lang="en-US" altLang="zh-CN" sz="1200" kern="100" dirty="0">
                <a:effectLst/>
                <a:latin typeface="Times New Roman" panose="02020603050405020304" pitchFamily="18" charset="0"/>
                <a:ea typeface="宋体" panose="02010600030101010101" pitchFamily="2" charset="-122"/>
              </a:rPr>
              <a:t> et al, "Physical-layer fingerprinting of LoRa devices using supervised and zero-shot learning," in Proceedings of the 10th ACM Conference on Security and Privacy in Wireless and Mobile Networks (</a:t>
            </a:r>
            <a:r>
              <a:rPr lang="en-US" altLang="zh-CN" sz="1200" kern="100" dirty="0" err="1">
                <a:effectLst/>
                <a:latin typeface="Times New Roman" panose="02020603050405020304" pitchFamily="18" charset="0"/>
                <a:ea typeface="宋体" panose="02010600030101010101" pitchFamily="2" charset="-122"/>
              </a:rPr>
              <a:t>WiSec</a:t>
            </a:r>
            <a:r>
              <a:rPr lang="en-US" altLang="zh-CN" sz="1200" kern="100" dirty="0">
                <a:effectLst/>
                <a:latin typeface="Times New Roman" panose="02020603050405020304" pitchFamily="18" charset="0"/>
                <a:ea typeface="宋体" panose="02010600030101010101" pitchFamily="2" charset="-122"/>
              </a:rPr>
              <a:t> '17), Boston, MA, USA, 2017, pp. 58–63</a:t>
            </a:r>
            <a:endParaRPr lang="zh-CN" altLang="zh-CN" sz="1200" kern="100" dirty="0">
              <a:effectLst/>
              <a:latin typeface="Times New Roman" panose="02020603050405020304" pitchFamily="18" charset="0"/>
              <a:ea typeface="宋体" panose="02010600030101010101" pitchFamily="2" charset="-122"/>
            </a:endParaRPr>
          </a:p>
          <a:p>
            <a:pPr lvl="0" algn="just">
              <a:lnSpc>
                <a:spcPct val="120000"/>
              </a:lnSpc>
            </a:pPr>
            <a:r>
              <a:rPr lang="en-US" altLang="zh-CN" sz="1200" kern="100" dirty="0">
                <a:effectLst/>
                <a:latin typeface="Times New Roman" panose="02020603050405020304" pitchFamily="18" charset="0"/>
                <a:ea typeface="宋体" panose="02010600030101010101" pitchFamily="2" charset="-122"/>
              </a:rPr>
              <a:t>[5] Z. Yao et al., "Few-Shot Specific Emitter Identification Using Asymmetric Masked Auto-Encoder," in IEEE Communications Letters, vol. 27, no. 10, pp. 2657-2661, Oct. 2023.</a:t>
            </a:r>
            <a:endParaRPr lang="zh-CN" altLang="zh-CN" sz="1200" kern="100" dirty="0">
              <a:effectLst/>
              <a:latin typeface="Times New Roman" panose="02020603050405020304" pitchFamily="18" charset="0"/>
              <a:ea typeface="宋体" panose="02010600030101010101" pitchFamily="2" charset="-122"/>
            </a:endParaRPr>
          </a:p>
          <a:p>
            <a:pPr lvl="0" algn="just">
              <a:lnSpc>
                <a:spcPct val="120000"/>
              </a:lnSpc>
            </a:pPr>
            <a:r>
              <a:rPr lang="en-US" altLang="zh-CN" sz="1200" kern="100" dirty="0">
                <a:effectLst/>
                <a:latin typeface="Times New Roman" panose="02020603050405020304" pitchFamily="18" charset="0"/>
                <a:ea typeface="宋体" panose="02010600030101010101" pitchFamily="2" charset="-122"/>
              </a:rPr>
              <a:t>[6] C. Liu et al., "Overcoming Data Limitations: A Few-Shot Specific Emitter Identification Method Using Self-Supervised Learning and Adversarial Augmentation," in IEEE Transactions on Information Forensics and Security, vol. 19, pp. 500-513, 2024</a:t>
            </a:r>
            <a:endParaRPr lang="zh-CN" altLang="zh-CN" sz="1200" kern="100" dirty="0">
              <a:effectLst/>
              <a:latin typeface="Times New Roman" panose="02020603050405020304" pitchFamily="18" charset="0"/>
              <a:ea typeface="宋体" panose="02010600030101010101" pitchFamily="2" charset="-122"/>
            </a:endParaRPr>
          </a:p>
          <a:p>
            <a:pPr lvl="0" algn="just">
              <a:lnSpc>
                <a:spcPct val="120000"/>
              </a:lnSpc>
            </a:pPr>
            <a:r>
              <a:rPr lang="en-US" altLang="zh-CN" sz="1200" kern="100" dirty="0">
                <a:effectLst/>
                <a:latin typeface="Times New Roman" panose="02020603050405020304" pitchFamily="18" charset="0"/>
                <a:ea typeface="宋体" panose="02010600030101010101" pitchFamily="2" charset="-122"/>
              </a:rPr>
              <a:t>[7] G. Shen, J. Zhang, A. Marshall and J. R. Cavallaro, "Towards Scalable and Channel-Robust Radio Frequency Fingerprint Identification for LoRa," in IEEE Transactions on Information Forensics and Security, vol. 17, pp. 774-787, 2022</a:t>
            </a:r>
            <a:endParaRPr lang="zh-CN" altLang="zh-CN" sz="1200" kern="100" dirty="0">
              <a:effectLst/>
              <a:latin typeface="Times New Roman" panose="02020603050405020304" pitchFamily="18" charset="0"/>
              <a:ea typeface="宋体" panose="02010600030101010101" pitchFamily="2" charset="-122"/>
            </a:endParaRPr>
          </a:p>
          <a:p>
            <a:pPr lvl="0" algn="just">
              <a:lnSpc>
                <a:spcPct val="120000"/>
              </a:lnSpc>
            </a:pPr>
            <a:r>
              <a:rPr lang="en-US" altLang="zh-CN" sz="1200" kern="100" dirty="0">
                <a:effectLst/>
                <a:latin typeface="Times New Roman" panose="02020603050405020304" pitchFamily="18" charset="0"/>
                <a:ea typeface="宋体" panose="02010600030101010101" pitchFamily="2" charset="-122"/>
              </a:rPr>
              <a:t>[8] G. Shen, J. Zhang, A. Marshall, R. Woods, J. Cavallaro and L. Chen, "Towards Receiver-Agnostic and Collaborative Radio Frequency Fingerprint Identification," in IEEE Transactions on Mobile Computing, vol. 23, no. 7, pp. 7618-7634, July 2024</a:t>
            </a:r>
            <a:endParaRPr lang="zh-CN" altLang="zh-CN" sz="1200" kern="100" dirty="0">
              <a:effectLst/>
              <a:latin typeface="Times New Roman" panose="02020603050405020304" pitchFamily="18" charset="0"/>
              <a:ea typeface="宋体" panose="02010600030101010101" pitchFamily="2" charset="-122"/>
            </a:endParaRPr>
          </a:p>
          <a:p>
            <a:pPr lvl="0" algn="just">
              <a:lnSpc>
                <a:spcPct val="120000"/>
              </a:lnSpc>
            </a:pPr>
            <a:r>
              <a:rPr lang="en-US" altLang="zh-CN" sz="1200" kern="100" dirty="0">
                <a:effectLst/>
                <a:latin typeface="Times New Roman" panose="02020603050405020304" pitchFamily="18" charset="0"/>
                <a:ea typeface="宋体" panose="02010600030101010101" pitchFamily="2" charset="-122"/>
              </a:rPr>
              <a:t>[9] K. Li, J. Bao, X. Xie, J. Hong and C. Hua, "Receiver-Agnostic Radio Frequency Fingerprint Identification for Zero-Trust Wireless Networks," in IEEE Journal on Selected Areas in Communications, vol. 43, no. 6, pp. 1981-1997, June 2025</a:t>
            </a:r>
            <a:endParaRPr lang="zh-CN" altLang="zh-CN" sz="1200" kern="100" dirty="0">
              <a:effectLst/>
              <a:latin typeface="Times New Roman" panose="02020603050405020304" pitchFamily="18" charset="0"/>
              <a:ea typeface="宋体" panose="02010600030101010101" pitchFamily="2" charset="-122"/>
            </a:endParaRPr>
          </a:p>
          <a:p>
            <a:pPr lvl="0" algn="just">
              <a:lnSpc>
                <a:spcPct val="120000"/>
              </a:lnSpc>
            </a:pPr>
            <a:r>
              <a:rPr lang="en-US" altLang="zh-CN" sz="1200" kern="100" dirty="0">
                <a:effectLst/>
                <a:latin typeface="Times New Roman" panose="02020603050405020304" pitchFamily="18" charset="0"/>
                <a:ea typeface="宋体" panose="02010600030101010101" pitchFamily="2" charset="-122"/>
              </a:rPr>
              <a:t>[10] X. Zha, T. Li, Z. Qiu and F. Li, "Cross-Receiver Radio Frequency Fingerprint Identification Based on Contrastive Learning and Subdomain Adaptation," in IEEE Signal Processing Letters, vol. 30, pp. 70-74, 2023</a:t>
            </a:r>
            <a:endParaRPr lang="zh-CN" altLang="zh-CN" sz="1200" kern="100" dirty="0">
              <a:effectLst/>
              <a:latin typeface="Times New Roman" panose="02020603050405020304" pitchFamily="18" charset="0"/>
              <a:ea typeface="宋体" panose="02010600030101010101" pitchFamily="2" charset="-122"/>
            </a:endParaRPr>
          </a:p>
          <a:p>
            <a:pPr lvl="0" algn="just">
              <a:lnSpc>
                <a:spcPct val="120000"/>
              </a:lnSpc>
            </a:pPr>
            <a:r>
              <a:rPr lang="en-US" altLang="zh-CN" sz="1200" kern="100" dirty="0">
                <a:effectLst/>
                <a:latin typeface="Times New Roman" panose="02020603050405020304" pitchFamily="18" charset="0"/>
                <a:ea typeface="宋体" panose="02010600030101010101" pitchFamily="2" charset="-122"/>
              </a:rPr>
              <a:t>[11] L. Yang, Q. Li, X. Ren, Y. Fang and S. Wang, "Mitigating Receiver Impact on Radio Frequency Fingerprint Identification via Domain Adaptation," in IEEE Internet of Things Journal, vol. 11, no. 13, pp. 24024-24034, 1 July1, 2024</a:t>
            </a:r>
            <a:endParaRPr lang="zh-CN" altLang="zh-CN" sz="1200" kern="100" dirty="0">
              <a:effectLst/>
              <a:latin typeface="Times New Roman" panose="02020603050405020304" pitchFamily="18" charset="0"/>
              <a:ea typeface="宋体" panose="02010600030101010101" pitchFamily="2" charset="-122"/>
            </a:endParaRPr>
          </a:p>
          <a:p>
            <a:pPr lvl="0" algn="just">
              <a:lnSpc>
                <a:spcPct val="120000"/>
              </a:lnSpc>
            </a:pPr>
            <a:r>
              <a:rPr lang="en-US" altLang="zh-CN" sz="1200" kern="100" dirty="0">
                <a:effectLst/>
                <a:latin typeface="Times New Roman" panose="02020603050405020304" pitchFamily="18" charset="0"/>
                <a:ea typeface="宋体" panose="02010600030101010101" pitchFamily="2" charset="-122"/>
              </a:rPr>
              <a:t>[12] H. Liu, S. Zhu, L. Yang, Q. Li and J. Lin, "Receiver-Agnostic Radio Frequency Fingerprint Identification via Feature Disentanglement," 2023 IEEE 24th International Workshop on Signal Processing Advances in Wireless Communications (SPAWC), Shanghai, China, 2023, pp. 46-50</a:t>
            </a:r>
            <a:endParaRPr lang="zh-CN" altLang="zh-CN" sz="1200" kern="100" dirty="0">
              <a:effectLst/>
              <a:latin typeface="Times New Roman" panose="02020603050405020304" pitchFamily="18" charset="0"/>
              <a:ea typeface="宋体" panose="02010600030101010101" pitchFamily="2" charset="-122"/>
            </a:endParaRPr>
          </a:p>
          <a:p>
            <a:r>
              <a:rPr lang="en-US" altLang="zh-CN" sz="1200" kern="100" dirty="0">
                <a:effectLst/>
                <a:latin typeface="Times New Roman" panose="02020603050405020304" pitchFamily="18" charset="0"/>
                <a:ea typeface="宋体" panose="02010600030101010101" pitchFamily="2" charset="-122"/>
              </a:rPr>
              <a:t>[13] F. Zhou, X. Qiao, Y. Du, H. Wu and J. Zhang, "Receiver-Agnostic Radio Frequency Fingerprint Identification Based on Disentangled Feature Cross Combination," in IEEE Wireless Communications Letters, vol. 14, no. 9, pp. 2693-2697, Sept. 2025</a:t>
            </a:r>
            <a:endParaRPr lang="zh-CN" altLang="en-US" sz="1200" dirty="0"/>
          </a:p>
        </p:txBody>
      </p:sp>
    </p:spTree>
    <p:extLst>
      <p:ext uri="{BB962C8B-B14F-4D97-AF65-F5344CB8AC3E}">
        <p14:creationId xmlns:p14="http://schemas.microsoft.com/office/powerpoint/2010/main" val="2976186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AC2FBD7-6F73-46AE-9D54-D25A5F74E43C}"/>
              </a:ext>
            </a:extLst>
          </p:cNvPr>
          <p:cNvSpPr>
            <a:spLocks noGrp="1"/>
          </p:cNvSpPr>
          <p:nvPr/>
        </p:nvSpPr>
        <p:spPr>
          <a:xfrm>
            <a:off x="0" y="2301729"/>
            <a:ext cx="12192000" cy="2961151"/>
          </a:xfrm>
          <a:prstGeom prst="rect">
            <a:avLst/>
          </a:prstGeom>
          <a:solidFill>
            <a:srgbClr val="911F22"/>
          </a:solidFill>
          <a:ln>
            <a:solidFill>
              <a:srgbClr val="911F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文本框 4">
            <a:extLst>
              <a:ext uri="{FF2B5EF4-FFF2-40B4-BE49-F238E27FC236}">
                <a16:creationId xmlns:a16="http://schemas.microsoft.com/office/drawing/2014/main" id="{05CABE9B-79C3-40F2-9B62-92C831D1C92C}"/>
              </a:ext>
            </a:extLst>
          </p:cNvPr>
          <p:cNvSpPr>
            <a:spLocks noGrp="1"/>
          </p:cNvSpPr>
          <p:nvPr/>
        </p:nvSpPr>
        <p:spPr>
          <a:xfrm>
            <a:off x="1560308" y="2464144"/>
            <a:ext cx="9387233" cy="2308324"/>
          </a:xfrm>
          <a:prstGeom prst="rect">
            <a:avLst/>
          </a:prstGeom>
          <a:noFill/>
        </p:spPr>
        <p:txBody>
          <a:bodyPr wrap="square">
            <a:spAutoFit/>
          </a:bodyPr>
          <a:lstStyle/>
          <a:p>
            <a:pPr>
              <a:buNone/>
            </a:pPr>
            <a:r>
              <a:rPr lang="zh-CN" altLang="en-US" sz="7200" dirty="0">
                <a:solidFill>
                  <a:schemeClr val="bg1"/>
                </a:solidFill>
                <a:effectLst>
                  <a:outerShdw blurRad="38100" dist="38100" dir="2700000" algn="tl">
                    <a:srgbClr val="C0C0C0"/>
                  </a:outerShdw>
                </a:effectLst>
                <a:latin typeface="华文彩云"/>
                <a:ea typeface="华文彩云"/>
                <a:cs typeface="华文彩云"/>
              </a:rPr>
              <a:t>请各位老师批评指正！</a:t>
            </a:r>
          </a:p>
          <a:p>
            <a:pPr algn="ctr">
              <a:buNone/>
            </a:pPr>
            <a:r>
              <a:rPr lang="en-US" altLang="zh-CN" sz="7200" b="1" dirty="0">
                <a:solidFill>
                  <a:schemeClr val="bg1"/>
                </a:solidFill>
                <a:latin typeface="字魂105号-简雅黑"/>
                <a:ea typeface="字魂105号-简雅黑"/>
                <a:cs typeface="字魂105号-简雅黑"/>
              </a:rPr>
              <a:t>Thanks!</a:t>
            </a:r>
          </a:p>
        </p:txBody>
      </p:sp>
      <p:pic>
        <p:nvPicPr>
          <p:cNvPr id="9" name="图片 5"/>
          <p:cNvPicPr>
            <a:picLocks noChangeAspect="1"/>
          </p:cNvPicPr>
          <p:nvPr/>
        </p:nvPicPr>
        <p:blipFill>
          <a:blip r:embed="rId3"/>
          <a:stretch>
            <a:fillRect/>
          </a:stretch>
        </p:blipFill>
        <p:spPr>
          <a:xfrm>
            <a:off x="5087335" y="332943"/>
            <a:ext cx="2017330" cy="1941752"/>
          </a:xfrm>
          <a:prstGeom prst="rect">
            <a:avLst/>
          </a:prstGeom>
        </p:spPr>
      </p:pic>
      <p:sp>
        <p:nvSpPr>
          <p:cNvPr id="2" name="文本框 1">
            <a:extLst>
              <a:ext uri="{FF2B5EF4-FFF2-40B4-BE49-F238E27FC236}">
                <a16:creationId xmlns:a16="http://schemas.microsoft.com/office/drawing/2014/main" id="{401AE08B-37A0-B571-E5A2-9DCDABBC8594}"/>
              </a:ext>
            </a:extLst>
          </p:cNvPr>
          <p:cNvSpPr>
            <a:spLocks noGrp="1"/>
          </p:cNvSpPr>
          <p:nvPr/>
        </p:nvSpPr>
        <p:spPr>
          <a:xfrm>
            <a:off x="3474110" y="4617720"/>
            <a:ext cx="5474970" cy="461665"/>
          </a:xfrm>
          <a:prstGeom prst="rect">
            <a:avLst/>
          </a:prstGeom>
          <a:noFill/>
        </p:spPr>
        <p:txBody>
          <a:bodyPr wrap="square">
            <a:spAutoFit/>
          </a:bodyPr>
          <a:lstStyle/>
          <a:p>
            <a:pPr algn="ctr">
              <a:buNone/>
            </a:pPr>
            <a:r>
              <a:rPr sz="2400" b="1" dirty="0">
                <a:solidFill>
                  <a:schemeClr val="bg1"/>
                </a:solidFill>
              </a:rPr>
              <a:t>2026.07.2</a:t>
            </a:r>
            <a:r>
              <a:rPr lang="en-US" sz="2400" b="1" dirty="0">
                <a:solidFill>
                  <a:schemeClr val="bg1"/>
                </a:solidFill>
              </a:rPr>
              <a:t>3</a:t>
            </a:r>
            <a:endParaRPr sz="2400" b="1" dirty="0">
              <a:solidFill>
                <a:schemeClr val="bg1"/>
              </a:solidFill>
            </a:endParaRPr>
          </a:p>
        </p:txBody>
      </p:sp>
    </p:spTree>
    <p:extLst>
      <p:ext uri="{BB962C8B-B14F-4D97-AF65-F5344CB8AC3E}">
        <p14:creationId xmlns:p14="http://schemas.microsoft.com/office/powerpoint/2010/main" val="352570213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305</TotalTime>
  <Words>3009</Words>
  <Application>Microsoft Office PowerPoint</Application>
  <DocSecurity>0</DocSecurity>
  <PresentationFormat>宽屏</PresentationFormat>
  <Paragraphs>283</Paragraphs>
  <Slides>22</Slides>
  <Notes>22</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22</vt:i4>
      </vt:variant>
    </vt:vector>
  </HeadingPairs>
  <TitlesOfParts>
    <vt:vector size="34" baseType="lpstr">
      <vt:lpstr>等线</vt:lpstr>
      <vt:lpstr>等线 Light</vt:lpstr>
      <vt:lpstr>华文彩云</vt:lpstr>
      <vt:lpstr>宋体</vt:lpstr>
      <vt:lpstr>微软雅黑</vt:lpstr>
      <vt:lpstr>字魂105号-简雅黑</vt:lpstr>
      <vt:lpstr>Arial</vt:lpstr>
      <vt:lpstr>Cambria Math</vt:lpstr>
      <vt:lpstr>Times New Roman</vt:lpstr>
      <vt:lpstr>Wingdings</vt:lpstr>
      <vt:lpstr>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彦 啊哈哈</cp:lastModifiedBy>
  <cp:revision>188</cp:revision>
  <dcterms:created xsi:type="dcterms:W3CDTF">2026-07-20T17:16:49Z</dcterms:created>
  <dcterms:modified xsi:type="dcterms:W3CDTF">2026-07-21T16:11:58Z</dcterms:modified>
</cp:coreProperties>
</file>